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16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28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6F73-5907-ED1F-0725-A09D5136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9E1E7-CB70-395D-BDB0-19D2614BF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CCFFE-61D2-AD05-5133-A1D14B96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814ED-8E35-129E-6F2A-9286E78E8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144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1016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48309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storageprabhu99@gmail.com |Storage Training • Day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01200" y="64830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914400"/>
            <a:ext cx="338328" cy="4800600"/>
          </a:xfrm>
          <a:prstGeom prst="rect">
            <a:avLst/>
          </a:prstGeom>
          <a:solidFill>
            <a:srgbClr val="1B466B"/>
          </a:solidFill>
          <a:ln w="12700">
            <a:solidFill>
              <a:srgbClr val="1B4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82712" y="1024128"/>
            <a:ext cx="338328" cy="4800600"/>
          </a:xfrm>
          <a:prstGeom prst="rect">
            <a:avLst/>
          </a:prstGeom>
          <a:solidFill>
            <a:srgbClr val="173B5F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67344" y="914400"/>
            <a:ext cx="338328" cy="4800600"/>
          </a:xfrm>
          <a:prstGeom prst="rect">
            <a:avLst/>
          </a:prstGeom>
          <a:solidFill>
            <a:srgbClr val="1B466B"/>
          </a:solidFill>
          <a:ln w="12700">
            <a:solidFill>
              <a:srgbClr val="1B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1976" y="1024128"/>
            <a:ext cx="338328" cy="4800600"/>
          </a:xfrm>
          <a:prstGeom prst="rect">
            <a:avLst/>
          </a:prstGeom>
          <a:solidFill>
            <a:srgbClr val="173B5F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36608" y="914400"/>
            <a:ext cx="338328" cy="4800600"/>
          </a:xfrm>
          <a:prstGeom prst="rect">
            <a:avLst/>
          </a:prstGeom>
          <a:solidFill>
            <a:srgbClr val="1B466B"/>
          </a:solidFill>
          <a:ln w="12700">
            <a:solidFill>
              <a:srgbClr val="1B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1024128"/>
            <a:ext cx="338328" cy="4800600"/>
          </a:xfrm>
          <a:prstGeom prst="rect">
            <a:avLst/>
          </a:prstGeom>
          <a:solidFill>
            <a:srgbClr val="173B5F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05872" y="914400"/>
            <a:ext cx="338328" cy="4800600"/>
          </a:xfrm>
          <a:prstGeom prst="rect">
            <a:avLst/>
          </a:prstGeom>
          <a:solidFill>
            <a:srgbClr val="1B466B"/>
          </a:solidFill>
          <a:ln w="12700">
            <a:solidFill>
              <a:srgbClr val="1B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0504" y="1024128"/>
            <a:ext cx="338328" cy="4800600"/>
          </a:xfrm>
          <a:prstGeom prst="rect">
            <a:avLst/>
          </a:prstGeom>
          <a:solidFill>
            <a:srgbClr val="173B5F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594360"/>
            <a:ext cx="5394960" cy="5394960"/>
          </a:xfrm>
          <a:prstGeom prst="arc">
            <a:avLst/>
          </a:prstGeom>
          <a:noFill/>
          <a:ln w="30480">
            <a:solidFill>
              <a:srgbClr val="2F7CAA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13232" y="685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20" dirty="0">
                <a:solidFill>
                  <a:srgbClr val="78D8D4"/>
                </a:solidFill>
              </a:rPr>
              <a:t>StoragePrabhu99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" y="141732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Fundamentals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Architectures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9808" y="3054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CADB"/>
                </a:solidFill>
              </a:rPr>
              <a:t>DAY 1 • STUDENT PRESENTATION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70332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CE8F4"/>
                </a:solidFill>
              </a:rPr>
              <a:t>From storage media and performance metrics to RAID, DAS/NAS/SAN, modern storage services, and data protection.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" y="4983480"/>
            <a:ext cx="914400" cy="310896"/>
          </a:xfrm>
          <a:prstGeom prst="roundRect">
            <a:avLst>
              <a:gd name="adj" fmla="val 26471"/>
            </a:avLst>
          </a:prstGeom>
          <a:solidFill>
            <a:srgbClr val="10384F"/>
          </a:solidFill>
          <a:ln w="12700">
            <a:solidFill>
              <a:srgbClr val="103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4748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A5"/>
                </a:solidFill>
              </a:rPr>
              <a:t>8 HOURS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783080" y="4983480"/>
            <a:ext cx="1463040" cy="310896"/>
          </a:xfrm>
          <a:prstGeom prst="roundRect">
            <a:avLst>
              <a:gd name="adj" fmla="val 26471"/>
            </a:avLst>
          </a:prstGeom>
          <a:solidFill>
            <a:srgbClr val="173B5F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504748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AA6"/>
                </a:solidFill>
              </a:rPr>
              <a:t>FUNDAMENTALS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498348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2A2558"/>
          </a:solidFill>
          <a:ln w="12700">
            <a:solidFill>
              <a:srgbClr val="2A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504748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5BD0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38928" y="498348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554015"/>
          </a:solidFill>
          <a:ln w="12700">
            <a:solidFill>
              <a:srgbClr val="5540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504748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BANKING USE CASES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8096" y="5806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8BE"/>
                </a:solidFill>
              </a:rPr>
              <a:t>Reference-led • vendor-aware • scenario based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By the end of Day 1, learners should be able to explain storage fundamentals, choose architectures, and relate protection methods to banking workloads.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Primary: Introduction to Information Storage; ITC Storage &amp; Backup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8288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Explain storage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2402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Data, lifecycle, media and core performance measures.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41732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13632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Differentiate RAID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1920240"/>
            <a:ext cx="22402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Understand RAID 0/1/5/6/10, trade-offs and failure behavior.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9904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417320"/>
            <a:ext cx="64008" cy="182880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84264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Choose an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1920240"/>
            <a:ext cx="22402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Compare DAS, NAS, SAN and select by workload.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60536" y="14173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0536" y="1417320"/>
            <a:ext cx="64008" cy="18288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5128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54896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43416" y="1920240"/>
            <a:ext cx="22402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Position snapshots, backup and replication in recovery design.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10917936" cy="1417320"/>
          </a:xfrm>
          <a:prstGeom prst="roundRect">
            <a:avLst>
              <a:gd name="adj" fmla="val 5161"/>
            </a:avLst>
          </a:prstGeom>
          <a:solidFill>
            <a:srgbClr val="F2FAF5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03320"/>
            <a:ext cx="64008" cy="14173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31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→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3000" y="3840480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Learner expectation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105521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274"/>
                </a:solidFill>
              </a:rPr>
              <a:t>Ask “what does the application need?” before choosing a disk, RAID level or architecture.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66928" y="5440680"/>
            <a:ext cx="2057400" cy="310896"/>
          </a:xfrm>
          <a:prstGeom prst="roundRect">
            <a:avLst>
              <a:gd name="adj" fmla="val 264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504688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AA6"/>
                </a:solidFill>
              </a:rPr>
              <a:t>CONCEPT → EXAMPLE → SCENARIO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88920" y="5440680"/>
            <a:ext cx="1965960" cy="310896"/>
          </a:xfrm>
          <a:prstGeom prst="roundRect">
            <a:avLst>
              <a:gd name="adj" fmla="val 26471"/>
            </a:avLst>
          </a:prstGeom>
          <a:solidFill>
            <a:srgbClr val="F1EDFF"/>
          </a:solidFill>
          <a:ln w="12700">
            <a:solidFill>
              <a:srgbClr val="F1E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550468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5BD0"/>
                </a:solidFill>
              </a:rPr>
              <a:t>WHITEBOARD MOMENTS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01184" y="5440680"/>
            <a:ext cx="1737360" cy="310896"/>
          </a:xfrm>
          <a:prstGeom prst="roundRect">
            <a:avLst>
              <a:gd name="adj" fmla="val 26471"/>
            </a:avLst>
          </a:prstGeom>
          <a:solidFill>
            <a:srgbClr val="FFF6E3"/>
          </a:solidFill>
          <a:ln w="12700">
            <a:solidFill>
              <a:srgbClr val="FFF6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550468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CHECKPOINTS</a:t>
            </a:r>
            <a:endParaRPr lang="en-US" sz="9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An 8-hour learning journey with short discussions, whiteboard exercises and knowledge checks.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Session plan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475488" cy="475488"/>
          </a:xfrm>
          <a:prstGeom prst="ellipse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3898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Storage 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5AA6"/>
                </a:solidFill>
              </a:rPr>
              <a:t>60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1618488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1618488"/>
            <a:ext cx="1381760" cy="0"/>
          </a:xfrm>
          <a:prstGeom prst="line">
            <a:avLst/>
          </a:prstGeom>
          <a:noFill/>
          <a:ln w="50800">
            <a:solidFill>
              <a:srgbClr val="1F5A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21408"/>
            <a:ext cx="475488" cy="47548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21396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Media + 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A5A5"/>
                </a:solidFill>
              </a:rPr>
              <a:t>75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1000" y="2368296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368296"/>
            <a:ext cx="1727200" cy="0"/>
          </a:xfrm>
          <a:prstGeom prst="line">
            <a:avLst/>
          </a:prstGeom>
          <a:noFill/>
          <a:ln w="50800">
            <a:solidFill>
              <a:srgbClr val="0E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87121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900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89888" y="28895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RAID + architectures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135 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01000" y="3118104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3118104"/>
            <a:ext cx="310896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621024"/>
            <a:ext cx="475488" cy="47548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89888" y="36393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File / block / object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3648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5BD0"/>
                </a:solidFill>
              </a:rPr>
              <a:t>80 min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01000" y="3867912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867912"/>
            <a:ext cx="1842347" cy="0"/>
          </a:xfrm>
          <a:prstGeom prst="line">
            <a:avLst/>
          </a:prstGeom>
          <a:noFill/>
          <a:ln w="50800">
            <a:solidFill>
              <a:srgbClr val="6D5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370832"/>
            <a:ext cx="475488" cy="47548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4897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89888" y="4389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Banking use cases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4398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98754"/>
                </a:solidFill>
              </a:rPr>
              <a:t>60 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01000" y="4617720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617720"/>
            <a:ext cx="1381760" cy="0"/>
          </a:xfrm>
          <a:prstGeom prst="line">
            <a:avLst/>
          </a:prstGeom>
          <a:noFill/>
          <a:ln w="50800">
            <a:solidFill>
              <a:srgbClr val="1987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120640"/>
            <a:ext cx="475488" cy="475488"/>
          </a:xfrm>
          <a:prstGeom prst="ellipse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2395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89888" y="51389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Snapshots / backup / replication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5148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14343"/>
                </a:solidFill>
              </a:rPr>
              <a:t>70 min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01000" y="5367528"/>
            <a:ext cx="3108960" cy="0"/>
          </a:xfrm>
          <a:prstGeom prst="line">
            <a:avLst/>
          </a:prstGeom>
          <a:noFill/>
          <a:ln w="508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5367528"/>
            <a:ext cx="1612053" cy="0"/>
          </a:xfrm>
          <a:prstGeom prst="line">
            <a:avLst/>
          </a:prstGeom>
          <a:noFill/>
          <a:ln w="50800">
            <a:solidFill>
              <a:srgbClr val="D143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6016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274"/>
                </a:solidFill>
              </a:rPr>
              <a:t>Includes ≈ 50 min of interactive checkpoints / discussion / breaks embedded in the flow.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| Intro to Data Storage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Storage exists because data must remain available, durable, usable and recoverable.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Information Storage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C2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6479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440"/>
                </a:solidFill>
              </a:rPr>
              <a:t>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7647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INFORMATION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6002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7647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BUSINESS PROCESS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6002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76479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BUSINESS OUTCOME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97480" y="2057400"/>
            <a:ext cx="36576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2057400"/>
            <a:ext cx="365760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2057400"/>
            <a:ext cx="365760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292608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926080"/>
            <a:ext cx="6400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063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storage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29260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Digital data growth + fast access + continuity requirements make storage an operational capability, not just a hardware layer.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43400" y="292608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926080"/>
            <a:ext cx="64008" cy="19659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storage must provide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3429000"/>
            <a:ext cx="29260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Capacity • performance • availability • protection • security • manageability.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63840" y="292608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2926080"/>
            <a:ext cx="64008" cy="196596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8432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∞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582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Enterprise lens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46720" y="3429000"/>
            <a:ext cx="27889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The same data can move from hot transactional storage to secondary, archive and backup tiers as its value and access pattern change.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Structured, unstructured and semi-structured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Storage design starts with the shape and access pattern of the data.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Information Storage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64008" cy="27432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DB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Structured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108960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core banking tables, customer master, ledger entries, payment records.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Access: rows / columns, queries, transactions.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61688" y="13716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37160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FILE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56048" y="1508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Unstructured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1874520"/>
            <a:ext cx="3108960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statements, scans, PDFs, images, recordings, emails, CCTV/video.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Access: files / objects / content services.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83296" y="13716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371600"/>
            <a:ext cx="64008" cy="27432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JSON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77656" y="1508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Semi-structured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1874520"/>
            <a:ext cx="3108960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JSON/XML events, API payloads, logs and telemetry.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Access: key/value, documents, analytics pipelines.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440"/>
                </a:solidFill>
              </a:rPr>
              <a:t>Teaching prompt: “Would the same storage service suit a transaction ledger and a 4 GB compliance video?”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| Storage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practical lifecycle model: create → classify → store → protect → use → retain → retire.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synthesis from storage fundamentals; external context where noted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CREATE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Generate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01368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75688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BD0"/>
                </a:solidFill>
              </a:rPr>
              <a:t>CLASSIFY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85416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Value / sensitivity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65576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39896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E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5"/>
                </a:solidFill>
              </a:rPr>
              <a:t>STORE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9624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Place on media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9784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04104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PROTECT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13832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Backup / replicate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93992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68312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1464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</a:rPr>
              <a:t>USE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Serve application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32520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RETAIN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42248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Archive / comply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22408" y="2578608"/>
            <a:ext cx="182880" cy="0"/>
          </a:xfrm>
          <a:prstGeom prst="line">
            <a:avLst/>
          </a:prstGeom>
          <a:noFill/>
          <a:ln w="1778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96728" y="1828800"/>
            <a:ext cx="1389888" cy="15087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5262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69880" y="201168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26274"/>
                </a:solidFill>
              </a:rPr>
              <a:t>RETIRE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06456" y="2432304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Delete / sanitize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9776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977640"/>
            <a:ext cx="64008" cy="128016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1056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1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23444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Hot → warm → cold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2960" y="4480560"/>
            <a:ext cx="3017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Access frequency and business value influence placement.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407408" y="39776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07408" y="397764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1056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01768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Retention is not backup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90288" y="4480560"/>
            <a:ext cx="3017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Retention may be driven by legal, regulatory or business policy.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174736" y="39776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74736" y="3977640"/>
            <a:ext cx="64008" cy="128016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1056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3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769096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Deletion is a control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57616" y="4480560"/>
            <a:ext cx="3017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Secure disposal and retention enforcement close the lifecycle.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lifecycle in a banking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One customer record can touch several storage tiers and protection mechanisms during its life.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Banking scenario: 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TRANSACTION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CREDIT / DEBIT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CORE 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9923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BLOCK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6636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REPORTING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951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FILE / OBJECT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ARCHIVE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7979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OBJECT / TAPE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4343"/>
                </a:solidFill>
              </a:rPr>
              <a:t>RETENTION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2007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POLICY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1755648"/>
            <a:ext cx="33832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1755648"/>
            <a:ext cx="33832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5160" y="1755648"/>
            <a:ext cx="33832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1755648"/>
            <a:ext cx="42976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27432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743200"/>
            <a:ext cx="64008" cy="18288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₹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1732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Example: payment event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" y="3246120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Low-latency random I/O, strong consistency, database protection.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70832" y="27432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2743200"/>
            <a:ext cx="64008" cy="18288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PDF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965192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Example: monthly statement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53712" y="3246120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Large objects, customer retrieval, retention and immutability may matter.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18704" y="27432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18704" y="274320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VID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513064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Example: audit video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01584" y="3246120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Very large data, infrequent retrieval, long retention, cost-aware tiering.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| Storage Media – HDD, SSD, Tape, Optical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Different media optimize different dimensions: latency, throughput, density, durability, portability and cost.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Reference: backup/storage decks; media characteristics generalized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1590">
            <a:solidFill>
              <a:srgbClr val="1F5A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64208"/>
            <a:ext cx="786384" cy="786384"/>
          </a:xfrm>
          <a:prstGeom prst="ellipse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19019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7512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HDD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Mechanical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333756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Cost / capacity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General purpose, bulk 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160520"/>
            <a:ext cx="1508760" cy="310896"/>
          </a:xfrm>
          <a:prstGeom prst="roundRect">
            <a:avLst>
              <a:gd name="adj" fmla="val 264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2245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AA6"/>
                </a:solidFill>
              </a:rPr>
              <a:t>DAS / SAN / NAS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141732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1590">
            <a:solidFill>
              <a:srgbClr val="0E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1664208"/>
            <a:ext cx="786384" cy="786384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019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2044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SSD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5"/>
                </a:solidFill>
              </a:rPr>
              <a:t>Flash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57016" y="333756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Low latency / IOPS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Databases, VMs, hot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58768" y="4160520"/>
            <a:ext cx="1508760" cy="310896"/>
          </a:xfrm>
          <a:prstGeom prst="roundRect">
            <a:avLst>
              <a:gd name="adj" fmla="val 264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42245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A5"/>
                </a:solidFill>
              </a:rPr>
              <a:t>SAN / cloud block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41732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159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1664208"/>
            <a:ext cx="786384" cy="7863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9019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373368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Tape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73368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Sequential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9944" y="333756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High capacity + offline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Backup / archive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11696" y="4160520"/>
            <a:ext cx="1508760" cy="310896"/>
          </a:xfrm>
          <a:prstGeom prst="roundRect">
            <a:avLst>
              <a:gd name="adj" fmla="val 264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42245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Libraries / vaults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61704" y="141732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1590">
            <a:solidFill>
              <a:srgbClr val="6D5B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0384" y="1664208"/>
            <a:ext cx="786384" cy="78638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03536" y="19019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O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226296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Optical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26296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BD0"/>
                </a:solidFill>
              </a:rPr>
              <a:t>Removable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62872" y="333756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Portable / fixed media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26274"/>
                </a:solidFill>
              </a:rPr>
              <a:t>Specialized retention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564624" y="4160520"/>
            <a:ext cx="1508760" cy="310896"/>
          </a:xfrm>
          <a:prstGeom prst="roundRect">
            <a:avLst>
              <a:gd name="adj" fmla="val 26471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37776" y="422452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5BD0"/>
                </a:solidFill>
              </a:rPr>
              <a:t>Archives / exchange</a:t>
            </a:r>
            <a:endParaRPr lang="en-US" sz="9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HDD: what is happening mechanically?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The head moves to a track and waits for the platter sector to rotate into position.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Conceptual; complements reference media material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017520" y="1476756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0672" y="158191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SEEK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90672" y="19476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Move head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2438955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249631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ROTATIONAL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90672" y="28620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Wait sector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3353354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341071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TRANSFER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90672" y="37764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Read / write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755648"/>
            <a:ext cx="7772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92040" y="2670048"/>
            <a:ext cx="7772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92040" y="3584448"/>
            <a:ext cx="7772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32588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32588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1453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!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random I/O can be expensive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1828800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Every I/O may carry seek + rotation overhead in addition to transfer 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06440" y="27432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2743200"/>
            <a:ext cx="64008" cy="11887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Where HDDs fit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89320" y="3246120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Bulk capacity, backup repositories, file shares, throughput-heavy workloads where latency is less dominant.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06440" y="416052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4160520"/>
            <a:ext cx="64008" cy="118872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71032" y="42885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↕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0080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Modern reality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89320" y="4663440"/>
            <a:ext cx="4434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Hybrid systems often combine flash for hot data with HDD for capacity-oriented tiers.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SSD: flash changes the latency equation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SSDs eliminate mechanical seek and rotation, making low-latency random I/O practical at much higher rates.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Conceptual; verify specific device specifications with vendor documentation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E6F3F8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C7DDEB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936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E6F3F8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C7DDEB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E6F3F8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828800"/>
            <a:ext cx="347472" cy="2240280"/>
          </a:xfrm>
          <a:prstGeom prst="roundRect">
            <a:avLst>
              <a:gd name="adj" fmla="val 10526"/>
            </a:avLst>
          </a:prstGeom>
          <a:solidFill>
            <a:srgbClr val="C7DDEB"/>
          </a:solidFill>
          <a:ln w="12700">
            <a:solidFill>
              <a:srgbClr val="88A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444752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417320"/>
            <a:ext cx="64008" cy="123444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Low latency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60273" y="1883664"/>
            <a:ext cx="27432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No mechanical seek / rotation delay; latency is dominated by flash architecture and controller behavior.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417320"/>
            <a:ext cx="64008" cy="12344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010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High IOPS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1920240"/>
            <a:ext cx="27432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Ideal for transactional workloads with many small random reads/writes.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9080" y="2971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971800"/>
            <a:ext cx="64008" cy="1234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3099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6344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Performance consistency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51960" y="3474720"/>
            <a:ext cx="27432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Controller, queue depth, endurance and workload mix still matter.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29718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29718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30998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₹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010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Cost / capacity trade-off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89520" y="3474720"/>
            <a:ext cx="27432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Flash tiers typically cost more per usable capacity than capacity-oriented HDD tiers.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Tape &amp; optical: sequential and removable media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Not every workload needs millisecond latency. Long retention and offline copies change the design objective.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Reference: Backup deck for tape/media coverage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Tape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301752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Sequential access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High density for long-term retention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Portable / offline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Useful for backup and archive workflows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Restore time depends on tape position, catalog and backup 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417320"/>
            <a:ext cx="64008" cy="32004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10912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Optical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1920240"/>
            <a:ext cx="301752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Removable medium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Stable archival format in specialized environments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Useful for fixed, exchangeable media use cases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Lower role in mainstream high-scale primary 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47304" y="141732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1417320"/>
            <a:ext cx="64008" cy="32004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? 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41664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Design question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0184" y="1920240"/>
            <a:ext cx="301752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Do we optimize for: lowest latency, highest capacity, portability, offline isolation, or lowest cost?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The answer determines the tier.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 comparison: match the access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Think in workload dimensions rather than “SSD good, HDD bad”.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 comparison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048256" cy="475488"/>
          </a:xfrm>
          <a:prstGeom prst="roundRect">
            <a:avLst>
              <a:gd name="adj" fmla="val 5769"/>
            </a:avLst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54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Dimension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1417320"/>
            <a:ext cx="2048256" cy="475488"/>
          </a:xfrm>
          <a:prstGeom prst="roundRect">
            <a:avLst>
              <a:gd name="adj" fmla="val 5769"/>
            </a:avLst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554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</a:rPr>
              <a:t>HDD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38344" y="1417320"/>
            <a:ext cx="2048256" cy="475488"/>
          </a:xfrm>
          <a:prstGeom prst="roundRect">
            <a:avLst>
              <a:gd name="adj" fmla="val 5769"/>
            </a:avLst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1496" y="1554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</a:rPr>
              <a:t>SSD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0336" y="1417320"/>
            <a:ext cx="2048256" cy="475488"/>
          </a:xfrm>
          <a:prstGeom prst="roundRect">
            <a:avLst>
              <a:gd name="adj" fmla="val 5769"/>
            </a:avLst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1554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</a:rPr>
              <a:t>Tape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82328" y="1417320"/>
            <a:ext cx="2048256" cy="475488"/>
          </a:xfrm>
          <a:prstGeom prst="roundRect">
            <a:avLst>
              <a:gd name="adj" fmla="val 5769"/>
            </a:avLst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55480" y="15544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</a:rPr>
              <a:t>Optical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1965960"/>
            <a:ext cx="2048256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139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Random I/O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816352" y="1965960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504" y="2139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Good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038344" y="1965960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2139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Excellent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260336" y="1965960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2139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Poor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482328" y="1965960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1396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Poor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94360" y="2587752"/>
            <a:ext cx="2048256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27614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Sequential throughput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816352" y="2587752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27614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Good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038344" y="2587752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7614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Excellent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260336" y="2587752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27614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Excellent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482328" y="2587752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276148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Moderate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94360" y="3209544"/>
            <a:ext cx="2048256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3832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Latency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2816352" y="3209544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9504" y="33832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High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38344" y="3209544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11496" y="33832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Low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7260336" y="3209544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33488" y="33832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Very high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9482328" y="3209544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33832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High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594360" y="3831336"/>
            <a:ext cx="2048256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4005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Offline / air-gapped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2816352" y="3831336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9504" y="4005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No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5038344" y="3831336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11496" y="4005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No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7260336" y="3831336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33488" y="4005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Yes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9482328" y="3831336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55480" y="4005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Possible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594360" y="4453128"/>
            <a:ext cx="2048256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6268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</a:rPr>
              <a:t>Bulk retention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2816352" y="4453128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89504" y="46268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Good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5038344" y="4453128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11496" y="46268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Good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7260336" y="4453128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33488" y="46268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Excellent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9482328" y="4453128"/>
            <a:ext cx="2048256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55480" y="46268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526274"/>
                </a:solidFill>
              </a:rPr>
              <a:t>Moderate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658368" y="5330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898"/>
                </a:solidFill>
              </a:rPr>
              <a:t>Values are qualitative teaching guidance; vendor media and specific device classes vary.</a:t>
            </a:r>
            <a:endParaRPr lang="en-US" sz="100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| Key Metrics: IOPS, latency and throughput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Performance is multidimensional. A single number rarely tells the whole storage story.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64008" cy="201168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288036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Input/output operations per second. Most useful when I/O size and workload pattern are understood.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63040"/>
            <a:ext cx="64008" cy="201168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288036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Time from request to completion. Lower latency matters for interactive / transactional workloads.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463040"/>
            <a:ext cx="64008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2396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Throughput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1965960"/>
            <a:ext cx="288036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Amount of data transferred per unit time (e.g., MB/s or GB/s). Often dominant for large sequential transfers.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C2440"/>
                </a:solidFill>
              </a:rPr>
              <a:t>The same array can show high throughput but poor small-block random latency—or excellent IOPS at low queue depth but lower sustained bandwidth.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IOPS: count operations, not bytes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IOPS depends on block size, read/write mix, queue depth, concurrency and device behavior.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9344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B7D9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3904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2816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1828800"/>
            <a:ext cx="292608" cy="1325880"/>
          </a:xfrm>
          <a:prstGeom prst="roundRect">
            <a:avLst>
              <a:gd name="adj" fmla="val 9375"/>
            </a:avLst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64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Example workload: 4 KiB random reads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32120" y="14173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417320"/>
            <a:ext cx="64008" cy="1143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100k IOPS does not mean 100 GB/s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15000" y="1920240"/>
            <a:ext cx="47548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At small block sizes, the number of operations and the amount of data per operation are very different measures.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27889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2788920"/>
            <a:ext cx="64008" cy="11430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9671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26480" y="29260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Ask for the workload profile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15000" y="3291840"/>
            <a:ext cx="47548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Block size • read/write ratio • sequential/random • concurrency • queue depth.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Latency: where the user feels storage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For transactional systems, reducing request time can be more important than maximizing peak bandwidth.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7724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5852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325880"/>
            <a:ext cx="1463040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2396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5AA6"/>
                </a:solidFill>
              </a:rPr>
              <a:t>0.4 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Host + stack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5852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965960"/>
            <a:ext cx="1097280" cy="38404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029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A5A5"/>
                </a:solidFill>
              </a:rPr>
              <a:t>0.3 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79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Fabric / network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2606040"/>
            <a:ext cx="5852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06040"/>
            <a:ext cx="731520" cy="38404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670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D5BD0"/>
                </a:solidFill>
              </a:rPr>
              <a:t>0.2 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Array + media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3246120"/>
            <a:ext cx="5852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246120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3310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0.7 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Total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3886200"/>
            <a:ext cx="5852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886200"/>
            <a:ext cx="5852160" cy="38404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3950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98754"/>
                </a:solidFill>
              </a:rPr>
              <a:t>1.6 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2388" y="1344168"/>
            <a:ext cx="1828800" cy="2560320"/>
          </a:xfrm>
          <a:prstGeom prst="roundRect">
            <a:avLst>
              <a:gd name="adj" fmla="val 4000"/>
            </a:avLst>
          </a:prstGeom>
          <a:solidFill>
            <a:srgbClr val="F2F9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79508" y="1417320"/>
            <a:ext cx="64008" cy="25603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24128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Teaching point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67544" y="1911927"/>
            <a:ext cx="146304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Optimize the biggest contributor first.</a:t>
            </a:r>
            <a:endParaRPr lang="en-US" sz="13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Throughput: optimize the pipe for big I/O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Throughput is usually expressed as data moved per unit time.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8869680" cy="384048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Host bus / HBA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8869680" cy="384048"/>
          </a:xfrm>
          <a:prstGeom prst="rect">
            <a:avLst/>
          </a:prstGeom>
          <a:solidFill>
            <a:srgbClr val="D1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95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Fabric / network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8869680" cy="384048"/>
          </a:xfrm>
          <a:prstGeom prst="rect">
            <a:avLst/>
          </a:prstGeom>
          <a:solidFill>
            <a:srgbClr val="E8E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895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Array controllers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8869680" cy="384048"/>
          </a:xfrm>
          <a:prstGeom prst="rect">
            <a:avLst/>
          </a:prstGeom>
          <a:solidFill>
            <a:srgbClr val="FBE9C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4838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Media pool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4343"/>
                </a:solidFill>
              </a:rPr>
              <a:t>THROUGHPUT BOTTLENECK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4480560"/>
            <a:ext cx="5394960" cy="0"/>
          </a:xfrm>
          <a:prstGeom prst="line">
            <a:avLst/>
          </a:prstGeom>
          <a:noFill/>
          <a:ln w="381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68880" y="4892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440"/>
                </a:solidFill>
              </a:rPr>
              <a:t>The slowest / saturated stage limits end-to-end transfer.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together: a workload-first mental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Use the workload profile to interpret storage numbers.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Conceptual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3716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Small random DB I/O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4754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Latency + IOPS dominate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1732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12280" y="1554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Large sequential backup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4754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Throughput dominates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46120"/>
            <a:ext cx="64008" cy="137160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File sharing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4754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Mixed; concurrency + throughput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46120"/>
            <a:ext cx="64008" cy="13716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12280" y="33832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Archive retrieval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4754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Capacity + durability + cost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2440"/>
                </a:solidFill>
              </a:rPr>
              <a:t>Checkpoint: Which metric would you look at first for an online transaction database?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#1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Answer individually, then compare with a partner.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Interactive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" cy="1143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Q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Q1 • A storage platform reports 500,000 IOPS. What three questions do you ask before calling it “fast”?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102412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Think: block size • read/write mix • concurrency / queue depth.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889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Q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Q2 • A backup job is slow although the disks show low latency. What other bottleneck might exist?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291840"/>
            <a:ext cx="102412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Think: network / fabric / host CPU / source application / media server.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6052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2885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Q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Q3 • When is throughput more important than latency?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102412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Think: large sequential transfers such as backup, ETL, media and analytics.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8D8D4"/>
                </a:solidFill>
              </a:rPr>
              <a:t>MODULE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14173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&amp; data protection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8368" y="28803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4F0"/>
                </a:solidFill>
              </a:rPr>
              <a:t>RAID combines disks into a logical set to improve performance, capacity use and/or fault tolerance. We will focus on RAID 0, 1, 5, 6 and 10.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287000" y="5349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244867"/>
                </a:solidFill>
              </a:rPr>
              <a:t>21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RAID: why combine disks?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Mechanical disks have finite performance and failure characteristics; RAID uses multiple drives as a logical set.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</a:t>
            </a:r>
            <a:endParaRPr lang="en-US" sz="750" dirty="0"/>
          </a:p>
        </p:txBody>
      </p:sp>
      <p:pic>
        <p:nvPicPr>
          <p:cNvPr id="5" name="Image 0" descr="/mnt/data/rps_day1_ppt/extracted/3.Raid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17373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0360" y="14173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80360" y="1417320"/>
            <a:ext cx="64008" cy="11887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4495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474720" y="1554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63240" y="1920240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Parallel access can increase aggregate I/O capability.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80360" y="27889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0360" y="2788920"/>
            <a:ext cx="64008" cy="11887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4495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✓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474720" y="2926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3240" y="3291840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Mirroring / parity can preserve access after a disk failure.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80360" y="41605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80360" y="416052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44952" y="42885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↔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47472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Trade-off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63240" y="4663440"/>
            <a:ext cx="3291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Capacity overhead, write penalty and rebuild behavior differ by RAID level.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903720" y="141732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FF7F7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720" y="1417320"/>
            <a:ext cx="64008" cy="39319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6831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!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498080" y="1554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RAID is not backup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86600" y="1920240"/>
            <a:ext cx="4023360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RAID protects against certain media failures inside the array.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It does not protect against accidental deletion, corruption, ransomware, logical errors or site loss by itself.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26274"/>
                </a:solidFill>
              </a:rPr>
              <a:t>Backup and replication solve different failure domains.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building blocks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Three techniques appear repeatedly across RAID levels.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64008" cy="292608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1 • Striping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01752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Split sequential data blocks across multiple disks.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Benefit: parallelism / bandwidth.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Risk: no redundancy by itself.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7408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463040"/>
            <a:ext cx="64008" cy="292608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01768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2 • Mirroring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1965960"/>
            <a:ext cx="301752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Store the same logical data on more than one disk.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Benefit: simple redundancy and reads from copies.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Cost: usable capacity overhead.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9016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9016" y="1463040"/>
            <a:ext cx="64008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23376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3 • Parity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1896" y="1965960"/>
            <a:ext cx="301752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Store redundant information that can reconstruct missing data after a disk failure.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Benefit: better capacity efficiency than full mirroring.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Trade-off: parity processing and rebuild complexity.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Striping explained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stripe spreads logical blocks across disks so multiple devices can participate in the I/O.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417320" cy="2286000"/>
          </a:xfrm>
          <a:prstGeom prst="roundRect">
            <a:avLst>
              <a:gd name="adj" fmla="val 3226"/>
            </a:avLst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202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DISK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69848" y="2331720"/>
            <a:ext cx="1078992" cy="228600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36829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A1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69848" y="2633472"/>
            <a:ext cx="1078992" cy="228600"/>
          </a:xfrm>
          <a:prstGeom prst="rect">
            <a:avLst/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67004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B2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69848" y="2935224"/>
            <a:ext cx="1078992" cy="2286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97180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C3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69848" y="3236976"/>
            <a:ext cx="1078992" cy="228600"/>
          </a:xfrm>
          <a:prstGeom prst="rect">
            <a:avLst/>
          </a:prstGeom>
          <a:solidFill>
            <a:srgbClr val="EEE9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27355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D4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69848" y="3538728"/>
            <a:ext cx="1078992" cy="228600"/>
          </a:xfrm>
          <a:prstGeom prst="rect">
            <a:avLst/>
          </a:prstGeom>
          <a:solidFill>
            <a:srgbClr val="E7EE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57530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E5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71800" y="1737360"/>
            <a:ext cx="1417320" cy="2286000"/>
          </a:xfrm>
          <a:prstGeom prst="roundRect">
            <a:avLst>
              <a:gd name="adj" fmla="val 3226"/>
            </a:avLst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19202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DISK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27248" y="2331720"/>
            <a:ext cx="1078992" cy="228600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36829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A2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27248" y="2633472"/>
            <a:ext cx="1078992" cy="228600"/>
          </a:xfrm>
          <a:prstGeom prst="rect">
            <a:avLst/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67004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B3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27248" y="2935224"/>
            <a:ext cx="1078992" cy="2286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297180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C4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27248" y="3236976"/>
            <a:ext cx="1078992" cy="228600"/>
          </a:xfrm>
          <a:prstGeom prst="rect">
            <a:avLst/>
          </a:prstGeom>
          <a:solidFill>
            <a:srgbClr val="EEE9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327355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D5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27248" y="3538728"/>
            <a:ext cx="1078992" cy="228600"/>
          </a:xfrm>
          <a:prstGeom prst="rect">
            <a:avLst/>
          </a:prstGeom>
          <a:solidFill>
            <a:srgbClr val="E7EE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357530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E1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0" y="1737360"/>
            <a:ext cx="1417320" cy="2286000"/>
          </a:xfrm>
          <a:prstGeom prst="roundRect">
            <a:avLst>
              <a:gd name="adj" fmla="val 3226"/>
            </a:avLst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19202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DISK 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84648" y="2331720"/>
            <a:ext cx="1078992" cy="228600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36829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A3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84648" y="2633472"/>
            <a:ext cx="1078992" cy="228600"/>
          </a:xfrm>
          <a:prstGeom prst="rect">
            <a:avLst/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267004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B4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84648" y="2935224"/>
            <a:ext cx="1078992" cy="2286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297180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C5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84648" y="3236976"/>
            <a:ext cx="1078992" cy="228600"/>
          </a:xfrm>
          <a:prstGeom prst="rect">
            <a:avLst/>
          </a:prstGeom>
          <a:solidFill>
            <a:srgbClr val="EEE9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327355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D1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84648" y="3538728"/>
            <a:ext cx="1078992" cy="228600"/>
          </a:xfrm>
          <a:prstGeom prst="rect">
            <a:avLst/>
          </a:prstGeom>
          <a:solidFill>
            <a:srgbClr val="E7EE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357530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E2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86600" y="1737360"/>
            <a:ext cx="1417320" cy="2286000"/>
          </a:xfrm>
          <a:prstGeom prst="roundRect">
            <a:avLst>
              <a:gd name="adj" fmla="val 3226"/>
            </a:avLst>
          </a:prstGeom>
          <a:solidFill>
            <a:srgbClr val="F9FBFD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9752" y="19202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DISK 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42048" y="2331720"/>
            <a:ext cx="1078992" cy="228600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42048" y="236829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A4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42048" y="2633472"/>
            <a:ext cx="1078992" cy="228600"/>
          </a:xfrm>
          <a:prstGeom prst="rect">
            <a:avLst/>
          </a:prstGeom>
          <a:solidFill>
            <a:srgbClr val="DDF2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2670048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B5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42048" y="2935224"/>
            <a:ext cx="1078992" cy="2286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2971800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C1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42048" y="3236976"/>
            <a:ext cx="1078992" cy="228600"/>
          </a:xfrm>
          <a:prstGeom prst="rect">
            <a:avLst/>
          </a:prstGeom>
          <a:solidFill>
            <a:srgbClr val="EEE9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3273552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D2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42048" y="3538728"/>
            <a:ext cx="1078992" cy="228600"/>
          </a:xfrm>
          <a:prstGeom prst="rect">
            <a:avLst/>
          </a:prstGeom>
          <a:solidFill>
            <a:srgbClr val="E7EE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42048" y="3575304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</a:rPr>
              <a:t>E3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Stripe width / block size are design parameters that influence performance.</a:t>
            </a:r>
            <a:endParaRPr lang="en-US" sz="11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Mirroring explained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Every logical write is stored on at least two copies.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051560" y="1600200"/>
            <a:ext cx="2148840" cy="24231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198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</a:rPr>
              <a:t>MIRROR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2331720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37744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2679192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7249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3026664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0723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08760" y="3374136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41985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4760" y="1600200"/>
            <a:ext cx="2148840" cy="24231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19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828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</a:rPr>
              <a:t>MIRROR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331720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37744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2679192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7249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3026664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0723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3374136"/>
            <a:ext cx="1234440" cy="246888"/>
          </a:xfrm>
          <a:prstGeom prst="rect">
            <a:avLst/>
          </a:prstGeom>
          <a:solidFill>
            <a:srgbClr val="E5F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41985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</a:rPr>
              <a:t>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0" y="21488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23134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HOST WRITE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88352" y="267919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A+B+C+D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52160" y="2880360"/>
            <a:ext cx="1463040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2880360"/>
            <a:ext cx="1463040" cy="36576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32461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3246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↔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909560" y="3383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Trade-off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98080" y="3749040"/>
            <a:ext cx="29260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Simple failure protection but usable capacity is approximately half for a two-way mirror.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Parity explained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Parity allows missing data to be reconstructed without storing a full mirror copy for every block.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975083" y="1712006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64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D1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1305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664208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764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D2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50592" y="21305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664208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1764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D3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05072" y="21305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09676" y="1655064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764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D4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9552" y="21305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53349" y="1650908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1764792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14032" y="21305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18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1965960"/>
            <a:ext cx="4754880" cy="0"/>
          </a:xfrm>
          <a:prstGeom prst="line">
            <a:avLst/>
          </a:prstGeom>
          <a:noFill/>
          <a:ln w="12700">
            <a:solidFill>
              <a:srgbClr val="D3DFE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65960" y="1965960"/>
            <a:ext cx="4754880" cy="0"/>
          </a:xfrm>
          <a:prstGeom prst="line">
            <a:avLst/>
          </a:prstGeom>
          <a:noFill/>
          <a:ln w="12700">
            <a:solidFill>
              <a:srgbClr val="D3DFE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65960" y="1965960"/>
            <a:ext cx="4754880" cy="0"/>
          </a:xfrm>
          <a:prstGeom prst="line">
            <a:avLst/>
          </a:prstGeom>
          <a:noFill/>
          <a:ln w="12700">
            <a:solidFill>
              <a:srgbClr val="D3DFE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1965960"/>
            <a:ext cx="4754880" cy="0"/>
          </a:xfrm>
          <a:prstGeom prst="line">
            <a:avLst/>
          </a:prstGeom>
          <a:noFill/>
          <a:ln w="12700">
            <a:solidFill>
              <a:srgbClr val="D3DFE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65960" y="1965960"/>
            <a:ext cx="4754880" cy="0"/>
          </a:xfrm>
          <a:prstGeom prst="line">
            <a:avLst/>
          </a:prstGeom>
          <a:noFill/>
          <a:ln w="12700">
            <a:solidFill>
              <a:srgbClr val="D3DFE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2743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Parity is commonly calculated with XOR in classic RAID parity schemes.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34290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429000"/>
            <a:ext cx="64008" cy="14173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417320" y="3566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Drive failure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2918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If one data block is missing, parity + the surviving blocks can reconstruct it.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00600" y="34290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4290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↻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39496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Rebuild cost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3931920"/>
            <a:ext cx="30175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Large modern disks may require substantial time and I/O to rebuild.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458200" y="34290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3429000"/>
            <a:ext cx="64008" cy="14173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!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05256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Design implication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641080" y="3931920"/>
            <a:ext cx="2423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Protection level must match failure-domain and rebuild risk.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Striping without fault tolerance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 + ITC RAID material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778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40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40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0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0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37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778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83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3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83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83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3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83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3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83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83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880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7780">
            <a:solidFill>
              <a:srgbClr val="1F5A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26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6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026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26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026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26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026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6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26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6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023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7780">
            <a:solidFill>
              <a:srgbClr val="1F5A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69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9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69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9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69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9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69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9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169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9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864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0" y="1463040"/>
            <a:ext cx="64008" cy="1143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C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0807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Usable capacity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56692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≈ 100%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4582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58200" y="146304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227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P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90525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Typical protection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6410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0 disk redundancy; any disk loss can lose the array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486400" y="288036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2880360"/>
            <a:ext cx="64008" cy="1280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5099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60807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669280" y="3383280"/>
            <a:ext cx="5349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Striping without fault tolerance</a:t>
            </a:r>
            <a:endParaRPr lang="en-US" sz="150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Mirroring for simple redundancy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 + ITC RAID material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7780">
            <a:solidFill>
              <a:srgbClr val="198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</a:rPr>
              <a:t>D1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40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40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0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0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37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778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</a:rPr>
              <a:t>D2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83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3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83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83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3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83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3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83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83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880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7780">
            <a:solidFill>
              <a:srgbClr val="19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</a:rPr>
              <a:t>D3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26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6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026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26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026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26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026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6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26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6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023360" y="1508760"/>
            <a:ext cx="868680" cy="251460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7780">
            <a:solidFill>
              <a:srgbClr val="1987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16916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</a:rPr>
              <a:t>D4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69664" y="2148840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9664" y="2185416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69664" y="2441448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9664" y="2478024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69664" y="2734056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9664" y="2770632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69664" y="3026664"/>
            <a:ext cx="78867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69664" y="3063240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169664" y="3319272"/>
            <a:ext cx="78867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9664" y="3355848"/>
            <a:ext cx="78867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COPY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864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0" y="146304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C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0807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Usable capacity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56692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≈ 50%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4582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58200" y="146304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227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P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90525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Typical protection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6410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Can tolerate a disk failure when the mirror copy remains available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486400" y="288036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2880360"/>
            <a:ext cx="64008" cy="1280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5099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60807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669280" y="3383280"/>
            <a:ext cx="5349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Mirroring for simple redundancy</a:t>
            </a:r>
            <a:endParaRPr lang="en-US" sz="1500" dirty="0"/>
          </a:p>
        </p:txBody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Striping + single distributed parity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 + ITC RAID material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76656" y="1508760"/>
            <a:ext cx="694944" cy="2514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" y="2148840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854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40664" y="2441448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47802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40664" y="2734056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7706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0664" y="3026664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632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0664" y="3319272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35584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PARITY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09344" y="1508760"/>
            <a:ext cx="694944" cy="2514600"/>
          </a:xfrm>
          <a:prstGeom prst="roundRect">
            <a:avLst>
              <a:gd name="adj" fmla="val 5263"/>
            </a:avLst>
          </a:prstGeom>
          <a:solidFill>
            <a:srgbClr val="EEF3F8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1691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55064" y="2148840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5064" y="21854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55064" y="2441448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5064" y="247802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655064" y="2734056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55064" y="27706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55064" y="3026664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55064" y="30632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PARITY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55064" y="3319272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55064" y="335584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05456" y="1508760"/>
            <a:ext cx="694944" cy="2514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1691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9464" y="2148840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21854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9464" y="2441448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9464" y="247802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569464" y="2734056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9464" y="27706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PARITY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569464" y="3026664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9464" y="30632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69464" y="3319272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335584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442716" y="1508760"/>
            <a:ext cx="694944" cy="2514600"/>
          </a:xfrm>
          <a:prstGeom prst="roundRect">
            <a:avLst>
              <a:gd name="adj" fmla="val 5263"/>
            </a:avLst>
          </a:prstGeom>
          <a:solidFill>
            <a:srgbClr val="EEF3F8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1691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83864" y="2148840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21854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483864" y="2441448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483864" y="247802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PARITY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483864" y="2734056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83864" y="27706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83864" y="3026664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83864" y="30632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83864" y="3319272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83864" y="335584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360441" y="1508760"/>
            <a:ext cx="694944" cy="2514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51960" y="16916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D5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98264" y="2148840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398264" y="21854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Parity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398264" y="2441448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98264" y="2478024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398264" y="2734056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98264" y="2770632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398264" y="3026664"/>
            <a:ext cx="630936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98264" y="30632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398264" y="3319272"/>
            <a:ext cx="630936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98264" y="335584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4864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0" y="14630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509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C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60807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Usable capacity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56692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≈ (N−1)/N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84582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58200" y="146304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227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P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90525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Typical protection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86410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One disk failure tolerated; rebuilds are parity-intensive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5486400" y="288036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86400" y="2880360"/>
            <a:ext cx="64008" cy="1280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5099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78" name="Text 76"/>
          <p:cNvSpPr/>
          <p:nvPr/>
        </p:nvSpPr>
        <p:spPr>
          <a:xfrm>
            <a:off x="60807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5669280" y="3383280"/>
            <a:ext cx="5349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Striping + single distributed parity</a:t>
            </a:r>
            <a:endParaRPr lang="en-US" sz="150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Striping + dual distributed parity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EMC RAID deck + ITC RAID material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94944" y="1508760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40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40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0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0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430066" y="1508760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6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2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2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02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2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502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2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502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02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502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2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Q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00656" y="1476756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8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64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4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64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4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264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64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64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4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DQ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264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64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904883" y="1508760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26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26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26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026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026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26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Q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026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26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026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26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19945" y="1508760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42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788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88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P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88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88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Q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788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88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788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88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788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88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492613" y="1508760"/>
            <a:ext cx="579120" cy="251460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 w="17780">
            <a:solidFill>
              <a:srgbClr val="D1434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04360" y="1691640"/>
            <a:ext cx="57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4343"/>
                </a:solidFill>
              </a:rPr>
              <a:t>D6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50664" y="2148840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50664" y="2185416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Q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50664" y="2441448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50664" y="2478024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550664" y="2734056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50664" y="2770632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50664" y="3026664"/>
            <a:ext cx="52578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50664" y="3063240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550664" y="3319272"/>
            <a:ext cx="525780" cy="210312"/>
          </a:xfrm>
          <a:prstGeom prst="rect">
            <a:avLst/>
          </a:prstGeom>
          <a:solidFill>
            <a:srgbClr val="EAF2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50664" y="3355848"/>
            <a:ext cx="525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26274"/>
                </a:solidFill>
              </a:rPr>
              <a:t>DATA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4864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0" y="1463040"/>
            <a:ext cx="64008" cy="114300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509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C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60807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Usable capacity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56692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≈ (N−2)/N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8458200" y="14630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58200" y="1463040"/>
            <a:ext cx="64008" cy="1143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622792" y="15910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P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90525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Typical protection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8641080" y="1965960"/>
            <a:ext cx="23774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Two disk failures tolerated within the RAID set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5486400" y="2880360"/>
            <a:ext cx="5715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2880360"/>
            <a:ext cx="64008" cy="1280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5099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✓</a:t>
            </a:r>
            <a:endParaRPr lang="en-US" sz="1700" dirty="0"/>
          </a:p>
        </p:txBody>
      </p:sp>
      <p:sp>
        <p:nvSpPr>
          <p:cNvPr id="90" name="Text 88"/>
          <p:cNvSpPr/>
          <p:nvPr/>
        </p:nvSpPr>
        <p:spPr>
          <a:xfrm>
            <a:off x="60807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5669280" y="3383280"/>
            <a:ext cx="5349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Striping + dual distributed parity</a:t>
            </a:r>
            <a:endParaRPr lang="en-US" sz="15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E7D4-77F9-557B-20B3-A76775CC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 descr="AI generated image">
            <a:extLst>
              <a:ext uri="{FF2B5EF4-FFF2-40B4-BE49-F238E27FC236}">
                <a16:creationId xmlns:a16="http://schemas.microsoft.com/office/drawing/2014/main" id="{9519DA00-176E-4D80-650B-3DBB8F1D1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73" y="857872"/>
            <a:ext cx="10064114" cy="444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84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comparison: read this table, then ask “why?”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No RAID level is universally best; the workload and failure model drive the choice.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Teaching comparison; exact behavior varies by implementation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828800" cy="566928"/>
          </a:xfrm>
          <a:prstGeom prst="rect">
            <a:avLst/>
          </a:prstGeom>
          <a:solidFill>
            <a:srgbClr val="0C244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59152" y="1325880"/>
            <a:ext cx="182880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Technique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06824" y="1325880"/>
            <a:ext cx="182880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Usable capacity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182880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Read performance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02168" y="1325880"/>
            <a:ext cx="182880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Write behavior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49840" y="1325880"/>
            <a:ext cx="182880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3848" y="14996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</a:rPr>
              <a:t>Disk failures tolerated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892808"/>
            <a:ext cx="1828800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0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359152" y="1892808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Striping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306824" y="1892808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254496" y="1892808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202168" y="1892808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0149840" y="1892808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13848" y="20574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0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411480" y="2514600"/>
            <a:ext cx="1828800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1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359152" y="251460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Mirroring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306824" y="251460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50%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254496" y="251460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202168" y="251460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6176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Low overhead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10149840" y="2514600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13848" y="267919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1 per mirror set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411480" y="3136392"/>
            <a:ext cx="1828800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5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2359152" y="3136392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Stripe + parity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306824" y="3136392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N-1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254496" y="3136392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Good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8202168" y="3136392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66176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Parity overhead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10149840" y="3136392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13848" y="33009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1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411480" y="3758184"/>
            <a:ext cx="1828800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6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2359152" y="375818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Stripe + dual parity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4306824" y="375818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N-2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6254496" y="375818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18504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Good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8202168" y="375818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66176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Higher parity overhead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10149840" y="3758184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13848" y="392277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2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411480" y="4379976"/>
            <a:ext cx="1828800" cy="530352"/>
          </a:xfrm>
          <a:prstGeom prst="rect">
            <a:avLst/>
          </a:prstGeom>
          <a:solidFill>
            <a:srgbClr val="F6F8FA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72033"/>
                </a:solidFill>
              </a:rPr>
              <a:t>10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2359152" y="437997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23160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Mirror + stripe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4306824" y="437997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70832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~50%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6254496" y="437997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18504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High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8202168" y="437997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66176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Good for random write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10149840" y="4379976"/>
            <a:ext cx="18288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213848" y="454456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274"/>
                </a:solidFill>
              </a:rPr>
              <a:t>Depends on mirror placement</a:t>
            </a:r>
            <a:endParaRPr lang="en-US" sz="96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RAID selection by workload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Use the application profile and the organization’s protection objective together.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 guidance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8745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Temporary / scratch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1945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High-speed working set where loss is acceptable.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→ RAID 0 can be a teaching example—not a backup strategy.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1417320"/>
            <a:ext cx="64008" cy="18745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67912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Simple mirror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1920240"/>
            <a:ext cx="21945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Small workloads where simple redundancy and predictable behavior matter.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98464" y="14173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8464" y="1417320"/>
            <a:ext cx="6400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92824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Capacity-oriented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81344" y="1920240"/>
            <a:ext cx="21945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Good usable capacity with protection against a single disk failure.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23376" y="14173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23376" y="1417320"/>
            <a:ext cx="64008" cy="18745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6/10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17736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Higher resilience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06256" y="1920240"/>
            <a:ext cx="219456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Dual-parity or mirrored-stripe designs where performance and rebuild risk are important.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886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6274"/>
                </a:solidFill>
              </a:rPr>
              <a:t>Enterprise storage arrays may use additional protection schemes, distributed sparing and proprietary data-protection algorithms beyond these classic RAID labels.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8D8D4"/>
                </a:solidFill>
              </a:rPr>
              <a:t>MODULE 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14173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Architectures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58368" y="28803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4F0"/>
                </a:solidFill>
              </a:rPr>
              <a:t>Compare DAS, NAS and SAN by where the storage sits, how data is accessed, who manages it, and which applications benefit.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287000" y="5349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244867"/>
                </a:solidFill>
              </a:rPr>
              <a:t>32</a:t>
            </a:r>
            <a:endParaRPr lang="en-US" sz="3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DAS: Direct-Attached Storage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Storage is directly connected to the host or server.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Storage-Module1</a:t>
            </a:r>
            <a:endParaRPr lang="en-US" sz="750" dirty="0"/>
          </a:p>
        </p:txBody>
      </p:sp>
      <p:pic>
        <p:nvPicPr>
          <p:cNvPr id="5" name="Image 0" descr="/mnt/data/rps_day1_ppt/extracted/Storage-Module1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08760"/>
            <a:ext cx="146304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18288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07792" y="199339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SERVER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07792" y="235915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18288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199339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DAS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59552" y="235915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Direct link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21040" y="182880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94192" y="199339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DISKS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94192" y="2359152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Local / external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2212848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498080" y="2212848"/>
            <a:ext cx="731520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4400" y="384048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3840480"/>
            <a:ext cx="64008" cy="128016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39684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+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508760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Benefits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97280" y="4343400"/>
            <a:ext cx="2560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Low initial investment; simple to deploy; local provisioning.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60520" y="384048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0520" y="3840480"/>
            <a:ext cx="64008" cy="128016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25112" y="39684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!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754880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343400" y="4343400"/>
            <a:ext cx="2560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Limited sharing and scalability; can create storage islands.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406640" y="384048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3840480"/>
            <a:ext cx="64008" cy="1280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71232" y="39684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↳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001000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Use cases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589520" y="4343400"/>
            <a:ext cx="2560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Standalone servers, edge, branch or capacity close to a single host.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NAS: Network-Attached Storage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NAS provides file-level access over an IP network, typically using SMB or NFS.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NAS deck + Storage-Module1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9339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CLIENTS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Windows / Linux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9933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NAS HEAD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22192" y="23591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File 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60920" y="1828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34072" y="199339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STORAGE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34072" y="235915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Pools / disks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2167128"/>
            <a:ext cx="1527048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2167128"/>
            <a:ext cx="1572768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pic>
        <p:nvPicPr>
          <p:cNvPr id="16" name="Image 0" descr="/mnt/data/rps_day1_ppt/extracted/Storage-Module1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71800"/>
            <a:ext cx="2834640" cy="1828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31520" y="3794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794760"/>
            <a:ext cx="64008" cy="14173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3922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F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3258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Protocols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" y="4297680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SMB for Windows-oriented file sharing; NFS for Unix/Linux and many application workloads.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3794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3794760"/>
            <a:ext cx="64008" cy="14173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79392" y="3922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✓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70916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Benefits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297680" y="4297680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Centralized file sharing, simplified administration, concurrent access.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498080" y="37947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0" y="3794760"/>
            <a:ext cx="64008" cy="14173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62672" y="3922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₹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0924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Typical banking uses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680960" y="4297680"/>
            <a:ext cx="26974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Shared document repositories, reports, application content, user home/team shares.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SAN: Storage Area Network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SAN provides block-level access through a dedicated storage network / fabric.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Storage-Module1 + ITC Storage &amp; Backup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57734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733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HOSTS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03911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Servers / VMs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99232" y="1571937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16733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HBA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203911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Initiators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93792" y="1567781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6733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FABRIC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9512" y="203911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Switches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88352" y="1567781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16733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ARRAY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4072" y="203911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Controllers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582912" y="1536192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6733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LUNS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203911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Block devices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1847088"/>
            <a:ext cx="79552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1847088"/>
            <a:ext cx="61264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1847088"/>
            <a:ext cx="61264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9680" y="1847088"/>
            <a:ext cx="612648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pic>
        <p:nvPicPr>
          <p:cNvPr id="24" name="Image 0" descr="/mnt/data/rps_day1_ppt/extracted/Storage-Module1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880360"/>
            <a:ext cx="4709160" cy="20116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40080" y="50749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5074920"/>
            <a:ext cx="64008" cy="8686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5202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P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2344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Protocol examples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22960" y="5577840"/>
            <a:ext cx="2880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</a:rPr>
              <a:t>Fibre Channel • iSCSI • FCoE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160520" y="50749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60520" y="507492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25112" y="5202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Z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47548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Design features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343400" y="5577840"/>
            <a:ext cx="2880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</a:rPr>
              <a:t>Multi-pathing • zoning • LUN masking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680960" y="507492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80960" y="5074920"/>
            <a:ext cx="64008" cy="86868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45552" y="5202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DB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827532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Workloads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863840" y="5577840"/>
            <a:ext cx="2880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</a:rPr>
              <a:t>Databases • VMs • high-I/O enterprise apps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 vs NAS vs SAN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Same physical storage idea—different access models and operational boundaries.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Sources: Storage-Module1; NAS deck; ITC Storage &amp; Backup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2103120" cy="530352"/>
          </a:xfrm>
          <a:prstGeom prst="rect">
            <a:avLst/>
          </a:prstGeom>
          <a:solidFill>
            <a:srgbClr val="0C244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904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1325880"/>
            <a:ext cx="210312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4904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</a:rPr>
              <a:t>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11496" y="1325880"/>
            <a:ext cx="210312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14904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</a:rPr>
              <a:t>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70064" y="1325880"/>
            <a:ext cx="210312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43216" y="14904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</a:rPr>
              <a:t>Sharing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28632" y="1325880"/>
            <a:ext cx="210312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1784" y="149047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</a:rPr>
              <a:t>Typical 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856232"/>
            <a:ext cx="2103120" cy="585216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05740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DAS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852928" y="1856232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05740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Block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111496" y="1856232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205740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Direct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370064" y="1856232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205740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Low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628632" y="1856232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1784" y="2057400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Single-host / edge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94360" y="2551176"/>
            <a:ext cx="2103120" cy="585216"/>
          </a:xfrm>
          <a:prstGeom prst="rect">
            <a:avLst/>
          </a:prstGeom>
          <a:solidFill>
            <a:srgbClr val="DDF2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27523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NAS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852928" y="2551176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7523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File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111496" y="2551176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27523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Ethernet / IP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70064" y="2551176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27523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High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628632" y="2551176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01784" y="2752344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Shared files / content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94360" y="3246120"/>
            <a:ext cx="2103120" cy="585216"/>
          </a:xfrm>
          <a:prstGeom prst="rect">
            <a:avLst/>
          </a:prstGeom>
          <a:solidFill>
            <a:srgbClr val="EEE9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4472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2033"/>
                </a:solidFill>
              </a:rPr>
              <a:t>SAN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2852928" y="3246120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472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Block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111496" y="3246120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34472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FC / IP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370064" y="3246120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216" y="34472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High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9628632" y="3246120"/>
            <a:ext cx="21031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01784" y="3447288"/>
            <a:ext cx="1956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526274"/>
                </a:solidFill>
              </a:rPr>
              <a:t>DB / VM / enterprise apps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2440"/>
                </a:solidFill>
              </a:rPr>
              <a:t>Memory hook: DAS = directly attached • NAS = file over IP • SAN = block over a storage network</a:t>
            </a:r>
            <a:endParaRPr lang="en-US" sz="20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 building blocks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SAN is a layered system: host → fabric → storage, with redundant paths for availability.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ITC Storage &amp; Backup; Storage-Module1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71600"/>
            <a:ext cx="64008" cy="32918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Host / initiator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88036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Server / hypervisor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HBA / CNA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Multipath software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WWN / initiator identity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Goal: reliable, redundant access to storage paths.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64008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Fabric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874520"/>
            <a:ext cx="288036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FC switches / directors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ISL links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VSAN / fabric separation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Zoning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Goal: controlled connectivity and path redundancy.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13716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371600"/>
            <a:ext cx="64008" cy="329184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Storage / target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1874520"/>
            <a:ext cx="288036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Front-end 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Controllers / cache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RAID / pools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LUN masking / mapping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Goal: present the right blocks to the right host.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 path: why multipathing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single path is a hidden dependency. Redundant paths reduce the impact of a cable, HBA, switch-port or controller failure.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ITC Storage &amp; Backup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9339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HOST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4904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HBA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62072" y="185623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Path 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6060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277063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HBA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2072" y="313639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Path 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6360" y="132588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4904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SW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9512" y="185623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Fabric 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66360" y="26060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277063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SW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9512" y="3136392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Fabric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132588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149047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ARRAY PORT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16952" y="185623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Target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43800" y="26060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277063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ARRAY PORT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16952" y="3136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Target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167128"/>
            <a:ext cx="457200" cy="0"/>
          </a:xfrm>
          <a:prstGeom prst="line">
            <a:avLst/>
          </a:prstGeom>
          <a:noFill/>
          <a:ln w="254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0" y="2167128"/>
            <a:ext cx="457200" cy="731520"/>
          </a:xfrm>
          <a:prstGeom prst="line">
            <a:avLst/>
          </a:prstGeom>
          <a:noFill/>
          <a:ln w="254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0520" y="1627632"/>
            <a:ext cx="960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160520" y="2898648"/>
            <a:ext cx="960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37960" y="1627632"/>
            <a:ext cx="960120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37960" y="2898648"/>
            <a:ext cx="960120" cy="0"/>
          </a:xfrm>
          <a:prstGeom prst="line">
            <a:avLst/>
          </a:prstGeom>
          <a:noFill/>
          <a:ln w="25400">
            <a:solidFill>
              <a:srgbClr val="0EA5A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46920" y="123444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46920" y="1234440"/>
            <a:ext cx="64008" cy="246888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11512" y="13624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↻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24128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Failure example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829800" y="1737360"/>
            <a:ext cx="146304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</a:rPr>
              <a:t>Lose SW 1 → Path A disappears.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</a:rPr>
              <a:t>With healthy Path B, the host can continue depending on multipath policy.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 protocols: Fibre Channel vs iSCSI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Both provide block storage access; the transport and operational model differ.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ITC Storage &amp; Backup; external protocol concepts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D143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538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4343"/>
                </a:solidFill>
              </a:rPr>
              <a:t>Brocade / FC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Fibre Channel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331720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4538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Cisco / FC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04872" y="166420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Fibre Channel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31920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D143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14538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4343"/>
                </a:solidFill>
              </a:rPr>
              <a:t>Broadcom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5072" y="166420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Brocade owner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532120" y="135331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45389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</a:rPr>
              <a:t>Dell /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05272" y="166420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Example vendor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14884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2768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FC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22860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Fibre Channel SAN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2651760"/>
            <a:ext cx="475488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Dedicated storage networking ecosystem; HBAs, FC switches/directors, WWNs, zoning and multipathing are common concepts.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214884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148840"/>
            <a:ext cx="64008" cy="224028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2768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IP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12280" y="22860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iSCSI SAN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2651760"/>
            <a:ext cx="475488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Carries SCSI commands and data over TCP/IP. Often attractive where Ethernet/IP skills and infrastructure are already strong.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892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440"/>
                </a:solidFill>
              </a:rPr>
              <a:t>Both ultimately expose block devices to hosts; the application sees a disk/LUN abstraction.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NAS protocols: SMB and NFS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NAS is about file semantics: file paths, permissions, locking and shared access.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NAS deck; current Azure Files docs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23774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SMB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SMB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484632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Client/server file-sharing protocol widely used in Windows environments. Useful for user shares, application file shares and hybrid Windows workloads.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64008" cy="237744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545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NFS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0" y="1554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NFS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4846320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Common in Unix/Linux environments. Current cloud services such as Amazon EFS and Azure Files support NFS-based file access for applicable workloads.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External: Microsoft Learn – Azure Files; AWS EFS documentation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8D8D4"/>
                </a:solidFill>
              </a:rPr>
              <a:t>MODULE 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vs Block vs Object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8368" y="28803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4F0"/>
                </a:solidFill>
              </a:rPr>
              <a:t>Three access models. The mental model is more important than memorizing product names.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287000" y="5349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244867"/>
                </a:solidFill>
              </a:rPr>
              <a:t>40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vs Block vs Object – the three models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Ask: who owns the filesystem, how is data addressed, and what is the application interface?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Synthesis + current cloud documentation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64008" cy="32918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20040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Path / directory / filename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NAS, SMB shares, NFS, Azure Files, Amazon EFS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Best fit: shared files, content repositories, user and application file shares.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15968" y="13716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371600"/>
            <a:ext cx="64008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0328" y="1508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BLOCK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8848" y="1874520"/>
            <a:ext cx="320040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Raw blocks presented as a disk / volume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SAN LUN, Amazon EBS, Azure Managed Disk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Best fit: DBs, VM disks, filesystems controlled by the host.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83296" y="13716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371600"/>
            <a:ext cx="64008" cy="32918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77656" y="1508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OBJECT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1874520"/>
            <a:ext cx="320040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Object + metadata addressed through an API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Examples: Amazon S3, Azure Blob Storage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</a:rPr>
              <a:t>Best fit: large-scale unstructured data, archives, media, data lakes.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storage: change the addressing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Instead of “disk sectors” or “directory paths”, object storage exposes objects, metadata and APIs.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External: AWS S3 and Azure Blob documentation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7627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API call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20116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17627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OBJECT 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30752" y="2542032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Service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20116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7627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OBJECT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56832" y="2542032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Data + metadata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509760" y="20116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17627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DURABILITY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82912" y="2542032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Policy / tier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2386584"/>
            <a:ext cx="9144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23560" y="2386584"/>
            <a:ext cx="914400" cy="0"/>
          </a:xfrm>
          <a:prstGeom prst="line">
            <a:avLst/>
          </a:prstGeom>
          <a:noFill/>
          <a:ln w="254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386584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429000"/>
            <a:ext cx="64008" cy="11430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✓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Strong fit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3931920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Large volumes of unstructured content, data lakes, backups, media.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5196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42900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↔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4632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Trade-off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34840" y="3931920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Not a drop-in replacement for every POSIX filesystem or low-latency block workload.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3429000"/>
            <a:ext cx="64008" cy="1143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35570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83880" y="3566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Architecture clue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0" y="3931920"/>
            <a:ext cx="26517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Design around APIs, metadata, access policy and lifecycle tiering.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cloud mapping: AWS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Cloud services make the file/block/object model explicit.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External: AWS official docs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0C2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99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440"/>
                </a:solidFill>
              </a:rPr>
              <a:t>AWS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0934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Amazon Web Services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57400"/>
            <a:ext cx="64008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Amazon EBS • BLOCK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Persistent block volumes for EC2. The host can format and use the volume like a disk. EBS snapshots provide point-in-time copies of volumes.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7408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2057400"/>
            <a:ext cx="64008" cy="246888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01768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Amazon EFS • 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0288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Managed elastic file storage. Supports NFS and shared access for applicable workloads.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9016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2057400"/>
            <a:ext cx="64008" cy="24688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23376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Amazon S3 • OBJECT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11896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Object storage for large-scale data, data lakes, cloud applications and content.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cloud mapping: Azure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Azure exposes the same core storage models through different service names.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External: Microsoft Learn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99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Azure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0934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Microsoft Azure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57400"/>
            <a:ext cx="64008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Azure Managed Disks • BLOCK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Block-level storage volumes used with Azure VMs. Disk types include SSD and HDD classes.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07408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2057400"/>
            <a:ext cx="64008" cy="246888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01768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Azure Files • FILE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0288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Managed file shares supporting SMB and NFS for applicable workloads and clients.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9016" y="20574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2057400"/>
            <a:ext cx="64008" cy="24688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21854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723376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Azure Blob Storage • OBJECT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11896" y="2560320"/>
            <a:ext cx="301752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Cloud object storage for massive amounts of unstructured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/ block / object: architecture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Choosing a storage model is an architecture decision, not just a product selection.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Synthesis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64008" cy="9601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264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Who needs access?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One host • many servers • internet-scale clients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29844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298448"/>
            <a:ext cx="64008" cy="96012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264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How is data addressed?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180136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Blocks • file paths • object keys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87168"/>
            <a:ext cx="64008" cy="960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15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2624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does the app expect?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99008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Disk • filesystem •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48716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487168"/>
            <a:ext cx="64008" cy="9601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615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2624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fails?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299008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Disk • node • site • credentials • application logic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67588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675888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039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3000" y="3813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How is data protected?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17880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RAID • snapshots • backup • replication • immutability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675888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675888"/>
            <a:ext cx="64008" cy="9601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8039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58000" y="3813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is the lifecycle?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46520" y="4178808"/>
            <a:ext cx="5074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274"/>
                </a:solidFill>
              </a:rPr>
              <a:t>Hot • warm • cold • archive • delete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8D8D4"/>
                </a:solidFill>
              </a:rPr>
              <a:t>MODULE 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14173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Use Cases in Banking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58368" y="28803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4F0"/>
                </a:solidFill>
              </a:rPr>
              <a:t>Now move from technology to workload: core banking, payments, ATM, digital channels, analytics, statements, regulatory retention and recovery.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287000" y="5349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244867"/>
                </a:solidFill>
              </a:rPr>
              <a:t>47</a:t>
            </a:r>
            <a:endParaRPr lang="en-US" sz="38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Banking workload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Different banking functions generate very different I/O, data types, recovery objectives and retention requirements.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 banking architecture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14630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Core banking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Structured / block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Low-latency random I/O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371600"/>
            <a:ext cx="64008" cy="146304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Payments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187452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Structured / block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High transaction concurrency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3880" y="13716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371600"/>
            <a:ext cx="64008" cy="146304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499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A5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Digital banking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187452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Mixed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Scale + session + content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46120"/>
            <a:ext cx="64008" cy="14630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Statements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74904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File / object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Large sequential / retrieval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32461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24612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3776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Analytics / AML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374904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Object + analytics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Throughput + scale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83880" y="32461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246120"/>
            <a:ext cx="64008" cy="14630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778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Archive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3749040"/>
            <a:ext cx="31546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Object / tape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Retention + low access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" y="52578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440"/>
                </a:solidFill>
              </a:rPr>
              <a:t>Banking storage design is a portfolio of workload patterns—not one universal storage platform.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1: Core banking / transaction database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The storage path must sustain random I/O, predictable latency, concurrency and recoverability.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7335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CHANNEL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3911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ATM / branch / mobile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67335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APP 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07792" y="20391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1508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67335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20391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Core ledger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508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67335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BLOCK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62672" y="20391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SAN / cloud disk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966960" y="150876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1673352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4343"/>
                </a:solidFill>
              </a:rPr>
              <a:t>PROTECT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40112" y="203911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Snapshot / backup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847088"/>
            <a:ext cx="36576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63440" y="1847088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1847088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18320" y="1847088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" y="28803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2880360"/>
            <a:ext cx="64008" cy="14173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80160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Storage priorities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3383280"/>
            <a:ext cx="29260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Low latency • high IOPS • multipathing • consistent recovery.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89120" y="28803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2880360"/>
            <a:ext cx="64008" cy="14173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P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983480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Protection priorities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3383280"/>
            <a:ext cx="29260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Point-in-time recovery + independent backup copy + site recovery.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92440" y="288036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2880360"/>
            <a:ext cx="64008" cy="14173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7032" y="30083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O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686800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Operational priorities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75320" y="3383280"/>
            <a:ext cx="29260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Monitoring, capacity, performance baselines, alerting and change control.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2: ATM and payment 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The architecture emphasizes availability and predictable transaction response.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2763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ATM / POS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4630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D143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62763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4343"/>
                </a:solidFill>
              </a:rPr>
              <a:t>Payment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62763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Transaction service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15400" y="14630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88552" y="162763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Database / block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1810512"/>
            <a:ext cx="640080" cy="0"/>
          </a:xfrm>
          <a:prstGeom prst="line">
            <a:avLst/>
          </a:prstGeom>
          <a:noFill/>
          <a:ln w="254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0" y="1810512"/>
            <a:ext cx="640080" cy="0"/>
          </a:xfrm>
          <a:prstGeom prst="line">
            <a:avLst/>
          </a:prstGeom>
          <a:noFill/>
          <a:ln w="254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1810512"/>
            <a:ext cx="640080" cy="0"/>
          </a:xfrm>
          <a:prstGeom prst="line">
            <a:avLst/>
          </a:prstGeom>
          <a:noFill/>
          <a:ln w="254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" y="2743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743200"/>
            <a:ext cx="64008" cy="137160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!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What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2880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Availability, latency, transaction integrity and controlled failover.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16552" y="2743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274320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B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10912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Why SAN / block can fit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246120"/>
            <a:ext cx="2880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Database and VM workloads often need disk-like block semantics and predictable I/O.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2743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2743200"/>
            <a:ext cx="64008" cy="13716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P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536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83880" y="3246120"/>
            <a:ext cx="28803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Synchronous/local copies for near-term recovery plus independent backup for logical recovery.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3: Statements, scans and digital content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File and object storage become more attractive when data is accessed as documents or large content items.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819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476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PDF / scan / image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5819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FILE SHARE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9272" y="19476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NAS / Azure Files / EFS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15819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OBJECT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33872" y="19476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S3 / Blob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5819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ARCHIVE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94767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Cold tier / tape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1755648"/>
            <a:ext cx="50292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1755648"/>
            <a:ext cx="50292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1755648"/>
            <a:ext cx="50292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27889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788920"/>
            <a:ext cx="64008" cy="13716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File fit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291840"/>
            <a:ext cx="2788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Shared access, folders, permissions, application compatibility.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27889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2788920"/>
            <a:ext cx="64008" cy="13716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12064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Object fit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3291840"/>
            <a:ext cx="2788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Massive scale, API-driven access, metadata and lifecycle tiers.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278892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278892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29169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77824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Archive fit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3291840"/>
            <a:ext cx="2788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Rare access, long retention, cost and offline copies.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4: Analytics, fraud and AML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Analytics changes the storage problem: huge datasets, high throughput, diverse formats and often less predictable access.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EVENTS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Payments / logs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OBJECT 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9067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Data lake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Spark / 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14173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54112" y="19476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Fraud / AML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12680" y="14173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158191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A5"/>
                </a:solidFill>
              </a:rPr>
              <a:t>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85832" y="19476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Output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1755648"/>
            <a:ext cx="438912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1755648"/>
            <a:ext cx="438912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1755648"/>
            <a:ext cx="438912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1755648"/>
            <a:ext cx="438912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274320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743200"/>
            <a:ext cx="64008" cy="155448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Data characteristics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3246120"/>
            <a:ext cx="28346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Structured + unstructured + semi-structured; high volume and long history.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80560" y="274320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274320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O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7492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Storage characteristics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63440" y="3246120"/>
            <a:ext cx="28346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Object storage / data lake patterns favor scalable capacity and throughput.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274320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2743200"/>
            <a:ext cx="64008" cy="155448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131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P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64108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0" y="3246120"/>
            <a:ext cx="28346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Versioning, immutable copies, backups and controlled retention remain important.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440"/>
          </a:solidFill>
          <a:ln w="12700">
            <a:solidFill>
              <a:srgbClr val="0C24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8D8D4"/>
                </a:solidFill>
              </a:rPr>
              <a:t>MODULE 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14173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Snapshots, Backups &amp; Replication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658368" y="28803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4F0"/>
                </a:solidFill>
              </a:rPr>
              <a:t>These are complementary controls. The key learning objective is to understand what failure each one is designed to address.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0287000" y="5349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244867"/>
                </a:solidFill>
              </a:rPr>
              <a:t>52</a:t>
            </a:r>
            <a:endParaRPr lang="en-US" sz="38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Snapshot: point-in-time state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snapshot captures a point-in-time view of data, usually within the same storage platform or service.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Reference: intelligent storage + AWS EBS snapshot concept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1762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Volume / dataset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645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8105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SNAPSHOT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30752" y="21762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PIT copy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8105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RECOVERY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5392" y="21762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Rollback / clone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26880" y="16459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0032" y="18105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NEW WORKLOAD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00032" y="217627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Test / restore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2011680"/>
            <a:ext cx="914400" cy="0"/>
          </a:xfrm>
          <a:prstGeom prst="line">
            <a:avLst/>
          </a:prstGeom>
          <a:noFill/>
          <a:ln w="254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2011680"/>
            <a:ext cx="914400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011680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06324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063240"/>
            <a:ext cx="64008" cy="14173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191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Strength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28346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Fast point-in-time rollback / clone use cases within the platform.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306324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063240"/>
            <a:ext cx="64008" cy="14173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191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!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749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Limitation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3566160"/>
            <a:ext cx="28346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A snapshot is not automatically an independent copy in a separate failure domain.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306324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063240"/>
            <a:ext cx="64008" cy="14173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191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DB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732520" y="3200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Banking example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3566160"/>
            <a:ext cx="28346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Recover a database volume to a recent known state before full restore from backup.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Backup: independent recoverability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Backup creates recoverable copies that can survive failures beyond the primary storage system.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Reference: Backup decks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AA6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Select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Policy / scope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93392" y="2103120"/>
            <a:ext cx="274320" cy="0"/>
          </a:xfrm>
          <a:prstGeom prst="line">
            <a:avLst/>
          </a:prstGeom>
          <a:noFill/>
          <a:ln w="1524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5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Read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Source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67912" y="2103120"/>
            <a:ext cx="274320" cy="0"/>
          </a:xfrm>
          <a:prstGeom prst="line">
            <a:avLst/>
          </a:prstGeom>
          <a:noFill/>
          <a:ln w="1524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0624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Write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Backup target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42432" y="2103120"/>
            <a:ext cx="274320" cy="0"/>
          </a:xfrm>
          <a:prstGeom prst="line">
            <a:avLst/>
          </a:prstGeom>
          <a:noFill/>
          <a:ln w="1524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5BD0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Catalog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Metadata / index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16952" y="2103120"/>
            <a:ext cx="274320" cy="0"/>
          </a:xfrm>
          <a:prstGeom prst="line">
            <a:avLst/>
          </a:prstGeom>
          <a:noFill/>
          <a:ln w="1524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528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8754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6676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Retain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9244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Policy / lock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91472" y="2103120"/>
            <a:ext cx="274320" cy="0"/>
          </a:xfrm>
          <a:prstGeom prst="line">
            <a:avLst/>
          </a:prstGeom>
          <a:noFill/>
          <a:ln w="1524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29800" y="1508760"/>
            <a:ext cx="15361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143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9528" y="16642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14343"/>
                </a:solidFill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241280" y="1645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Restore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66960" y="21488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274"/>
                </a:solidFill>
              </a:rPr>
              <a:t>Required point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246120"/>
            <a:ext cx="64008" cy="14173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P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3258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Backup protects against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4400" y="3749040"/>
            <a:ext cx="29718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Accidental deletion • corruption • ransomware • storage failure • operational error • site loss (when copies are separate).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407408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246120"/>
            <a:ext cx="64008" cy="14173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R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001768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Policy dimensions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90288" y="3749040"/>
            <a:ext cx="29718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RPO • retention • backup window • media • encryption • immutability.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83296" y="32461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83296" y="32461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↻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8677656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Restore is the real test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66176" y="3749040"/>
            <a:ext cx="29718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A backup that cannot be restored within the business requirement is not an operational success.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Replication: maintain another copy at another location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Replication moves or maintains data at a secondary site / system to support continuity and recovery.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Source: Storage-Module1; replication concepts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190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0848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Production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7190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REPLICA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30752" y="20848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Secondary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71907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DR 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48272" y="208483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Distance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92640" y="15544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5792" y="171907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FAILOVER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65792" y="208483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Business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1911096"/>
            <a:ext cx="1005840" cy="0"/>
          </a:xfrm>
          <a:prstGeom prst="line">
            <a:avLst/>
          </a:prstGeom>
          <a:noFill/>
          <a:ln w="254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23560" y="1911096"/>
            <a:ext cx="10058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1911096"/>
            <a:ext cx="1005840" cy="0"/>
          </a:xfrm>
          <a:prstGeom prst="line">
            <a:avLst/>
          </a:prstGeom>
          <a:noFill/>
          <a:ln w="254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2926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926080"/>
            <a:ext cx="64008" cy="150876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SYNC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Synchronous / near-zero RPO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429000"/>
            <a:ext cx="28803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Suitable when the business requires minimal data loss and network/storage conditions permit.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15968" y="2926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292608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ASYNC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10328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Asynchronous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98848" y="3429000"/>
            <a:ext cx="28803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Allows longer distance and decoupled timing, with an RPO reflecting replication lag.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900416" y="2926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2926080"/>
            <a:ext cx="64008" cy="150876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DR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94776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Different failure domain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83296" y="3429000"/>
            <a:ext cx="28803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26274"/>
                </a:solidFill>
              </a:rPr>
              <a:t>Replication is strongest when the secondary copy is protected from the same outage.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vs backup vs replication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Use the right tool for the right failure mode.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Synthesis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048256" cy="530352"/>
          </a:xfrm>
          <a:prstGeom prst="rect">
            <a:avLst/>
          </a:prstGeom>
          <a:solidFill>
            <a:srgbClr val="0C244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Control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715768" y="1325880"/>
            <a:ext cx="2048256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5AA6"/>
                </a:solidFill>
              </a:rPr>
              <a:t>Primary purpose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928616" y="1325880"/>
            <a:ext cx="2048256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5AA6"/>
                </a:solidFill>
              </a:rPr>
              <a:t>Typical location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141464" y="1325880"/>
            <a:ext cx="2048256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5AA6"/>
                </a:solidFill>
              </a:rPr>
              <a:t>Fast rollback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354312" y="1325880"/>
            <a:ext cx="2048256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5AA6"/>
                </a:solidFill>
              </a:rPr>
              <a:t>Site failure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1567160" y="1325880"/>
            <a:ext cx="2048256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31168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5AA6"/>
                </a:solidFill>
              </a:rPr>
              <a:t>Logical corruption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02920" y="1856232"/>
            <a:ext cx="2048256" cy="603504"/>
          </a:xfrm>
          <a:prstGeom prst="rect">
            <a:avLst/>
          </a:prstGeom>
          <a:solidFill>
            <a:srgbClr val="EEE9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033"/>
                </a:solidFill>
              </a:rPr>
              <a:t>Snapshot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2715768" y="1856232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Point-in-time copy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928616" y="1856232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Often same platform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141464" y="1856232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Excellent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9354312" y="1856232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Usually not by itself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11567160" y="1856232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31168" y="20482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Limited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02920" y="2569464"/>
            <a:ext cx="2048256" cy="603504"/>
          </a:xfrm>
          <a:prstGeom prst="rect">
            <a:avLst/>
          </a:prstGeom>
          <a:solidFill>
            <a:srgbClr val="EAF2FB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033"/>
                </a:solidFill>
              </a:rPr>
              <a:t>Backup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2715768" y="2569464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Independent recovery copy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928616" y="2569464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Separate target / location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7141464" y="2569464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Good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9354312" y="2569464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0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Yes, when separated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11567160" y="2569464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31168" y="2761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Yes, if copy is clean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502920" y="3282696"/>
            <a:ext cx="2048256" cy="603504"/>
          </a:xfrm>
          <a:prstGeom prst="rect">
            <a:avLst/>
          </a:prstGeom>
          <a:solidFill>
            <a:srgbClr val="DDF2F0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72033"/>
                </a:solidFill>
              </a:rPr>
              <a:t>Replication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2715768" y="3282696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79776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Continuity at secondary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4928616" y="3282696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Another system / site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7141464" y="3282696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Good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9354312" y="3282696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Yes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11567160" y="3282696"/>
            <a:ext cx="20482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631168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526274"/>
                </a:solidFill>
              </a:rPr>
              <a:t>Not necessarily—bad writes can replicate too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64008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2440"/>
                </a:solidFill>
              </a:rPr>
              <a:t>Memory hook: SNAPSHOT = fast PIT • BACKUP = independent recoverability • REPLICATION = continuity copy</a:t>
            </a:r>
            <a:endParaRPr lang="en-US" sz="18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Banking protection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resilient design layers controls instead of relying on one mechanism.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Illustrative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36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</a:rPr>
              <a:t>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DB / file / object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0360" y="13716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536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</a:rPr>
              <a:t>SNAPSHOT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19019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Fast PIT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536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BACKUP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93792" y="19019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Independent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60920" y="13716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143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1536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14343"/>
                </a:solidFill>
              </a:rPr>
              <a:t>REPLICA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4072" y="19019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Secondary site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0" y="13716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153619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</a:rPr>
              <a:t>ARCHIVE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74352" y="19019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26274"/>
                </a:solidFill>
              </a:rPr>
              <a:t>Retention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700784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1700784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1700784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1700784"/>
            <a:ext cx="4572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" y="27432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2743200"/>
            <a:ext cx="64008" cy="14173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716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Minutes → hours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3246120"/>
            <a:ext cx="27889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Snapshots provide quick rollback / clone paths.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27432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274320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H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89204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Hours → days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80560" y="3246120"/>
            <a:ext cx="27889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Backup restores address logical / operational failure.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818120" y="27432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2743200"/>
            <a:ext cx="64008" cy="1417320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28712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14343"/>
                </a:solidFill>
              </a:rPr>
              <a:t>DR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124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Site outage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01000" y="3246120"/>
            <a:ext cx="27889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Replication supports continuity at a secondary environment.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Scenario: design storage for a new digital banking platform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Work in small groups. You have 10 minutes to sketch the storage architecture.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Group activity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6576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0160"/>
            <a:ext cx="64008" cy="3429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08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CASE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329184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Online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Customer document upload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Mobile statement generation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Fraud analytics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7-year retention for selected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Primary DC + DR site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• Recovery must be testable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28016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280160"/>
            <a:ext cx="64008" cy="342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408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1–7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Your choices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288036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1. Block / file / object?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2. RAID level?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3. DAS / NAS / SAN?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4. Snapshot frequency?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5. Backup target?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6. Replication mode?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7. What will you monitor?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280160"/>
            <a:ext cx="64008" cy="34290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408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8754"/>
                </a:solidFill>
              </a:rPr>
              <a:t>DISCUSS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Expected discussion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1783080"/>
            <a:ext cx="297180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274"/>
                </a:solidFill>
              </a:rPr>
              <a:t>There may be more than one viable architecture. Defend each choice against workload, availability, recovery and operational constraints.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#2 – rapid-fire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Use the answer key verbally after learners attempt the questions.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Interactive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356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52728" y="13807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a filesystem shared by many servers?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52728" y="1847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NAS / file 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3716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4356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67728" y="13807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a disk-like volume for a database?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67728" y="1847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Block / SAN / cloud block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6060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432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072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52728" y="27523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massive unstructured image archive?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52728" y="32186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Object storage is a common 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7432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8072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67728" y="27523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fast rollback on same storage?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67728" y="32186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Snapshot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9776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1148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1788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52728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independent recovery copy?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52728" y="45902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Backup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977640"/>
            <a:ext cx="53492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114800"/>
            <a:ext cx="384048" cy="310896"/>
          </a:xfrm>
          <a:prstGeom prst="roundRect">
            <a:avLst>
              <a:gd name="adj" fmla="val 26471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41788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4123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Need DR copy at another site?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67728" y="45902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274"/>
                </a:solidFill>
              </a:rPr>
              <a:t>Replication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The most useful skill from Day 1 is not memorizing acronyms—it is matching storage behavior to application needs.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End-of-day recap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17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5AA6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Workload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71907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Latency, IOPS, throughput and access model drive design.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417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RAID is inside the array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171907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It handles specific media failures; it does not replace backup.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34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5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Architecture defines access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80160" y="31363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DAS = direct • NAS = file • SAN = block network.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63640" y="265176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834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5BD0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Cloud uses the same models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03720" y="31363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EBS / Managed Disks = block; EFS / Azure Files = file; S3 / Blob = object.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51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4343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Protection is layered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80160" y="455371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Snapshots, backup and replication address different recovery goals.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251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8754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206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Banking is multi-workload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03720" y="455371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274"/>
                </a:solidFill>
              </a:rPr>
              <a:t>Core transactions, content, analytics and archives can need different tiers.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terminology cheat sheet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A one-screen reference for classroom discussion and later Days.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Student reference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64008" cy="65836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IOPS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Operations / second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5112" y="11887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188720"/>
            <a:ext cx="64008" cy="65836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Latency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7992" y="169164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Time to complete I/O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47304" y="11887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18872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Throughput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169164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Data per second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205740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057400"/>
            <a:ext cx="64008" cy="65836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RAID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256032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Multiple disks as logical set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325112" y="205740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2057400"/>
            <a:ext cx="64008" cy="658368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LUN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07992" y="256032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Logical block device presented to host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147304" y="205740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2057400"/>
            <a:ext cx="64008" cy="65836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WWN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30184" y="256032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Fibre Channel identity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2920" y="292608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926080"/>
            <a:ext cx="64008" cy="65836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342900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Block storage network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325112" y="292608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112" y="2926080"/>
            <a:ext cx="64008" cy="65836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NAS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07992" y="342900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File storage over network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147304" y="292608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29260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Snapshot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30184" y="342900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Point-in-time copy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37947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794760"/>
            <a:ext cx="64008" cy="65836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RPO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" y="429768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Maximum acceptable data-loss window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4325112" y="37947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25112" y="3794760"/>
            <a:ext cx="64008" cy="658368"/>
          </a:xfrm>
          <a:prstGeom prst="rect">
            <a:avLst/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7992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RTO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07992" y="429768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Target recovery time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147304" y="37947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47304" y="3794760"/>
            <a:ext cx="64008" cy="65836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0184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Replication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330184" y="4297680"/>
            <a:ext cx="3200400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26274"/>
                </a:solidFill>
              </a:rPr>
              <a:t>Maintained secondary copy</a:t>
            </a:r>
            <a:endParaRPr lang="en-US" sz="108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mapping for this Day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Where the Day 1 content came from and which areas were supplemented.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Reference transparency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64008" cy="438912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624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AA6"/>
                </a:solidFill>
              </a:rPr>
              <a:t>SRC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Primary uploaded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498348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1.Introduction_to_information_Storage.pptx – data, storage evolution, data center, virtualization/cloud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2.Intelligent_Storage_System.pptx – storage components, cache, provisioning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3.Raid.pptx – RAID techniques, levels, comparisons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4.Network_Attached_Storage.pptx – NAS components, protocols, I/O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Backup.pptx / 5.Backup.pptx – backup concepts, methods and architecture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Introduction to Storage &amp; Backup_ITC.pptx – SAN components, protocols, zoning, cloud and broader curriculum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526274"/>
                </a:solidFill>
              </a:rPr>
              <a:t>• Storage-Module1.pptx – DAS/NAS/SAN, iSCSI, fabric, zoning, RAID, replication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199632" y="123444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234440"/>
            <a:ext cx="64008" cy="438912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3624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D5BD0"/>
                </a:solidFill>
              </a:rPr>
              <a:t>WEB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93992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External/current context added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507492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26274"/>
                </a:solidFill>
              </a:rPr>
              <a:t>• AWS official documentation – Amazon EBS, EFS and S3 storage models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274"/>
                </a:solidFill>
              </a:rPr>
              <a:t>• Microsoft Learn – Azure Managed Disks, Azure Files and Blob Storage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274"/>
                </a:solidFill>
              </a:rPr>
              <a:t>• Current cloud naming and service positioning used only to modernize examples; the conceptual foundations remain anchored to the uploaded training material.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C24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references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274"/>
                </a:solidFill>
              </a:rPr>
              <a:t>Current documentation links used for the modern cloud-storage examples in this student deck.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0" y="647395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D8B9B"/>
                </a:solidFill>
              </a:rPr>
              <a:t>Verify vendor documentation before production implementation.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AWS EBS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14300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https://docs.aws.amazon.com/ebs/latest/userguide/what-is-ebs.html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AWS EFS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0" y="17647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https://docs.aws.amazon.com/efs/latest/ug/whatisefs.html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865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AWS S3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0" y="238658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https://docs.aws.amazon.com/s3/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083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Azure Managed Disks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3008376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https://learn.microsoft.com/en-us/azure/virtual-machines/managed-disks-overview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Azure Files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3630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https://learn.microsoft.com/en-us/azure/storage/files/storage-files-introduction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Azure Blob Storage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425196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https://learn.microsoft.com/en-us/azure/storage/blobs/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737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Azure Storage Architecture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48737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5AA6"/>
                </a:solidFill>
              </a:rPr>
              <a:t>https://learn.microsoft.com/en-us/azure/architecture/storage/storage-get-started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56692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898"/>
                </a:solidFill>
              </a:rPr>
              <a:t>Vendor-specific product references shown in the diagrams are examples, not endorsements.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COMPLETE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58952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BFD4E5"/>
                </a:solidFill>
              </a:rPr>
              <a:t>Storage fundamentals → architectures → protection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8096" y="2880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8F4"/>
                </a:solidFill>
              </a:rPr>
              <a:t>Next: deeper administration, fabric operations, provisioning and storage management.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0C2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30682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440"/>
                </a:solidFill>
              </a:rPr>
              <a:t>AWS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45171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vendor example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514600" y="42062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430682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Azure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87752" y="45171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vendor example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0" y="42062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D143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430682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4343"/>
                </a:solidFill>
              </a:rPr>
              <a:t>Brocade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9392" y="45171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fabric example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897880" y="42062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430682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</a:rPr>
              <a:t>Dell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1032" y="45171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storage example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589520" y="42062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430682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NetApp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62672" y="45171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B8898"/>
                </a:solidFill>
              </a:rPr>
              <a:t>storage example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86384" y="5897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8BE"/>
                </a:solidFill>
              </a:rPr>
              <a:t>Student Presentation • RPS / ICICI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5843</Words>
  <Application>Microsoft Office PowerPoint</Application>
  <PresentationFormat>Widescreen</PresentationFormat>
  <Paragraphs>1417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RPS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RPS ICICI – Day 1: Storage Fundamentals &amp; Architectures</dc:title>
  <dc:subject>Day 1: Storage Fundamentals &amp; Architectures</dc:subject>
  <dc:creator>RPS / ICICI Training</dc:creator>
  <cp:lastModifiedBy>Sachin Prabhugaonkar</cp:lastModifiedBy>
  <cp:revision>14</cp:revision>
  <dcterms:created xsi:type="dcterms:W3CDTF">2026-09-16T07:21:50Z</dcterms:created>
  <dcterms:modified xsi:type="dcterms:W3CDTF">2026-10-03T01:05:29Z</dcterms:modified>
</cp:coreProperties>
</file>