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564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1F4F8"/>
          </a:solidFill>
          <a:ln w="12700">
            <a:solidFill>
              <a:srgbClr val="F1F4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75120"/>
            <a:ext cx="4114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storageprabhu99@gmail.com • Storage Training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75120"/>
            <a:ext cx="548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658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</a:rPr>
              <a:t>StoragePrabhu99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13232" y="1353312"/>
            <a:ext cx="7498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SAN, Fibre Channel,</a:t>
            </a:r>
            <a:endParaRPr lang="en-US" sz="3100" dirty="0"/>
          </a:p>
          <a:p>
            <a:pPr marL="0" indent="0" algn="l">
              <a:buNone/>
            </a:pPr>
            <a:r>
              <a:rPr lang="en-US" sz="3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Storage Provisioning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49808" y="26974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• STUDENT PRESENTATION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49808" y="32461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SAN building blocks and protocols to zoning, LUN presentation, thin provisioning and multipathing.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617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6360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BASICS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4617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6360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+ iSCSI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0" y="4617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46360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4617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46360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55280" y="4617720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463600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482328" y="818388"/>
            <a:ext cx="2743200" cy="406908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495044"/>
            <a:ext cx="96012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0" y="16824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44000" y="2011680"/>
            <a:ext cx="777240" cy="3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0310790" y="1380745"/>
            <a:ext cx="9601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0" y="15544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0" y="1883664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switch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149840" y="2514600"/>
            <a:ext cx="9601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0" y="262432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0" y="2953512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switch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9596628" y="3739896"/>
            <a:ext cx="205740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0" y="390448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144000" y="42336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• LUN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040112" y="1856232"/>
            <a:ext cx="914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625328" y="2267712"/>
            <a:ext cx="0" cy="246888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40112" y="2788920"/>
            <a:ext cx="9144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625328" y="3337560"/>
            <a:ext cx="0" cy="45720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822960" y="5596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HOURS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55961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• Protocols • Provisioning • Resilience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Reference-led • vendor-aware • architecture focused</a:t>
            </a:r>
            <a:endParaRPr lang="en-US" sz="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Day 2, learners should be able to follow a block-I/O path from host to storage and explain how access is controlled.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58191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00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353312" y="1545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SAN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Hosts, HBAs, fabric, storage and the I/O path.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20440" y="141732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85032" y="158191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5032" y="1600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42232" y="1545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protocols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85032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SCSI, FCP/FC and iSCSI — what each layer does.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41732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58191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00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31152" y="1545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zoning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73952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WWNN/WWPN, soft vs hard, zones and zone sets.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98280" y="1417320"/>
            <a:ext cx="2377440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62872" y="1581912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62872" y="16002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720072" y="15453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 safely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62872" y="201168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masking/mapping, thin/thick, MPIO and redundancy.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79476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81304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 lens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057400" y="3794760"/>
            <a:ext cx="8961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a server needs storage, ask: who is the initiator, what is the target, which paths are permitted, and how is the LUN presented?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foundation: ITC Storage &amp; Backup; Storage-Module1</a:t>
            </a:r>
            <a:endParaRPr lang="en-US" sz="7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roadmap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Two-session flow with architecture diagrams, protocol walkthroughs, provisioning logic and troubleshooting checkpoints.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13232" y="138988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40817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foundations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0" y="1371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25880" y="1828800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5740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07568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203911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• FC • iSCSI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0" y="2039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25880" y="2496312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2724912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743200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70662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WWNs + zoning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0" y="270662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 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325880" y="3163824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392424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410712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337413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Topologies + fabrics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15200" y="337413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325880" y="3831336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4059936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078224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25880" y="4041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LUNs + provisioning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315200" y="4041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 min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325880" y="4498848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4727448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4745736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2588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+ switch intro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31520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 min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325880" y="5166360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" y="5394960"/>
            <a:ext cx="43891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" y="5413248"/>
            <a:ext cx="4389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25880" y="5376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lab + recap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315200" y="537667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min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325880" y="5833872"/>
            <a:ext cx="7498080" cy="0"/>
          </a:xfrm>
          <a:prstGeom prst="line">
            <a:avLst/>
          </a:prstGeom>
          <a:noFill/>
          <a:ln w="12700">
            <a:solidFill>
              <a:srgbClr val="DDE5E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moments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961120" y="1847088"/>
            <a:ext cx="219456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a dual-fabric SAN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WWNN vs WWPN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simple zone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 a LUN to the host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 one path and explain MPIO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plan for an 8-hour learning day</a:t>
            </a:r>
            <a:endParaRPr lang="en-US" sz="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713232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457200"/>
            <a:ext cx="7132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389888" y="393192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basics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389888" y="83210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dedicated storage network that connects hosts to shared storage over block protocols.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267712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• VM • File service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71800" y="1828800"/>
            <a:ext cx="18288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/ 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63240" y="2267712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I/O stack • HBA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1508760"/>
            <a:ext cx="219456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6184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FABRIC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947672"/>
            <a:ext cx="20116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switches • zoning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726680" y="1508760"/>
            <a:ext cx="2377440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18120" y="16184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ARRAY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818120" y="1947672"/>
            <a:ext cx="2194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 • cache • RAID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0469880" y="1828800"/>
            <a:ext cx="10058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61320" y="1938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561320" y="2267712"/>
            <a:ext cx="8229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device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606040" y="2176272"/>
            <a:ext cx="33832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800600" y="2176272"/>
            <a:ext cx="33832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406640" y="2176272"/>
            <a:ext cx="2926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31552" y="2176272"/>
            <a:ext cx="310896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14400" y="379476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separates storage traffic from the general LAN and gives multiple hosts controlled access to shared block storage.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SAN components and layered architecture</a:t>
            </a:r>
            <a:endParaRPr lang="en-US" sz="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building blocks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logical layers are enough to understand most enterprise SAN diagrams.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49808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6304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429000" y="139903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Servers, OS, HBA/CNA, multipath software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63040" y="1984248"/>
            <a:ext cx="86868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532888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551176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63040" y="25146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29000" y="25146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switches/directors, ports, ISLs, zoning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63040" y="3099816"/>
            <a:ext cx="86868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9808" y="3648456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666744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36301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29000" y="363016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Controllers, front-end ports, pools, RAID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463040" y="4215384"/>
            <a:ext cx="86868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764024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782312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63040" y="4745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429000" y="474573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Switch/storage tools, monitoring, provisioning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463040" y="5330952"/>
            <a:ext cx="868680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Storage-Module1; ITC SAN Components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side: HBA, ports and multipath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host converts application I/O into storage protocol traffic.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82880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27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56232"/>
            <a:ext cx="1645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/ VM / 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971800" y="1417320"/>
            <a:ext cx="19659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63240" y="152704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STORAGE STACK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063240" y="1856232"/>
            <a:ext cx="17830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commands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394960" y="1417320"/>
            <a:ext cx="16459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527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 / NIC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1856232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or iSCSI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452360" y="1417320"/>
            <a:ext cx="16459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43800" y="1527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1856232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switch / IP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555480" y="1417320"/>
            <a:ext cx="16459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46920" y="1527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46920" y="1856232"/>
            <a:ext cx="1463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front end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51760" y="1728216"/>
            <a:ext cx="29260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47488" y="1728216"/>
            <a:ext cx="29260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287768" y="1728216"/>
            <a:ext cx="2926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90888" y="1728216"/>
            <a:ext cx="292608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2743200"/>
            <a:ext cx="457200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4300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Host-side identifiers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3401568"/>
            <a:ext cx="3931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WWNN — identifies the FC node/device.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 — identifies a specific FC port.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 — uses initiator IQN instead of FC WWNs.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806440" y="2743200"/>
            <a:ext cx="5166360" cy="2057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971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035040" y="34015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independent host paths should reach redundant fabric components and storage target ports.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HBA/CNA, WWN, multipath</a:t>
            </a:r>
            <a:endParaRPr lang="en-US" sz="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side: target ports, controllers and LUNs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array exposes logical block devices through front-end target ports.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 A1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68680" y="3063240"/>
            <a:ext cx="13716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7296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502152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 B1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71800" y="1783080"/>
            <a:ext cx="2011680" cy="178308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8928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FABRIC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63240" y="2221992"/>
            <a:ext cx="182880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server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715000" y="1417320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15270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06440" y="185623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ports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715000" y="2743200"/>
            <a:ext cx="15087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28529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CTRL 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06440" y="3182112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58200" y="141732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49640" y="15270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49640" y="185623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458200" y="2743200"/>
            <a:ext cx="13258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49640" y="285292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20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49640" y="3182112"/>
            <a:ext cx="11430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VMFS / CSV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40280" y="1965960"/>
            <a:ext cx="704088" cy="36576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240280" y="3383280"/>
            <a:ext cx="70408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001768" y="2331720"/>
            <a:ext cx="649224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01768" y="2971800"/>
            <a:ext cx="649224" cy="100584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69480" y="1755648"/>
            <a:ext cx="1115568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69480" y="3072384"/>
            <a:ext cx="1115568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914400" y="489204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ports are network-facing storage interfaces; LUNs are logical block devices presented to hosts.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storage controllers, ports and LUN presentation</a:t>
            </a:r>
            <a:endParaRPr lang="en-US" sz="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an I/O path?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“path” is the end-to-end route between a host and a storage LUN.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HBA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0" y="19202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9202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0" y="192024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94560" y="2267712"/>
            <a:ext cx="50292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206240" y="2267712"/>
            <a:ext cx="585216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309360" y="2267712"/>
            <a:ext cx="585216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10896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1272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057400" y="30906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any component fails, the host may lose access unless another path exists.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178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HBA 2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0" y="406908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4178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406908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4178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4407408"/>
            <a:ext cx="50292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206240" y="4407408"/>
            <a:ext cx="585216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9360" y="4407408"/>
            <a:ext cx="585216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68680" y="5166360"/>
            <a:ext cx="91440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18464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057400" y="51480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combines or selects multiple physical paths as one logical disk access path.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Microsoft MPIO guidance + ITC redundant SAN diagrams</a:t>
            </a:r>
            <a:endParaRPr lang="en-US" sz="7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traffic types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SANs can carry more than server-to-storage I/O.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3154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73736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75564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→ Storage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application block I/O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80560" y="1508760"/>
            <a:ext cx="3154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73736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75564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→ Server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09160" y="2331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High-volume inter-server traffic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83880" y="1508760"/>
            <a:ext cx="31546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737360"/>
            <a:ext cx="269748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755648"/>
            <a:ext cx="2697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→ Storage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0" y="233172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Replication / backup without host intervention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ITC reference explicitly describes server-to-storage, server-to-server and storage-to-storage interactions in a SAN.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Storage &amp; Backup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vs LAN — keep the mental model clear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SAN is not “just another LAN”. Its architecture is designed around storage I/O, isolation and resilience.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46304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2704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0" y="1508760"/>
            <a:ext cx="365760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9152" y="1527048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508760"/>
            <a:ext cx="530352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16752" y="152704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205740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07568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workload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0" y="205740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9152" y="2075688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 I/O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0" y="205740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16752" y="207568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 IP traffic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22960" y="260604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262432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endpoints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0" y="260604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59152" y="2624328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 ↔ target port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43600" y="260604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16752" y="262432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 ↔ application endpoint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960" y="315468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6112" y="317296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0" y="315468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59152" y="3172968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FC/FCP, iSCSI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0" y="315468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16752" y="317296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TCP/IP applications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3703320"/>
            <a:ext cx="1463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" y="3721608"/>
            <a:ext cx="1316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focus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286000" y="3703320"/>
            <a:ext cx="3657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9152" y="3721608"/>
            <a:ext cx="35112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 latency, redundancy, storage isolation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0" y="3703320"/>
            <a:ext cx="53035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16752" y="3721608"/>
            <a:ext cx="51572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connectivity, service diversity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" y="4709160"/>
            <a:ext cx="6858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4727448"/>
            <a:ext cx="685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83080" y="4681728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“Where does my data path run?” → Then identify the protocol, fabric and access-control layer.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comparison; protocol details follow</a:t>
            </a:r>
            <a:endParaRPr lang="en-US" sz="7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SCSI: the command language for block I/O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defines commands and semantics used by hosts to request block storage operations.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03784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1560" y="173736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847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/ FILE SYSTEM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2029968"/>
            <a:ext cx="42976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657600" y="17373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COMMANDS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59552" y="2029968"/>
            <a:ext cx="42976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080760" y="1737360"/>
            <a:ext cx="16459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847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172200" y="2176272"/>
            <a:ext cx="1463040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or TCP/IP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799832" y="2029968"/>
            <a:ext cx="411480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275320" y="1737360"/>
            <a:ext cx="182880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/ LUN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1440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of SCSI commands: READ, WRITE, INQUIRY, TEST UNIT READY.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3840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SCSI is the storage command model; FC or iSCSI provide the transport path.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SCSI and FC protocol explanation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initiator and target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way to visualize SCSI relationships before adding a SAN fabric.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029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INITIATOR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591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/ HBA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920240"/>
            <a:ext cx="22860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029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COMMANDS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23591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/ WRITE / INQUIRY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858000" y="1920240"/>
            <a:ext cx="19202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02996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49440" y="235915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port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555480" y="1920240"/>
            <a:ext cx="12801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46920" y="202996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46920" y="235915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disk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926080" y="2377440"/>
            <a:ext cx="65836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2377440"/>
            <a:ext cx="7955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796528" y="2377440"/>
            <a:ext cx="685800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51560" y="38404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FC SANs, the host remains the initiator; the storage array exposes target ports and LUNs.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SCSI client/server model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Channel (FC) and FCP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Channel provides the storage network; FCP carries SCSI commands over FC.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05840" y="182880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2267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74720" y="2267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over FC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760720" y="1828800"/>
            <a:ext cx="20574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193852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CHANNEL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852160" y="2267712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Frames / fabric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49640" y="18288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4108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OPTICAL / SFP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41080" y="22677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link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651760" y="2194560"/>
            <a:ext cx="65836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029200" y="2194560"/>
            <a:ext cx="65836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82128" y="2194560"/>
            <a:ext cx="594360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00584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mental model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05840" y="3639312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= what the host asks for.  FC/FCP = how the request travels to storage.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FC/FCP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iSCSI: SCSI over TCP/IP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 encapsulates SCSI commands and data and carries them across an IP network.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68680" y="1645920"/>
            <a:ext cx="1508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60120" y="208483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32304" y="1956816"/>
            <a:ext cx="448056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645920"/>
            <a:ext cx="1508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63240" y="175564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63240" y="2084832"/>
            <a:ext cx="13258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Encapsulation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35424" y="1956816"/>
            <a:ext cx="448056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74920" y="1645920"/>
            <a:ext cx="132588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755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66360" y="2084832"/>
            <a:ext cx="11430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Reliable transport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73952" y="1956816"/>
            <a:ext cx="448056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022592" y="1645920"/>
            <a:ext cx="17373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75564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/ Ethernet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14032" y="20848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823960" y="1956816"/>
            <a:ext cx="448056" cy="0"/>
          </a:xfrm>
          <a:prstGeom prst="line">
            <a:avLst/>
          </a:prstGeom>
          <a:noFill/>
          <a:ln w="12700">
            <a:solidFill>
              <a:srgbClr val="0EA5A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372600" y="1645920"/>
            <a:ext cx="141732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7556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464040" y="2084832"/>
            <a:ext cx="1234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2971800"/>
            <a:ext cx="996696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246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organizations choose iSCSI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3657600"/>
            <a:ext cx="90525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familiar Ethernet/IP skills and infrastructure.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well when IP networking is the preferred transport.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Still provides block-level storage access to applications.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iSCSI fundamentals</a:t>
            </a:r>
            <a:endParaRPr lang="en-US" sz="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vs iSCSI — the decision is architectural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can provide block storage; the surrounding network, skills and resilience model differ.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463040" cy="5638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435608"/>
            <a:ext cx="13167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48840" y="1417320"/>
            <a:ext cx="4754880" cy="5638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21992" y="1435608"/>
            <a:ext cx="460857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Channel / FCP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03720" y="1417320"/>
            <a:ext cx="4663440" cy="56388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76872" y="1435608"/>
            <a:ext cx="45171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81200"/>
            <a:ext cx="14630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1999488"/>
            <a:ext cx="13167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1981200"/>
            <a:ext cx="475488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21992" y="1999488"/>
            <a:ext cx="460857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fabric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03720" y="1981200"/>
            <a:ext cx="46634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999488"/>
            <a:ext cx="45171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TCP/IP Ethernet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545080"/>
            <a:ext cx="14630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563368"/>
            <a:ext cx="13167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interface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148840" y="2545080"/>
            <a:ext cx="475488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21992" y="2563368"/>
            <a:ext cx="460857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HBA / CNA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2545080"/>
            <a:ext cx="46634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2563368"/>
            <a:ext cx="45171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 / iSCSI initiator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3108960"/>
            <a:ext cx="14630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127248"/>
            <a:ext cx="13167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148840" y="3108960"/>
            <a:ext cx="475488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21992" y="3127248"/>
            <a:ext cx="460857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zoning + array masking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3108960"/>
            <a:ext cx="46634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3127248"/>
            <a:ext cx="45171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IP/network controls + array masking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672840"/>
            <a:ext cx="14630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3691128"/>
            <a:ext cx="13167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design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148840" y="3672840"/>
            <a:ext cx="475488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21992" y="3691128"/>
            <a:ext cx="460857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storage fabric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3672840"/>
            <a:ext cx="46634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76872" y="3691128"/>
            <a:ext cx="45171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IP-based SAN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" y="4236720"/>
            <a:ext cx="14630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4255008"/>
            <a:ext cx="13167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emphasis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48840" y="4236720"/>
            <a:ext cx="475488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1992" y="4255008"/>
            <a:ext cx="460857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fabric skills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03720" y="4236720"/>
            <a:ext cx="4663440" cy="563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76872" y="4255008"/>
            <a:ext cx="4517136" cy="527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networking + storage skills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914400" y="5166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Neither protocol eliminates the need for redundancy, access control and correct LUN presentation.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protocol sections; current Microsoft MPIO supports FC and iSCSI</a:t>
            </a:r>
            <a:endParaRPr lang="en-US" sz="7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Protocol stack: FC vs iSCSI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logical storage request; different transport stack.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325880"/>
            <a:ext cx="43891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15544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SAN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196596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920240" y="2075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/ FS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828800" y="2624328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3282696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392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828800" y="3941064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2024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Channel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0" y="4599432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20240" y="4709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FC link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325880"/>
            <a:ext cx="43891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5544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 SAN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0" y="1965960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207568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/ FS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624328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273405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0" y="3282696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3924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941064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0507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TCP/IP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4599432"/>
            <a:ext cx="256032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47091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Ethernet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protocol architecture</a:t>
            </a:r>
            <a:endParaRPr lang="en-US" sz="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port roles you should recognize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diagrams become easier once ports are named by role.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4592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6420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31720" y="1645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Node-facing endpoint (host or storage)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6420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F_Port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818120" y="16459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port that connects an N_Port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9184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5204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5387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E_Port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331720" y="3520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Expansion port used for an ISL between switches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291840"/>
            <a:ext cx="512064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5204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538728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NL_Port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18120" y="35204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Loop-attached node port used with FC-AL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FC functional elements and SAN components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addressing: WWN is the identity layer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Names are globally unique identifiers used to identify FC nodes and ports.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05840" y="164592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NODE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208483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Node Name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0" y="114300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2527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1581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233172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441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77063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18288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92240" y="21762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 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2103120"/>
            <a:ext cx="70408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880360" y="2103120"/>
            <a:ext cx="704088" cy="59436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532120" y="1508760"/>
            <a:ext cx="795528" cy="45720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532120" y="2697480"/>
            <a:ext cx="79552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097280" y="374904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node can have multiple ports. Each port can have its own WWPN.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deck — WWN; terminology expanded for teaching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WWNN vs WWPN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the scope: node-level identity vs port-level identity.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828800" cy="762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1572768"/>
            <a:ext cx="16824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51760" y="1554480"/>
            <a:ext cx="2286000" cy="762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24912" y="1572768"/>
            <a:ext cx="21396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937760" y="1554480"/>
            <a:ext cx="2743200" cy="762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10912" y="1572768"/>
            <a:ext cx="25968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 analogy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554480"/>
            <a:ext cx="3474720" cy="762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572768"/>
            <a:ext cx="332841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commonly used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31648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6112" y="2334768"/>
            <a:ext cx="16824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51760" y="2316480"/>
            <a:ext cx="2286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24912" y="2334768"/>
            <a:ext cx="21396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node / device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37760" y="2316480"/>
            <a:ext cx="27432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10912" y="2334768"/>
            <a:ext cx="25968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Building address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2316480"/>
            <a:ext cx="347472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334768"/>
            <a:ext cx="332841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identity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22960" y="3078480"/>
            <a:ext cx="18288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096768"/>
            <a:ext cx="16824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651760" y="3078480"/>
            <a:ext cx="2286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24912" y="3096768"/>
            <a:ext cx="21396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port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37760" y="3078480"/>
            <a:ext cx="27432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0912" y="3096768"/>
            <a:ext cx="259689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Apartment / interface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80960" y="3078480"/>
            <a:ext cx="347472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3096768"/>
            <a:ext cx="3328416" cy="725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 and port-level identification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005840" y="4251960"/>
            <a:ext cx="98755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234440" y="4498848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234440" y="4517136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423160" y="441655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zoning, WWPN/pWWN-based identification is the practical port-level concept learners will see most often.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WWN content + Brocade zoning documentation</a:t>
            </a:r>
            <a:endParaRPr lang="en-US" sz="7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identity example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dual-port HBA creates two independent WWPNs from one FC node.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5087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3852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26771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WWNN: 10:00:...:01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88920" y="132588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435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 PORT 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80360" y="17647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WWPN: 50:00:...:A1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88920" y="2423160"/>
            <a:ext cx="182880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80360" y="25328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 PORT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80360" y="286207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WWPN: 50:00:...:B1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40680" y="132588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4356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32120" y="176479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A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40680" y="2423160"/>
            <a:ext cx="15544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32120" y="25328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532120" y="2862072"/>
            <a:ext cx="1371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726680" y="182880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1812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818120" y="226771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ports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59152" y="2167128"/>
            <a:ext cx="38404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359152" y="2167128"/>
            <a:ext cx="384048" cy="576072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45152" y="1664208"/>
            <a:ext cx="7498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45152" y="2743200"/>
            <a:ext cx="7498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59168" y="1664208"/>
            <a:ext cx="621792" cy="393192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59168" y="2743200"/>
            <a:ext cx="621792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14400" y="397764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 can be written around these port identities; MPIO can use the resulting independent paths.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identifiers — not real WWNs</a:t>
            </a:r>
            <a:endParaRPr lang="en-US" sz="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zoning exists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 limits which initiators and targets can discover and communicate with each other inside a fabric.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1848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19476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Initiator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77240" y="2788920"/>
            <a:ext cx="14173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28986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22783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Initiator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001000" y="150876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92440" y="1618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194767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001000" y="278892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2898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92440" y="322783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88920" y="1143000"/>
            <a:ext cx="41605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41648" y="13716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FABRIC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154680" y="199339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20116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19751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1 ↔ Storage 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6060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2624328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2587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2 ↔ Storage 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240280" y="1828800"/>
            <a:ext cx="502920" cy="32004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013448" y="2148840"/>
            <a:ext cx="960120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240280" y="3108960"/>
            <a:ext cx="50292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013448" y="2788920"/>
            <a:ext cx="960120" cy="32004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914400" y="429768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zoning, devices may have broader visibility than intended. Zoning creates the communication boundary.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zoning definition</a:t>
            </a:r>
            <a:endParaRPr lang="en-US" sz="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Zones, members and zone sets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configuration hierarchy is: members → zones → zone set / configuration.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63040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1554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WWPNs / Ports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395728" y="1618488"/>
            <a:ext cx="393192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880360" y="14630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80360" y="14813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913632" y="1618488"/>
            <a:ext cx="402336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407408" y="14630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07408" y="14813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40680" y="1618488"/>
            <a:ext cx="39319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925312" y="14630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25312" y="148132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SET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96912" y="1618488"/>
            <a:ext cx="402336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90688" y="14630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90688" y="14813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2331720"/>
            <a:ext cx="9829800" cy="214884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25603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2971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Z_DB01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80360" y="297180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Members: Host01-WWPN + ArrayA-Target1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43000" y="3520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set: PROD_FABRIC_A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46120" y="3520440"/>
            <a:ext cx="6126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Contains all required production zones; one active configuration governs the fabric.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zones and zone sets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vs hard zoning — traditional terminology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reference deck uses WWN zoning = soft zoning and port zoning = hard zoning. Modern platforms may use hardware-enforced WWN/pWWN zoning as well.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828800" cy="667512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344168"/>
            <a:ext cx="1682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14600" y="1325880"/>
            <a:ext cx="4480560" cy="667512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87752" y="1344168"/>
            <a:ext cx="43342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 zoning (WWN)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95160" y="1325880"/>
            <a:ext cx="4572000" cy="667512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68312" y="1344168"/>
            <a:ext cx="44256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zoning (port)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85800" y="1993392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011680"/>
            <a:ext cx="1682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14600" y="1993392"/>
            <a:ext cx="4480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2011680"/>
            <a:ext cx="43342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 based on WWN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95160" y="1993392"/>
            <a:ext cx="4572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2011680"/>
            <a:ext cx="44256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 based on switch 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" y="2660904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679192"/>
            <a:ext cx="1682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14600" y="2660904"/>
            <a:ext cx="4480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87752" y="2679192"/>
            <a:ext cx="43342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with the WWN/device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2660904"/>
            <a:ext cx="4572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679192"/>
            <a:ext cx="44256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Tied to the physical 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5800" y="3328416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" y="3346704"/>
            <a:ext cx="1682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effect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14600" y="3328416"/>
            <a:ext cx="4480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87752" y="3346704"/>
            <a:ext cx="43342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when device moves ports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3328416"/>
            <a:ext cx="4572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346704"/>
            <a:ext cx="44256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physical binding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85800" y="3995928"/>
            <a:ext cx="18288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014216"/>
            <a:ext cx="16824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terminology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14600" y="3995928"/>
            <a:ext cx="448056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587752" y="4014216"/>
            <a:ext cx="433425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WWN zoning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95160" y="3995928"/>
            <a:ext cx="4572000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4014216"/>
            <a:ext cx="4425696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 zoning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22960" y="5010912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029200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Nuance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737360" y="4974336"/>
            <a:ext cx="9052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equate “soft” with “unenforced”. Enforcement behavior depends on platform and zoning method; see current Brocade guidance.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zoning types; Brocade current design guide</a:t>
            </a:r>
            <a:endParaRPr lang="en-US" sz="7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practice: pWWN-based zoning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Brocade guidance recommends consistent identification methods and single-initiator zoning to reduce blast radius.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48920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zone shape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224028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350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INITIATOR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67919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WWPN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3320" y="2240280"/>
            <a:ext cx="155448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94760" y="23500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TARGET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94760" y="2679192"/>
            <a:ext cx="13716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 WWPN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852928" y="2578608"/>
            <a:ext cx="80467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143000" y="32918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Single-initiator / single-target zones minimize unrelated devices seeing each other.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489204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55080" y="2103120"/>
            <a:ext cx="406908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Limits device visibility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Reduces change impact / RSCN scope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Simplifies troubleshooting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cleaner provisioning patterns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External: Broadcom/Brocade SAN Design and Best Practices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discovery to an active zone configuration.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WWPNs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03911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37744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aliases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80360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91363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4340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zones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8815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2648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zone set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9400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66267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00100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9244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Activate config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03920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0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53719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87552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96696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paths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0378440" y="1417320"/>
            <a:ext cx="5029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1435608"/>
            <a:ext cx="502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05840" y="384048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control matters: validate identifiers, activate intentionally, then confirm host discovery and storage access.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zoning workflow concepts; Brocade SANnav documentation</a:t>
            </a:r>
            <a:endParaRPr lang="en-US" sz="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Aliases make zoning readable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descriptive aliases so a zone can be understood without memorizing hexadecimal identifiers.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237744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52704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108960" y="1508760"/>
            <a:ext cx="374904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82112" y="152704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0" y="1508760"/>
            <a:ext cx="457200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31152" y="152704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07568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HOST01_P1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08960" y="205740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82112" y="207568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50:00:00:00:AA:01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58000" y="205740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31152" y="207568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HBA 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62432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ARRAY01_T1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08960" y="260604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82112" y="262432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50:00:00:00:BB:01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260604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262432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target port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3154680"/>
            <a:ext cx="23774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172968"/>
            <a:ext cx="2231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ZONE_HOST01_DB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08960" y="3154680"/>
            <a:ext cx="37490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182112" y="3172968"/>
            <a:ext cx="36027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HOST01_P1 + ARRAY01_T1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58000" y="3154680"/>
            <a:ext cx="45720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31152" y="3172968"/>
            <a:ext cx="44256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Communication boundary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22960" y="41605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17880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Naming pattern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0" y="41422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&lt;environment&gt;_&lt;host&gt;_&lt;port&gt;  |  &lt;array&gt;_&lt;role&gt;_&lt;port&gt;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naming convention</a:t>
            </a:r>
            <a:endParaRPr lang="en-US" sz="7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topology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fabric is built from one or more FC switches connected together; hosts and storage attach to the fabric.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356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13258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3558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80360" y="1188720"/>
            <a:ext cx="1600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71800" y="129844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880360" y="2971800"/>
            <a:ext cx="16002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3081528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1874520"/>
            <a:ext cx="19202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06440" y="198424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2313432"/>
            <a:ext cx="1737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ports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148840" y="1627632"/>
            <a:ext cx="667512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148840" y="3547872"/>
            <a:ext cx="667512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553712" y="1554480"/>
            <a:ext cx="1115568" cy="5943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53712" y="3337560"/>
            <a:ext cx="111556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685032" y="1965960"/>
            <a:ext cx="0" cy="978408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822192" y="2359152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14400" y="461772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topology is the flexible, scalable FC topology highlighted in the reference deck.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Fabric Topology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Point-to-point FC topology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devices are directly connected. Simple, but not expandable to three or more devices.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325880" y="20574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17320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17320" y="2496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269480" y="2057400"/>
            <a:ext cx="1828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60920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60920" y="24963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N_Port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2514600"/>
            <a:ext cx="391363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4343400" y="2148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link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463040" y="3840480"/>
            <a:ext cx="74980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40690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for learning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154680" y="4041648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to explain the simplest FC relationship before introducing switches and fabrics.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Point to Point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Fibre Channel Arbitrated Loop (FC-AL)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 share a logical loop; access is arbitrated rather than switched.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011680" y="210312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03120" y="2212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37160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14813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0" y="210312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2212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3749040"/>
            <a:ext cx="141732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38587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417320"/>
            <a:ext cx="6720840" cy="3246120"/>
          </a:xfrm>
          <a:prstGeom prst="arc">
            <a:avLst/>
          </a:prstGeom>
          <a:noFill/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50749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loop • one direction • arbitration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Arbitrated Loop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switched fabrics became the dominant enterprise pattern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Switching removes the shared-medium constraint of a loop and enables large, redundant fabrics.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246888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527048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Characteristic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508760"/>
            <a:ext cx="374904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19272" y="1527048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FC-AL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95160" y="1508760"/>
            <a:ext cx="4297680" cy="566928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68312" y="1527048"/>
            <a:ext cx="4151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Switched fabric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" y="2075688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2093976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 model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46120" y="2075688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19272" y="2093976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loop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95160" y="2075688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68312" y="2093976"/>
            <a:ext cx="4151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Point-to-point via switches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77240" y="2642616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2660904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2642616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9272" y="2660904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Arbitrated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95160" y="2642616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2660904"/>
            <a:ext cx="4151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Switched paths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77240" y="3209544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3227832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Scalability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46120" y="3209544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19272" y="3227832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Limited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95160" y="3209544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68312" y="3227832"/>
            <a:ext cx="4151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77240" y="3776472"/>
            <a:ext cx="24688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0392" y="3794760"/>
            <a:ext cx="23225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redundancy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46120" y="3776472"/>
            <a:ext cx="37490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19272" y="3794760"/>
            <a:ext cx="36027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constrained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95160" y="3776472"/>
            <a:ext cx="4297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68312" y="3794760"/>
            <a:ext cx="415137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with dual fabrics / redundant paths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Fabric vs Arbitrated Loop</a:t>
            </a:r>
            <a:endParaRPr lang="en-US" sz="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Dual-fabric SAN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core resilience idea: do not make both paths depend on the same switch or fabric.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27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HBA 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22960" y="3383280"/>
            <a:ext cx="16459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930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HBA 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3444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0" y="1344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67335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3200400"/>
            <a:ext cx="16459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33101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3639312"/>
            <a:ext cx="1463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583680" y="123444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3441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 CTRL 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0" y="3200400"/>
            <a:ext cx="17373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31012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 CTRL 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1737360"/>
            <a:ext cx="79552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514600" y="3703320"/>
            <a:ext cx="79552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74920" y="1645920"/>
            <a:ext cx="143560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074920" y="3611880"/>
            <a:ext cx="1435608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8823960" y="19659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domain separation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823960" y="2423160"/>
            <a:ext cx="192024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HBA / NIC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Cable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front-end port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redundant SAN architecture + Microsoft MPIO resiliency concepts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Inter-Switch Link (ISL)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ISL connects FC switches so devices attached to different switches can communicate within the same fabric.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234440" y="1828800"/>
            <a:ext cx="19659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2588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22677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E_Port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0" y="1828800"/>
            <a:ext cx="196596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0" y="193852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321040" y="2267712"/>
            <a:ext cx="1783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E_Port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2331720"/>
            <a:ext cx="4937760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1984248"/>
            <a:ext cx="7315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40680" y="2002536"/>
            <a:ext cx="731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743200" y="365760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ISLs are part of the fabric’s connectivity and resilience design.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ISL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switches, directors and management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physical platform changes, but the core role is still to route and manage storage traffic.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</a:t>
            </a:r>
            <a:endParaRPr lang="en-US" sz="1600" dirty="0"/>
          </a:p>
        </p:txBody>
      </p:sp>
      <p:pic>
        <p:nvPicPr>
          <p:cNvPr id="6" name="Image 0" descr="/mnt/data/rps_day2/assets/ppt/media/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2057400"/>
            <a:ext cx="2651760" cy="1417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edge / access connectivity.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389120" y="132588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63440" y="1572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</a:t>
            </a:r>
            <a:endParaRPr lang="en-US" sz="1600" dirty="0"/>
          </a:p>
        </p:txBody>
      </p:sp>
      <p:pic>
        <p:nvPicPr>
          <p:cNvPr id="10" name="Image 1" descr="/mnt/data/rps_day2/assets/ppt/media/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2057400"/>
            <a:ext cx="2834640" cy="1417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63440" y="37947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port density and redundancy for large environments.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046720" y="1325880"/>
            <a:ext cx="3383280" cy="356616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21040" y="15727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8321040" y="2057400"/>
            <a:ext cx="256032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devices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servers and storage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zoning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and alert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— switch/director/management software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examples — recognize the ecosystem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concepts are vendor-neutral, but enterprise operations often use specific platforms.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77340" y="19385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Brocade / Broadcom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480560" y="141732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71146" y="196670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Cisco MDS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8481060" y="1385316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0" y="180136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Dell PowerStore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1520" y="31546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86000" y="3538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NetApp ONTAP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3154680"/>
            <a:ext cx="324612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35387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HPE Storage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914400" y="498348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 from the reference material include Brocade and Cisco SAN switches, plus storage-array brands such as EMC/3PAR/NetApp/IBM.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examples are illustrative; configuration commands differ by platform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Brocade-style zoning workflow (conceptual)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CLIs differ, but the object model is familiar: alias → zone → zone configuration → activate.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 DATABASE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0332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DATABASE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CONFIG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09828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FABRIC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19659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75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HOST01_P1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50:00:...:A1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20440" y="19659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11880" y="2075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ZONE_DB01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Host01 + Array01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075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PROD_CFG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zones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915400" y="1965960"/>
            <a:ext cx="21488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06840" y="2075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017520" y="2423160"/>
            <a:ext cx="438912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15000" y="2423160"/>
            <a:ext cx="438912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412480" y="2423160"/>
            <a:ext cx="438912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914400" y="379476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management checkpoint → validate identifiers before activation.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Conceptual Brocade object model; command syntax intentionally omitted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LUNs: the storage object a host actually consumes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LUN is a logical unit of block storage presented by the storage system.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POOL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capacity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697480" y="2011680"/>
            <a:ext cx="365760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154680" y="164592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7556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46120" y="20848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block device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2011680"/>
            <a:ext cx="365760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349240" y="164592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40680" y="1755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/ MAP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208483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control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23760" y="2011680"/>
            <a:ext cx="36576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726680" y="164592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17556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20848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device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326880" y="2011680"/>
            <a:ext cx="41148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875520" y="164592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66960" y="17556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FILESYSTEM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966960" y="208483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NTFS / VMFS etc.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" y="3291840"/>
            <a:ext cx="98755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3584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377440" y="3493008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LUN can exist on the array, but the host only uses it when access is correctly mapped/presented and the OS discovers it.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Intelligent Storage System — provisioning/LUN concepts</a:t>
            </a:r>
            <a:endParaRPr lang="en-US" sz="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masking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 controls which hosts can see a LUN in a shared environment.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184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4767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164592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99008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319272"/>
            <a:ext cx="1463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allowed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0" y="196596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 RULE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749040" y="24048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↔ LUN permission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589520" y="150876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0" y="16184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10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19476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589520" y="288036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2990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20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0" y="33192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42032" y="1810512"/>
            <a:ext cx="1042416" cy="429768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542032" y="3182112"/>
            <a:ext cx="1042416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897880" y="2240280"/>
            <a:ext cx="1600200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897880" y="2514600"/>
            <a:ext cx="1600200" cy="685800"/>
          </a:xfrm>
          <a:prstGeom prst="line">
            <a:avLst/>
          </a:prstGeom>
          <a:noFill/>
          <a:ln w="12700">
            <a:solidFill>
              <a:srgbClr val="D1434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914400" y="42519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Think: masking = “who is allowed to see this LUN?”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Intelligent Storage System — LUN Masking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mapping / presentation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determines which host gets which LUN and, depending on platform, may also assign a host-visible identifier.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011680" cy="61722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81328"/>
            <a:ext cx="186537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0" y="1463040"/>
            <a:ext cx="2560320" cy="61722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16352" y="1481328"/>
            <a:ext cx="241401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LUN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303520" y="1463040"/>
            <a:ext cx="2377440" cy="61722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76672" y="1481328"/>
            <a:ext cx="22311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Host-visible ID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680960" y="1463040"/>
            <a:ext cx="3749040" cy="61722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54112" y="1481328"/>
            <a:ext cx="36027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80260"/>
            <a:ext cx="201168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098548"/>
            <a:ext cx="186537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APP01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0" y="2080260"/>
            <a:ext cx="256032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16352" y="2098548"/>
            <a:ext cx="241401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LUN-101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03520" y="2080260"/>
            <a:ext cx="237744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76672" y="2098548"/>
            <a:ext cx="22311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10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680960" y="2080260"/>
            <a:ext cx="374904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54112" y="2098548"/>
            <a:ext cx="36027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data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697480"/>
            <a:ext cx="201168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715768"/>
            <a:ext cx="186537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DB01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0" y="2697480"/>
            <a:ext cx="256032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16352" y="2715768"/>
            <a:ext cx="241401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LUN-201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303520" y="2697480"/>
            <a:ext cx="237744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76672" y="2715768"/>
            <a:ext cx="22311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20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680960" y="2697480"/>
            <a:ext cx="374904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54112" y="2715768"/>
            <a:ext cx="36027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Database data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314700"/>
            <a:ext cx="201168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332988"/>
            <a:ext cx="186537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VM01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0" y="3314700"/>
            <a:ext cx="256032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16352" y="3332988"/>
            <a:ext cx="241401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LUN-301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03520" y="3314700"/>
            <a:ext cx="237744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76672" y="3332988"/>
            <a:ext cx="22311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 30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680960" y="3314700"/>
            <a:ext cx="3749040" cy="6172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54112" y="3332988"/>
            <a:ext cx="3602736" cy="5806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VM datastore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" y="4343400"/>
            <a:ext cx="987552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8872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 vs mapping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154680" y="45537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Masking = access boundary • Mapping/presentation = assignment of storage to a host.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Terminology varies by storage vendor; concept is consistent</a:t>
            </a:r>
            <a:endParaRPr lang="en-US" sz="7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LUN presentation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sequence learners should be able to explain on a whiteboard.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100584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pool / RAID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3911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88036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435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37744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LUN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1363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1435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host WWPNs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8815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62940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1435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host ↔ target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6267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50392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03920" y="1435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0100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9244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 / map LUN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537192" y="2377440"/>
            <a:ext cx="292608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378440" y="1417320"/>
            <a:ext cx="45720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1435608"/>
            <a:ext cx="457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875520" y="192024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96696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Rescan + verify paths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14400" y="3886200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provisioning ticket is complete only when the host can see the intended LUN through the intended redundant paths.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workflow from the reference decks</a:t>
            </a:r>
            <a:endParaRPr lang="en-US" sz="7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Thick (traditional) provisioning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is reserved up front and represented as allocated capacity to the host.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3716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6642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9933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TB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0" y="155448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GB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74920" y="155448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6636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2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700 GB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06640" y="155448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0" y="1664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3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800 GB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0" y="1920240"/>
            <a:ext cx="411480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89120" y="1920240"/>
            <a:ext cx="640080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720840" y="1920240"/>
            <a:ext cx="640080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14400" y="320040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is committed to the logical volume according to the provisioning model.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3931920"/>
            <a:ext cx="96926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88720" y="4206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43200" y="4096512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capacity can I safely allocate today, and how much should remain unallocated for future workloads?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Intelligent Storage System — traditional provisioning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provisioning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host can see a larger logical capacity while the array consumes physical capacity as data is actually written.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1024128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645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43000" y="2057400"/>
            <a:ext cx="182880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1671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LUN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TB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496312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46120" y="2267712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886200" y="16459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POOL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77640" y="210312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2212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TB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23560" y="2103120"/>
            <a:ext cx="14173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15000" y="2212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TB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164592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data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498080" y="210312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0" y="22128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 TB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372600" y="2103120"/>
            <a:ext cx="137160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22128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 TB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free inside LUN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49834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provisioning separates logical presentation from immediate physical allocation.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— Thin Provisioning overview; Intelligent Storage System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vs thick — compare the operating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trade-off is not only capacity efficiency; it also changes monitoring and planning responsibilities.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286000" cy="5334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389888"/>
            <a:ext cx="21396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Aspect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017520" y="1371600"/>
            <a:ext cx="4114800" cy="5334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90672" y="1389888"/>
            <a:ext cx="39684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0" y="1371600"/>
            <a:ext cx="4206240" cy="53340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05472" y="1389888"/>
            <a:ext cx="405993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905000"/>
            <a:ext cx="228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923288"/>
            <a:ext cx="21396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capacity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17520" y="1905000"/>
            <a:ext cx="411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90672" y="1923288"/>
            <a:ext cx="39684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Typically matched to allocated capacity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132320" y="1905000"/>
            <a:ext cx="42062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05472" y="1923288"/>
            <a:ext cx="405993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exceed immediately allocated physical capacity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438400"/>
            <a:ext cx="228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456688"/>
            <a:ext cx="21396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consumption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017520" y="2438400"/>
            <a:ext cx="411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2456688"/>
            <a:ext cx="39684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Reserved / committed earlier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132320" y="2438400"/>
            <a:ext cx="42062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05472" y="2456688"/>
            <a:ext cx="405993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Grows as writes consume pool capacity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31520" y="2971800"/>
            <a:ext cx="228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2990088"/>
            <a:ext cx="21396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017520" y="2971800"/>
            <a:ext cx="411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90672" y="2990088"/>
            <a:ext cx="39684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oversubscription risk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32320" y="2971800"/>
            <a:ext cx="42062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2990088"/>
            <a:ext cx="405993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capacity monitoring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505200"/>
            <a:ext cx="228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4672" y="3523488"/>
            <a:ext cx="21396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Flexibility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017520" y="3505200"/>
            <a:ext cx="411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3523488"/>
            <a:ext cx="39684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132320" y="3505200"/>
            <a:ext cx="42062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05472" y="3523488"/>
            <a:ext cx="405993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elasticity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1520" y="4038600"/>
            <a:ext cx="22860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4056888"/>
            <a:ext cx="21396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focus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017520" y="4038600"/>
            <a:ext cx="411480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90672" y="4056888"/>
            <a:ext cx="396849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Allocation planning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32320" y="4038600"/>
            <a:ext cx="4206240" cy="533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05472" y="4056888"/>
            <a:ext cx="4059936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free space + overcommit governance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22960" y="48920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910328"/>
            <a:ext cx="1325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rule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331720" y="4864608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enable overcommit without monitoring the physical pool and alert thresholds.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thin provisioning + intelligent storage provisioning</a:t>
            </a:r>
            <a:endParaRPr lang="en-US" sz="7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provisioning: why arrays like 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reference material highlights better capacity utilization and future-growth flexibility.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6459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6642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idle allocation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0" y="16184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near-term physical capacity needs to be purchased.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41732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46520" y="164592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6420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sees future size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0" y="161848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 can be provisioned for expected growth.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5468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383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015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Centralized control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33558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 capacity is managed from the array.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154680"/>
            <a:ext cx="51206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338328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40156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oversubscription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29600" y="3355848"/>
            <a:ext cx="2743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Capacity planning and alerts become critical.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ITC — Thin Provisioning benefits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Multipathing (MPIO) basics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presents multiple physical I/O paths to the OS as one logical storage device.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2057400"/>
            <a:ext cx="141732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6712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49631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34640" y="1828800"/>
            <a:ext cx="182880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193852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/ DSM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2267712"/>
            <a:ext cx="164592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selection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0" y="137160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4813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2788920"/>
            <a:ext cx="146304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28986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2011680"/>
            <a:ext cx="164592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0" y="21214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03920" y="24505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304288" y="2441448"/>
            <a:ext cx="466344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709160" y="2148840"/>
            <a:ext cx="73152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09160" y="2743200"/>
            <a:ext cx="731520" cy="3657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013448" y="1737360"/>
            <a:ext cx="1335024" cy="50292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13448" y="3108960"/>
            <a:ext cx="1335024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914400" y="43434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one path fails, the host can continue I/O through another healthy path.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External: Microsoft Learn — MPIO troubleshooting and architecture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architecture: what actually changes?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application still sees one logical disk; MPIO manages the many underlying paths.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82880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5270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88920" y="1737360"/>
            <a:ext cx="457200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3337560" y="141732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DISK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6048" y="1737360"/>
            <a:ext cx="457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504688" y="141732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96128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96128" y="18562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DSM / policy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132320" y="1737360"/>
            <a:ext cx="438912" cy="0"/>
          </a:xfrm>
          <a:prstGeom prst="line">
            <a:avLst/>
          </a:prstGeom>
          <a:noFill/>
          <a:ln w="12700">
            <a:solidFill>
              <a:srgbClr val="6D5BD0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662672" y="1417320"/>
            <a:ext cx="15544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54112" y="15270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54112" y="1856232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/ B / C / 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9281160" y="1737360"/>
            <a:ext cx="457200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9829800" y="141732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152704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2834640"/>
            <a:ext cx="996696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path policies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46120" y="3054096"/>
            <a:ext cx="69494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Round-robin / balanced I/O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Failover-only / active-passive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Vendor-specific optimized paths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External: Microsoft Learn — MPIO / DSM concepts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failure scenario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simplest resilience test: remove one path and watch the application continue.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920240"/>
            <a:ext cx="146304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299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/ DB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920240"/>
            <a:ext cx="14173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2029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74920" y="123444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13441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74920" y="2788920"/>
            <a:ext cx="132588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66360" y="28986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680960" y="1920240"/>
            <a:ext cx="182880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20299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LUN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2286000"/>
            <a:ext cx="47548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315968" y="2286000"/>
            <a:ext cx="6858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15968" y="2286000"/>
            <a:ext cx="685800" cy="82296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446520" y="1554480"/>
            <a:ext cx="1161288" cy="658368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446520" y="3108960"/>
            <a:ext cx="1161288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0" y="1234440"/>
            <a:ext cx="502920" cy="640080"/>
          </a:xfrm>
          <a:prstGeom prst="line">
            <a:avLst/>
          </a:prstGeom>
          <a:noFill/>
          <a:ln w="12700">
            <a:solidFill>
              <a:srgbClr val="D1434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840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 A FAILS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49440" y="382219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detects the failed path and continues I/O on PATH B.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External: Microsoft Learn — MPIO fault tolerance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 design rules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Redundancy only works when the underlying paths are actually independent.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4416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325880" y="13075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HBA / NIC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0" y="130759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host adapter failure domains.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28600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30428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25880" y="22677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switch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226771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a single switch outage.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26440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32278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fabric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22783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A/B fabrics isolate SAN failure domains.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0624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22452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25880" y="41879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target port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4187952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redundant storage front-end connectivity.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External: Microsoft Learn — redundant physical path guidance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configuration — what exists before zoning?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SAN switch has physical ports, logical fabric identity, management access and fabric services.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965960" cy="2194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7373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17556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ports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58952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SFP / transceiver / port state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08760"/>
            <a:ext cx="1965960" cy="2194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9232" y="17373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9232" y="17556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99232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address, SSH/GUI, logs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74920" y="1508760"/>
            <a:ext cx="1965960" cy="2194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39512" y="17373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39512" y="17556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identity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39512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ID / switch identity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0" y="1508760"/>
            <a:ext cx="1965960" cy="2194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9792" y="17373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79792" y="17556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services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479792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 server, zoning, RSCNs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555480" y="1508760"/>
            <a:ext cx="1965960" cy="21945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20072" y="1737360"/>
            <a:ext cx="1645920" cy="310896"/>
          </a:xfrm>
          <a:prstGeom prst="roundRect">
            <a:avLst>
              <a:gd name="adj" fmla="val 23529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20072" y="1755648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720072" y="2331720"/>
            <a:ext cx="1627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E_Ports / ISLs for fabric expansion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425196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Vendor-specific commands differ; the architectural objects are stable.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Storage-Module1 interconnecting devices and management</a:t>
            </a:r>
            <a:endParaRPr lang="en-US" sz="7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configuration: first-pass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safe introductory sequence for a new FC switch.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5272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80160" y="121615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Rack / power / optics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80160" y="1673352"/>
            <a:ext cx="676656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856232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7452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80160" y="183794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IP + credentials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80160" y="2295144"/>
            <a:ext cx="676656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478024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96312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80160" y="245973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 / verify fabric identity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280160" y="2916936"/>
            <a:ext cx="676656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099816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18104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308152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 port speed and link state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80160" y="3538728"/>
            <a:ext cx="676656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721608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739896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280160" y="37033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ISL only when fabric design is ready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80160" y="4160520"/>
            <a:ext cx="676656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1520" y="4343400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61688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80160" y="432511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 zoning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280160" y="4782312"/>
            <a:ext cx="676656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" y="4965192"/>
            <a:ext cx="36576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4983480"/>
            <a:ext cx="365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80160" y="49469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host/storage discovery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Introductory workflow; exact commands vary by Brocade/Cisco platform</a:t>
            </a:r>
            <a:endParaRPr lang="en-US" sz="7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port state: the simple mental model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can troubleshoot most early SAN issues by asking: is the port physically up, logged in, zoned, and presented?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 up / optics / speed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13432" y="228600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182880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62072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device registered in fabric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228600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38344" y="182880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9784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Initiator ↔ target allowed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48856" y="228600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06056" y="182880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97496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masked/mapped to host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16568" y="228600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73768" y="1828800"/>
            <a:ext cx="178308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665208" y="2267712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discovers the disk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0233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five-state model is useful for troubleshooting even when the vendor tools look very different.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teaching framework from SAN provisioning and management concepts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Troubleshooting: “Host cannot see the LUN”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at the path, not at the application.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160020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161848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44752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physical link up?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99432" y="160020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99432" y="161848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148072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host port log into the fabric?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41732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160020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02752" y="161848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851392" y="160020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initiator in the correct zone?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97180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6112" y="31546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317296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44752" y="3154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target port online and in the zone?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434840" y="297180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99432" y="31546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9432" y="317296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48072" y="3154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 LUN masked/mapped to the host?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971800"/>
            <a:ext cx="32461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02752" y="3154680"/>
            <a:ext cx="384048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02752" y="3172968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851392" y="3154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 the OS rescan / MPIO discover all paths?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Troubleshooting checklist aligned to provisioning workflow</a:t>
            </a:r>
            <a:endParaRPr lang="en-US" sz="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new Windows database server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 from the application requirement to the verified LUN.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892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21992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DB01 requires 2 TB block storage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04288" y="2404872"/>
            <a:ext cx="420624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178308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892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62072" y="2221992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/ verify HBA + multipath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2404872"/>
            <a:ext cx="420624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38344" y="178308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1892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9784" y="2221992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Zone DB01 WWPN ↔ array 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39712" y="2404872"/>
            <a:ext cx="420624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06056" y="178308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1892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97496" y="2221992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LUN + mask/map to DB01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07424" y="2404872"/>
            <a:ext cx="420624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73768" y="1783080"/>
            <a:ext cx="17830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189280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65208" y="2221992"/>
            <a:ext cx="1600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Rescan; confirm multiple paths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22960" y="397764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995928"/>
            <a:ext cx="10058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65960" y="3950208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could go wrong if the zone is correct but the LUN is not masked?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Classroom scenario</a:t>
            </a:r>
            <a:endParaRPr lang="en-US" sz="7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Scenario: path failure in production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well-designed SAN should survive a single path component failure without application interruption.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SERVER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15544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9385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212080" y="11430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1252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12080" y="2743200"/>
            <a:ext cx="146304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0" y="28529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 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818120" y="1828800"/>
            <a:ext cx="164592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09560" y="19385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23160" y="2194560"/>
            <a:ext cx="429768" cy="0"/>
          </a:xfrm>
          <a:prstGeom prst="line">
            <a:avLst/>
          </a:prstGeom>
          <a:noFill/>
          <a:ln w="12700">
            <a:solidFill>
              <a:srgbClr val="1F5AA6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2194560"/>
            <a:ext cx="612648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26280" y="2194560"/>
            <a:ext cx="612648" cy="86868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739128" y="1463040"/>
            <a:ext cx="1014984" cy="594360"/>
          </a:xfrm>
          <a:prstGeom prst="line">
            <a:avLst/>
          </a:prstGeom>
          <a:noFill/>
          <a:ln w="12700">
            <a:solidFill>
              <a:srgbClr val="D1434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39128" y="3063240"/>
            <a:ext cx="1014984" cy="0"/>
          </a:xfrm>
          <a:prstGeom prst="line">
            <a:avLst/>
          </a:prstGeom>
          <a:noFill/>
          <a:ln w="12700">
            <a:solidFill>
              <a:srgbClr val="198754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2560320" y="4160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injected: Fabric A switch goes offline.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828800" y="46177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Expected: I/O continues on Fabric B if the host and array paths are healthy.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External: Microsoft MPIO fault-tolerance guidance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— protocol &amp; topology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 with a partner, then compare answers.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98448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Is SCSI a transport or command model?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7240" y="2048256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167128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is carried inside FCP?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77240" y="2798064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916936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What does iSCSI add to SCSI?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547872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66744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the key difference between fabric and FC-AL?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4297680"/>
            <a:ext cx="104241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41655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Why does a dual-fabric design need independent components?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• 5 minutes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— zoning &amp; WWNs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you map the right identity to the right access boundary?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93192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3560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417320"/>
            <a:ext cx="6675120" cy="548640"/>
          </a:xfrm>
          <a:prstGeom prst="rect">
            <a:avLst/>
          </a:prstGeom>
          <a:solidFill>
            <a:srgbClr val="EAF2FB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36592" y="143560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to discuss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9659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8424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WWNN identify?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96596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6592" y="198424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FC node/device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5146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53288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WWPN identify?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63440" y="251460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36592" y="253288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specific FC 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306324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08152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port zoning use?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06324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36592" y="308152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switch-port context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361188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63016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does WWN/pWWN zoning use?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361188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363016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Wide Name / port identity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16052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178808"/>
            <a:ext cx="37856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use single-initiator zones?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4160520"/>
            <a:ext cx="66751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36592" y="4178808"/>
            <a:ext cx="652881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 communication scope and change impact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• compare with your notes</a:t>
            </a:r>
            <a:endParaRPr lang="en-US" sz="7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check — provisioning &amp; MPIO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the dependency chain.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77240" y="128016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9844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2618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exists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0" y="12618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29000" y="1664208"/>
            <a:ext cx="0" cy="301752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77240" y="205740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7568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17320" y="2039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 is zoned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0" y="2039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Fabric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429000" y="2441448"/>
            <a:ext cx="0" cy="301752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77240" y="283464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85292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17320" y="2816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is masked/mapped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840480" y="28163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Array access control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429000" y="3218688"/>
            <a:ext cx="0" cy="301752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77240" y="361188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63016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17320" y="35935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Paths are visible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40480" y="359359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/ MPIO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3995928"/>
            <a:ext cx="0" cy="301752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77240" y="4389120"/>
            <a:ext cx="41148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407408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17320" y="4370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can use disk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84048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83680" y="19202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Question: which layer do you check first when the host sees no device at all?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• provisioning dependency chain</a:t>
            </a:r>
            <a:endParaRPr lang="en-US" sz="70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whiteboard exercise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Draw this from scratch without looking at the deck.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 dual-fabric SAN for one Windows database server and one storage array.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3500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host paths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21488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3500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FC fabrics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0" y="214884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235000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array target paths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338328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84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LUN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80560" y="338328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3584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single-initiator zones per fabric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3383280"/>
            <a:ext cx="31089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5320" y="358444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143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9834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explain the I/O path and the failure behavior when one fabric disappears.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exercise • 10 minutes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2 recap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 now forms one connected mental model.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727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9105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2029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block-storage network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137160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20440" y="15727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59105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20440" y="2029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 command 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5727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59105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FC / FCP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2029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fabric transport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15400" y="137160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98280" y="157276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0EA5A5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98280" y="159105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iSCSI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098280" y="20299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SCSI over TCP/IP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2186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23697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1520" y="3675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who can communicate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01752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32186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20440" y="323697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 masking/mapping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20440" y="3675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host access to storage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26480" y="301752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32186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6D5BD0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323697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 provisioning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3675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Separates logical size from immediate physical allocation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915400" y="3017520"/>
            <a:ext cx="251460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098280" y="321868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3236976"/>
            <a:ext cx="1417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MPIO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098280" y="36758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Uses multiple paths for resilience / policy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End-of-day recap</a:t>
            </a:r>
            <a:endParaRPr lang="en-US" sz="7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this fits in the enterprise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design supports availability, controlled access and operational scale — but only when the layers are configured together.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7830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need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2267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/ VM / analytics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04288" y="242316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70632" y="1828800"/>
            <a:ext cx="17830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62072" y="2267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 fabric + storage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242316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038344" y="1828800"/>
            <a:ext cx="17830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6D5B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2978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D5B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29784" y="2267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Zoning + masking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39712" y="242316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06056" y="1828800"/>
            <a:ext cx="17830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9749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987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97496" y="2267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Dual fabrics + MPIO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07424" y="2423160"/>
            <a:ext cx="411480" cy="0"/>
          </a:xfrm>
          <a:prstGeom prst="line">
            <a:avLst/>
          </a:prstGeom>
          <a:noFill/>
          <a:ln w="12700">
            <a:solidFill>
              <a:srgbClr val="D8E1EC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9573768" y="1828800"/>
            <a:ext cx="17830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0E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65208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65208" y="2267712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 + change control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14400" y="406908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Next: connect these foundations to storage arrays, administration and data protection.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progression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used for Day 2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822960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reference decks plus current vendor guidance used to modernize terminology and operational context.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261872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135331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Storage-Module1.pptx — SAN basics, zoning, VSAN, fabric, ISLs, topologies, switch/director, thin provisioning.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to Storage &amp; Backup_ITC.pptx — SCSI, FCP/FC, iSCSI, SAN architecture, HBA/WWN, protocols, redundant SAN patterns.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578608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7004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2.Intelligent_Storage_System.pptx — storage provisioning, LUNs, masking, thin provisioning.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22960" y="3236976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332841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Microsoft Learn — MPIO troubleshooting / architecture and redundant path guidance.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3895344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986784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Broadcom/Brocade — SAN Design and Best Practices; zoning and current pWWN / single-initiator guidance.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4553712"/>
            <a:ext cx="1042416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46451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Vendor examples shown: Brocade/Broadcom, Cisco, Dell, NetApp, HPE; concepts remain vendor-neutral.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6473952"/>
            <a:ext cx="5394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presentation • references and external validation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6476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4535</TotalTime>
  <Words>4532</Words>
  <Application>Microsoft Office PowerPoint</Application>
  <PresentationFormat>Widescreen</PresentationFormat>
  <Paragraphs>1016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RPS | ICICI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2 | SAN, Fibre Channel, and Storage Provisioning</dc:title>
  <dc:subject>Day 2 Storage Training</dc:subject>
  <dc:creator>RPS | ICICI</dc:creator>
  <cp:lastModifiedBy>Sachin Prabhugaonkar</cp:lastModifiedBy>
  <cp:revision>6</cp:revision>
  <dcterms:created xsi:type="dcterms:W3CDTF">2026-09-16T10:36:06Z</dcterms:created>
  <dcterms:modified xsi:type="dcterms:W3CDTF">2026-10-03T01:06:49Z</dcterms:modified>
</cp:coreProperties>
</file>