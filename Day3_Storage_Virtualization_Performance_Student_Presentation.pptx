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17320" cy="310896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1571"/>
            <a:ext cx="14173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100" b="1">
                <a:solidFill>
                  <a:srgbClr val="269C8A"/>
                </a:solidFill>
                <a:latin typeface="Aptos"/>
              </a:rPr>
              <a:t>StoragePrabhu99</a:t>
            </a:r>
            <a:endParaRPr sz="1100" b="1">
              <a:solidFill>
                <a:srgbClr val="269C8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7223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233D"/>
                </a:solidFill>
                <a:latin typeface="Aptos Display"/>
              </a:rPr>
              <a:t>Storage Virtualization
&amp; Performance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423160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37387"/>
                </a:solidFill>
                <a:latin typeface="Aptos"/>
              </a:rPr>
              <a:t>DAY 3 • STUDENT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7180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83442"/>
                </a:solidFill>
                <a:latin typeface="Aptos"/>
              </a:rPr>
              <a:t>From physical storage to policy-driven pools,
VMware integration, efficiency services and performance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133" y="4996459"/>
            <a:ext cx="160020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503259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2B6CB0"/>
                </a:solidFill>
                <a:latin typeface="Aptos"/>
              </a:rPr>
              <a:t>VIRTUALIZATION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9736" y="4992624"/>
            <a:ext cx="160020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4580" y="5065776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3380" y="5041490"/>
            <a:ext cx="160020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5042670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30A0BE"/>
                </a:solidFill>
                <a:latin typeface="Aptos"/>
              </a:rPr>
              <a:t>TIERING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52744" y="5059778"/>
            <a:ext cx="160020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5070987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E79136"/>
                </a:solidFill>
                <a:latin typeface="Aptos"/>
              </a:rPr>
              <a:t>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3213" y="5042670"/>
            <a:ext cx="160020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3213" y="5034509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14233D"/>
                </a:solidFill>
                <a:latin typeface="Aptos"/>
              </a:rPr>
              <a:t>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43000"/>
            <a:ext cx="3200400" cy="65836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3794" y="1200519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APPLICATIONS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29800" y="1819656"/>
            <a:ext cx="0" cy="329184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7142" y="2253553"/>
            <a:ext cx="3200400" cy="65836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69C8A"/>
                </a:solidFill>
                <a:latin typeface="Aptos"/>
              </a:rPr>
              <a:t>VMs / VMDKs / vSAN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862072"/>
            <a:ext cx="0" cy="329184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3236976"/>
            <a:ext cx="3200400" cy="658368"/>
          </a:xfrm>
          <a:prstGeom prst="roundRect">
            <a:avLst/>
          </a:prstGeom>
          <a:solidFill>
            <a:srgbClr val="EDF5FA"/>
          </a:solidFill>
          <a:ln w="12700"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236976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Aptos"/>
              </a:rPr>
              <a:t>POLICY + DATA SERVICES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29800" y="3904487"/>
            <a:ext cx="0" cy="329185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56639" y="4233574"/>
            <a:ext cx="3200400" cy="658368"/>
          </a:xfrm>
          <a:prstGeom prst="roundRect">
            <a:avLst/>
          </a:prstGeom>
          <a:solidFill>
            <a:srgbClr val="F5EFE6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279392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79136"/>
                </a:solidFill>
                <a:latin typeface="Aptos"/>
              </a:rPr>
              <a:t>SSD / HDD / NVMe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What you should be able to explain, compare and troubleshoot by the end of Day 3.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78308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64792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Explain storage virtualization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Separate logical capacity from physical media and understand why abstraction matters.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78308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764792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Map VMware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031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Understand VMDK, RDM, VMFS and vSAN at a conceptual level.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0896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90672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Describe tiering &amp;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2900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Explain hot/cold data movement, thin provisioning, compression and deduplication.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10896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090672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Read performance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2900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Relate IOPS, latency, throughput, queue depth and workload patterns.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3484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16552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Use monitoring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54879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Know what to check at VM, host, datastore, array and network layers.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669280"/>
            <a:ext cx="10835640" cy="5029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Learner lens: every performance problem is a chain — workload → VM/host → network → storage service → media.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</a:t>
            </a:r>
            <a:r>
              <a:rPr sz="800" b="0" dirty="0">
                <a:solidFill>
                  <a:srgbClr val="637387"/>
                </a:solidFill>
                <a:latin typeface="Aptos"/>
              </a:rPr>
              <a:t>• Day 3 • Storage Virtualization &amp;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Day 3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Two-session flow with concept walkthroughs, architecture diagrams, scenarios and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64792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Virtualization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6479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04872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86584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VMware: VMDK • RDM • vSAN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8658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75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026664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08376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Storage tiering &amp; auto-tiering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08376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48456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4845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30168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Efficiency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30168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75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70248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270248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1960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Performance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90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73752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Monitoring concepts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60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513832"/>
            <a:ext cx="50292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513832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95544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Scenario lab + recap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49554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37387"/>
                </a:solidFill>
                <a:latin typeface="Aptos"/>
              </a:rPr>
              <a:t>50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1719072"/>
            <a:ext cx="1600200" cy="43434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12680" y="1965960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Hands-on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487168"/>
            <a:ext cx="129844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83442"/>
                </a:solidFill>
                <a:latin typeface="Aptos"/>
              </a:defRPr>
            </a:pPr>
            <a:r>
              <a:t>Draw a storage pool</a:t>
            </a:r>
          </a:p>
          <a:p>
            <a:pPr>
              <a:spcAft>
                <a:spcPts val="600"/>
              </a:spcAft>
              <a:defRPr sz="1000">
                <a:solidFill>
                  <a:srgbClr val="283442"/>
                </a:solidFill>
                <a:latin typeface="Aptos"/>
              </a:defRPr>
            </a:pPr>
            <a:r>
              <a:t>Map a VMDK</a:t>
            </a:r>
          </a:p>
          <a:p>
            <a:pPr>
              <a:spcAft>
                <a:spcPts val="600"/>
              </a:spcAft>
              <a:defRPr sz="1000">
                <a:solidFill>
                  <a:srgbClr val="283442"/>
                </a:solidFill>
                <a:latin typeface="Aptos"/>
              </a:defRPr>
            </a:pPr>
            <a:r>
              <a:t>Move hot/cold data</a:t>
            </a:r>
          </a:p>
          <a:p>
            <a:pPr>
              <a:spcAft>
                <a:spcPts val="600"/>
              </a:spcAft>
              <a:defRPr sz="1000">
                <a:solidFill>
                  <a:srgbClr val="283442"/>
                </a:solidFill>
                <a:latin typeface="Aptos"/>
              </a:defRPr>
            </a:pPr>
            <a:r>
              <a:t>Explain a 3× efficiency ratio</a:t>
            </a:r>
          </a:p>
          <a:p>
            <a:pPr>
              <a:spcAft>
                <a:spcPts val="600"/>
              </a:spcAft>
              <a:defRPr sz="1000">
                <a:solidFill>
                  <a:srgbClr val="283442"/>
                </a:solidFill>
                <a:latin typeface="Aptos"/>
              </a:defRPr>
            </a:pPr>
            <a:r>
              <a:t>Diagnose latency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  <a:endParaRPr lang="en-US" sz="800" dirty="0">
              <a:solidFill>
                <a:srgbClr val="637387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Storage Virtualization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Abstract physical resources into logical capacity, policy and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Why storage virtualization?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logical view lets administrators provision and move workloads without binding them to one physical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7432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33D"/>
                </a:solidFill>
                <a:latin typeface="Aptos"/>
              </a:rPr>
              <a:t>Physical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06040"/>
            <a:ext cx="1828800" cy="347472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F1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37387"/>
                </a:solidFill>
                <a:latin typeface="Aptos"/>
              </a:rPr>
              <a:t>Disk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108960"/>
            <a:ext cx="1828800" cy="347472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F1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37387"/>
                </a:solidFill>
                <a:latin typeface="Aptos"/>
              </a:rPr>
              <a:t>Disk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611880"/>
            <a:ext cx="1828800" cy="347472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F1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1188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37387"/>
                </a:solidFill>
                <a:latin typeface="Aptos"/>
              </a:rPr>
              <a:t>Disk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114800"/>
            <a:ext cx="1828800" cy="347472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F1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37387"/>
                </a:solidFill>
                <a:latin typeface="Aptos"/>
              </a:rPr>
              <a:t>Disk 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75887" y="3383280"/>
            <a:ext cx="941833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22191" y="2926080"/>
            <a:ext cx="731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37387"/>
                </a:solidFill>
                <a:latin typeface="Aptos"/>
              </a:rPr>
              <a:t>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828800"/>
            <a:ext cx="2743200" cy="32461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1993392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C8A"/>
                </a:solidFill>
                <a:latin typeface="Aptos"/>
              </a:rPr>
              <a:t>Logical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606040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2606040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Pool A • 5 TB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3227832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322783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Pool B • 3 TB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849624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360" y="3849624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Pool C • 2 TB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0" y="3383280"/>
            <a:ext cx="777240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68512" y="1828800"/>
            <a:ext cx="2743200" cy="32461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97112" y="1993392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Workload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606040"/>
            <a:ext cx="187451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2606040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Aptos"/>
              </a:rPr>
              <a:t>VM /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27832"/>
            <a:ext cx="187451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3227832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Aptos"/>
              </a:rPr>
              <a:t>File share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849624"/>
            <a:ext cx="187451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38496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Aptos"/>
              </a:rPr>
              <a:t>Backup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675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83442"/>
                </a:solidFill>
                <a:latin typeface="Aptos"/>
              </a:rPr>
              <a:t>Key idea: virtualization changes the management boundary — from “which disk?” to “which service/policy?”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The storage abstraction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Each layer presents a simpler interface to the layer above.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691640"/>
            <a:ext cx="7863840" cy="658368"/>
          </a:xfrm>
          <a:prstGeom prst="roundRect">
            <a:avLst/>
          </a:prstGeom>
          <a:solidFill>
            <a:srgbClr val="F1F7FC"/>
          </a:solidFill>
          <a:ln w="12700">
            <a:solidFill>
              <a:srgbClr val="F1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69164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Database / file service / VM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66360" y="2359152"/>
            <a:ext cx="0" cy="22860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34440" y="2660904"/>
            <a:ext cx="7863840" cy="65836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Logical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60904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Volume / LUN / datastore / virtual disk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3328416"/>
            <a:ext cx="0" cy="22860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34440" y="3630168"/>
            <a:ext cx="7863840" cy="65836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63016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Storage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30168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RAID / snapshots / tiering / compression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66360" y="4297680"/>
            <a:ext cx="0" cy="22860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34440" y="4599432"/>
            <a:ext cx="7863840" cy="658368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FA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59943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Physical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599432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SSD / NVMe / HDD / flash 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783080"/>
            <a:ext cx="1874519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0" y="196596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What abstraction
BUYS you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697480"/>
            <a:ext cx="141732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2697480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Portability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200400"/>
            <a:ext cx="141732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3200400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Central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703320"/>
            <a:ext cx="141732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3703320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4206240"/>
            <a:ext cx="1417320" cy="32918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4206240"/>
            <a:ext cx="1417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Better utilization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Virtualization: capacity vs physical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virtual resource can be larger than the currently allocated physical space — but the gap must be monitored.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377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Example: 10 TB virtual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Presented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560320"/>
            <a:ext cx="2926080" cy="38404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25603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Aptos"/>
              </a:rPr>
              <a:t>10 TB logical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Allocated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291840"/>
            <a:ext cx="1554480" cy="38404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4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3 TB physical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Free headroom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023360"/>
            <a:ext cx="1783080" cy="384048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402336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79136"/>
                </a:solidFill>
                <a:latin typeface="Aptos"/>
              </a:rPr>
              <a:t>7 TB logical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90872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C44C4C"/>
                </a:solidFill>
                <a:latin typeface="Aptos"/>
              </a:rPr>
              <a:t>Oversubscription is a capacity promise, not free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828800"/>
            <a:ext cx="5212080" cy="34290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02996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Control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45262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t>Monitor physical pool usage</a:t>
            </a:r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t>Set warning / critical thresholds</a:t>
            </a:r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t>Track growth and allocation trends</a:t>
            </a:r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t>Keep emergency expansion paths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Virtual storage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Virtualization creates a service layer where common functions can be applied consistently.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2075688"/>
            <a:ext cx="384048" cy="384048"/>
          </a:xfrm>
          <a:prstGeom prst="ellipse">
            <a:avLst/>
          </a:prstGeom>
          <a:solidFill>
            <a:srgbClr val="2B6C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8424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0428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Thin / thick / policy-based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81728" y="2075688"/>
            <a:ext cx="384048" cy="384048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0756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8424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0428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Snapshots / clones / replication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76488" y="207568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756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98424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Placement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0428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Tiering / affinity /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3584448"/>
            <a:ext cx="384048" cy="384048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5844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49300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81304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Dedup / compression / compaction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337560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81728" y="3584448"/>
            <a:ext cx="384048" cy="384048"/>
          </a:xfrm>
          <a:prstGeom prst="ellipse">
            <a:avLst/>
          </a:prstGeom>
          <a:solidFill>
            <a:srgbClr val="142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35844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9300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Mobility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81304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Migration / rebalancing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02352"/>
            <a:ext cx="10424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Aptos"/>
              </a:rPr>
              <a:t>Modern storage platforms combine these services with centralized policy and monitoring.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Logical does not mean imaginary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logical object always resolves to physical resources somewhere in the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600200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VM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1343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2286000"/>
            <a:ext cx="1600200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VMDK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6227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2286000"/>
            <a:ext cx="1600200" cy="9144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22860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Datastore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1111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0" y="2286000"/>
            <a:ext cx="1600200" cy="914400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2860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Pool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5995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2286000"/>
            <a:ext cx="1600200" cy="914400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FA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1600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Media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977639"/>
            <a:ext cx="8412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03120" y="3977639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83442"/>
                </a:solidFill>
                <a:latin typeface="Aptos"/>
              </a:rPr>
              <a:t>Physical: SSD • NVMe • HDD • cache • controllers •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C44C4C"/>
                </a:solidFill>
                <a:latin typeface="Aptos"/>
              </a:rPr>
              <a:t>Operational question: “Which layer owns the bottleneck?”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VMware Storage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VMDK, RDM, VMFS and vSAN — understand the data path before choosing a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VMware storage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vSphere presents storage through datastores and virtual disks; underlying storage can be SAN, NAS or vSAN.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41148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41148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33D"/>
                </a:solidFill>
                <a:latin typeface="Aptos"/>
              </a:rPr>
              <a:t>VMware by Broadcom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874519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VM / App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2606040"/>
            <a:ext cx="1682496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2148840"/>
            <a:ext cx="1874519" cy="9144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488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vSphere / ESXi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05272" y="2606040"/>
            <a:ext cx="1682496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75120" y="2148840"/>
            <a:ext cx="1874519" cy="914400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Datastore / vSAN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77072" y="2606040"/>
            <a:ext cx="1682495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2148840"/>
            <a:ext cx="1874519" cy="914400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FA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21488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Array / 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10287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133087"/>
            <a:ext cx="97840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Conceptual I/O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80560"/>
            <a:ext cx="97840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Guest OS → virtual disk → vSphere storage stack → datastore / vSAN → physical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dirty="0">
                <a:solidFill>
                  <a:srgbClr val="637387"/>
                </a:solidFill>
                <a:latin typeface="Aptos"/>
              </a:rPr>
              <a:t>External reference: Broadcom VMware Knowledge Base / </a:t>
            </a:r>
            <a:r>
              <a:rPr sz="800" b="0" dirty="0" err="1">
                <a:solidFill>
                  <a:srgbClr val="637387"/>
                </a:solidFill>
                <a:latin typeface="Aptos"/>
              </a:rPr>
              <a:t>vSAN</a:t>
            </a:r>
            <a:r>
              <a:rPr sz="800" b="0" dirty="0">
                <a:solidFill>
                  <a:srgbClr val="637387"/>
                </a:solidFill>
                <a:latin typeface="Aptos"/>
              </a:rPr>
              <a:t>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VMDK — the common virtual disk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VMDK is the virtual disk presented to a VM; the backing storage depends on the datastore.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20240" cy="109728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VM
Guest 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0048" y="2377440"/>
            <a:ext cx="7315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61488" y="202996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057400" cy="10972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057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VMDK
virtual disk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32704" y="2377440"/>
            <a:ext cx="713232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1508760"/>
            <a:ext cx="2240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673352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Datastore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240280"/>
            <a:ext cx="169164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VMFS / NFS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9952" y="2377440"/>
            <a:ext cx="612648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36608" y="1508760"/>
            <a:ext cx="1965960" cy="1737360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1691640"/>
            <a:ext cx="17190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79136"/>
                </a:solidFill>
                <a:latin typeface="Aptos"/>
              </a:rPr>
              <a:t>Physical / 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14884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SAN / NAS /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B6CB0"/>
                </a:solidFill>
                <a:latin typeface="Aptos"/>
              </a:rPr>
              <a:t>Teach: a VMDK is a logical disk object. Performance depends on the whole path, not the VMDK file name.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Source: VMware/Broadcom vSphere storage references; supplied ITC storage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RDM — mapping to a raw SAN LUN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RDM uses a mapping file while the VM accesses a physical device presented from the 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737360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33D"/>
                </a:solidFill>
                <a:latin typeface="Aptos"/>
              </a:rPr>
              <a:t>VM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286000"/>
            <a:ext cx="59436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1828800"/>
            <a:ext cx="2011680" cy="9144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C8A"/>
                </a:solidFill>
                <a:latin typeface="Aptos"/>
              </a:rPr>
              <a:t>RDM mapping
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0952" y="2286000"/>
            <a:ext cx="749808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828800"/>
            <a:ext cx="1920240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1920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SAN LUN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2286000"/>
            <a:ext cx="9144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1508760"/>
            <a:ext cx="2240280" cy="1554480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69164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79136"/>
                </a:solidFill>
                <a:latin typeface="Aptos"/>
              </a:rPr>
              <a:t>Storage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148840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FC / iSCSI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10424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968496"/>
            <a:ext cx="9875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Current design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VMware guidance now positions VMDK/VMFS or vSAN as the default for many workloads; RDMs remain relevant for specific functional or clustering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Broadcom KB 323064; VMware vSAN migration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vSAN — distributed storage for the vSphere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vSAN turns host-attached devices into a shared datastore managed through storage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1874519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ESXi Host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2578608"/>
            <a:ext cx="1097280" cy="3200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57860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SSD/NVMe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54680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139696"/>
            <a:ext cx="1874519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ESXi Host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578608"/>
            <a:ext cx="1097280" cy="3200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57860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SSD/NVMe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56632" y="2743200"/>
            <a:ext cx="4572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2139696"/>
            <a:ext cx="1874519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ESXi Host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2578608"/>
            <a:ext cx="1097280" cy="3200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1888" y="257860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SSD/NVMe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874519"/>
            <a:ext cx="2743200" cy="1783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202996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C8A"/>
                </a:solidFill>
                <a:latin typeface="Aptos"/>
              </a:rPr>
              <a:t>vSAN Datastore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32888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Objects + storage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64208" y="3657600"/>
            <a:ext cx="7708392" cy="0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87368" y="3657600"/>
            <a:ext cx="5285232" cy="0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10528" y="3657600"/>
            <a:ext cx="2862072" cy="0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069080"/>
            <a:ext cx="10332720" cy="914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06908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Aptos"/>
              </a:rPr>
              <a:t>Policy examples: failures to tolerate • RAID-1/erasure coding • stripe width • capacity reservation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VMware vSAN Architecture Overview; Broadcom KB 326593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VMDK vs RDM vs vSAN — conceptual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0" y="1783080"/>
            <a:ext cx="274320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7830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VMDK on VMFS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783080"/>
            <a:ext cx="237744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178308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RDM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783080"/>
            <a:ext cx="292608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178308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VMDK on vSAN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2377439"/>
            <a:ext cx="21396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Primary abstraction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317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2377439"/>
            <a:ext cx="25968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Virtual disk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331720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2377439"/>
            <a:ext cx="223113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Mapping to raw LUN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31720"/>
            <a:ext cx="2926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2377439"/>
            <a:ext cx="27797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Virtual disk object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44952"/>
            <a:ext cx="228600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1" y="3090672"/>
            <a:ext cx="21396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Backing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044952"/>
            <a:ext cx="274320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9232" y="3090672"/>
            <a:ext cx="25968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Datastore on block/file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3044952"/>
            <a:ext cx="237744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42432" y="3090672"/>
            <a:ext cx="223113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SAN LUN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044952"/>
            <a:ext cx="292608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1" y="3090672"/>
            <a:ext cx="27797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Distributed vSAN objects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3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1" y="3803903"/>
            <a:ext cx="21396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Management focus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758183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99232" y="3803903"/>
            <a:ext cx="25968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Datastore + VMDK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758183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42432" y="3803903"/>
            <a:ext cx="223113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SAN LUN + mapping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3758183"/>
            <a:ext cx="2926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19871" y="3803903"/>
            <a:ext cx="27797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Policy per object/VM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71416"/>
            <a:ext cx="228600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1" y="4517136"/>
            <a:ext cx="21396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Typical role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471416"/>
            <a:ext cx="274320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99232" y="4517136"/>
            <a:ext cx="259689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General VM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471416"/>
            <a:ext cx="237744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42432" y="4517136"/>
            <a:ext cx="223113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Specific functional needs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4471416"/>
            <a:ext cx="2926080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9871" y="4517136"/>
            <a:ext cx="27797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Cluster-converged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074920"/>
            <a:ext cx="10789920" cy="640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0749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Do not choose the technology first. Start with workload, availability, clustering and operational requirements.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VMware design note: the performance myth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Older storage designs often assumed RDM was automatically faster. Modern VMware guidance treats this as a design decision, not a default performance shortcut.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029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2176272"/>
            <a:ext cx="1508760" cy="320040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44C4C"/>
                </a:solidFill>
                <a:latin typeface="Aptos"/>
              </a:rPr>
              <a:t>OLD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434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233D"/>
                </a:solidFill>
                <a:latin typeface="Aptos"/>
              </a:rPr>
              <a:t>“Raw LUN access must be faster than VMDK.”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029200" cy="2926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9400" y="2176272"/>
            <a:ext cx="1508760" cy="3200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76272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MODERN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4480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233D"/>
                </a:solidFill>
                <a:latin typeface="Aptos"/>
              </a:rPr>
              <a:t>“Use VMDK by default; choose RDM for functional requirements.”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30368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Performance is end-to-end: controller, protocol, queueing, device latency, VM workload and policy all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VMware Cloud Foundation RDM vs VMDK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vSAN objects and storage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VMDK can be a logical object whose data is represented by components placed across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011680" cy="109728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33D"/>
                </a:solidFill>
                <a:latin typeface="Aptos"/>
              </a:rPr>
              <a:t>100 GB
VMDK object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514600"/>
            <a:ext cx="100584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874519"/>
            <a:ext cx="1783080" cy="12344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874519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33D"/>
                </a:solidFill>
                <a:latin typeface="Aptos"/>
              </a:rPr>
              <a:t>Component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1783080" cy="12344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874519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33D"/>
                </a:solidFill>
                <a:latin typeface="Aptos"/>
              </a:rPr>
              <a:t>Component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1783080" cy="1234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874519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33D"/>
                </a:solidFill>
                <a:latin typeface="Aptos"/>
              </a:rPr>
              <a:t>Witness / metadata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182112"/>
            <a:ext cx="0" cy="475488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3182112"/>
            <a:ext cx="0" cy="475488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79408" y="3182112"/>
            <a:ext cx="0" cy="475488"/>
          </a:xfrm>
          <a:prstGeom prst="line">
            <a:avLst/>
          </a:prstGeom>
          <a:ln w="12700">
            <a:solidFill>
              <a:srgbClr val="96A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94760" y="3730752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0" y="373075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Host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730752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373075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Host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730752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373075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Host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10332720" cy="65836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800600"/>
            <a:ext cx="99669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Storage Policy Based Management (SPBM) determines resilience and placement behavior.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VMware vSAN Architecture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Storage Tiering &amp; Auto-Tiering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Match the performance profile of the data to the cost profile of the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TIERING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What is storage tiering?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Data is placed on different media classes based on access, business value or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44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" y="2011680"/>
            <a:ext cx="438912" cy="438912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92807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Tier 1 — 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92807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ptos"/>
              </a:rPr>
              <a:t>NVMe / SSD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92807"/>
            <a:ext cx="4434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Low latency • high IOPS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44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2" y="3246120"/>
            <a:ext cx="438912" cy="438912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2461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27248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Tier 2 — 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12724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ptos"/>
              </a:rPr>
              <a:t>SAS / performance HDD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27248"/>
            <a:ext cx="4434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Balanced cost /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0744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4480560"/>
            <a:ext cx="438912" cy="438912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4805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361688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Tier 3 — Cold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3616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ptos"/>
              </a:rPr>
              <a:t>Capacity HDD / object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61688"/>
            <a:ext cx="4434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Low cost • infrequent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C8A"/>
                </a:solidFill>
                <a:latin typeface="Aptos"/>
              </a:rPr>
              <a:t>Goal: keep hot data fast, warm data balanced, and cold data economical.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Auto-tiering: the control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The platform observes access patterns and moves data according to policy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874519" cy="12344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591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B6CB0"/>
                </a:solidFill>
                <a:latin typeface="Aptos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Read/write activity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96312" y="2852928"/>
            <a:ext cx="2743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2240280"/>
            <a:ext cx="1874519" cy="12344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23591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69C8A"/>
                </a:solidFill>
                <a:latin typeface="Aptos"/>
              </a:rPr>
              <a:t>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Hot • warm • cold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64024" y="2852928"/>
            <a:ext cx="2743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2240280"/>
            <a:ext cx="1874519" cy="123444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23591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79136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Policy + cooling period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31736" y="2852928"/>
            <a:ext cx="2743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2240280"/>
            <a:ext cx="1874519" cy="12344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97496" y="23591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B6CB0"/>
                </a:solidFill>
                <a:latin typeface="Aptos"/>
              </a:rPr>
              <a:t>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Promote / demote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99448" y="2852928"/>
            <a:ext cx="274319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2240280"/>
            <a:ext cx="1874519" cy="12344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5208" y="23591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69C8A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Performance + capacity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160520"/>
            <a:ext cx="8458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4160520"/>
            <a:ext cx="8092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33D"/>
                </a:solidFill>
                <a:latin typeface="Aptos"/>
              </a:rPr>
              <a:t>Example trigger: data not accessed for N days → eligible for a lower-cost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 example: NetApp FabricPool tiering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Auto-tiering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policy engine sits between workload telemetry and placement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011680" cy="246888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33D"/>
                </a:solidFill>
                <a:latin typeface="Aptos"/>
              </a:rPr>
              <a:t>Workloads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0604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OLTP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90088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99008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VDI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74136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74136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58184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58184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Archive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3063240"/>
            <a:ext cx="960119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1828800"/>
            <a:ext cx="2148840" cy="24688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199339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C8A"/>
                </a:solidFill>
                <a:latin typeface="Aptos"/>
              </a:rPr>
              <a:t>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606040"/>
            <a:ext cx="150876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260604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IOPS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990088"/>
            <a:ext cx="150876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299008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374136"/>
            <a:ext cx="150876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3374136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bytes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58184"/>
            <a:ext cx="150876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60520" y="37581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heat score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8" y="3063240"/>
            <a:ext cx="9144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40880" y="1828800"/>
            <a:ext cx="2148840" cy="246888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199339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79136"/>
                </a:solidFill>
                <a:latin typeface="Aptos"/>
              </a:rPr>
              <a:t>Policy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42631" y="2606040"/>
            <a:ext cx="1554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42631" y="260604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thresholds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42631" y="2990088"/>
            <a:ext cx="1554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42631" y="299008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cooling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2631" y="3374136"/>
            <a:ext cx="1554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42631" y="3374136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SLA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2631" y="3758184"/>
            <a:ext cx="15544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2631" y="3758184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cost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81160" y="3063240"/>
            <a:ext cx="82296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49840" y="1828800"/>
            <a:ext cx="1325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68128" y="201168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Tiers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14432" y="2651760"/>
            <a:ext cx="1005840" cy="274320"/>
          </a:xfrm>
          <a:prstGeom prst="roundRect">
            <a:avLst/>
          </a:prstGeom>
          <a:solidFill>
            <a:srgbClr val="FAF4EC"/>
          </a:solidFill>
          <a:ln w="12700">
            <a:solidFill>
              <a:srgbClr val="FA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14432" y="265176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SSD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14432" y="3054096"/>
            <a:ext cx="1005840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14432" y="3054096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HDD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14432" y="3456432"/>
            <a:ext cx="1005840" cy="2743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14432" y="3456432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Cloud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Promotion and demotion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Tiering can be directional: hot data moves upward; cold data moves downward.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737360"/>
            <a:ext cx="2103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9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173736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79136"/>
                </a:solidFill>
                <a:latin typeface="Aptos"/>
              </a:rPr>
              <a:t>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880360"/>
            <a:ext cx="2103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288036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A0BE"/>
                </a:solidFill>
                <a:latin typeface="Aptos"/>
              </a:rPr>
              <a:t>WARM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023360"/>
            <a:ext cx="2103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69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402336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C8A"/>
                </a:solidFill>
                <a:latin typeface="Aptos"/>
              </a:rPr>
              <a:t>COLD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78040" y="1783080"/>
            <a:ext cx="0" cy="2606040"/>
          </a:xfrm>
          <a:prstGeom prst="line">
            <a:avLst/>
          </a:prstGeom>
          <a:ln w="38100">
            <a:solidFill>
              <a:srgbClr val="E791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2057400"/>
            <a:ext cx="0" cy="2103120"/>
          </a:xfrm>
          <a:prstGeom prst="line">
            <a:avLst/>
          </a:prstGeom>
          <a:ln w="38100">
            <a:solidFill>
              <a:srgbClr val="269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43800" y="192024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9136"/>
                </a:solidFill>
                <a:latin typeface="Aptos"/>
              </a:rPr>
              <a:t>PROMOTE on sustained 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69C8A"/>
                </a:solidFill>
                <a:latin typeface="Aptos"/>
              </a:rPr>
              <a:t>DEMOTE after cooling / inactivity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14884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148840"/>
            <a:ext cx="23774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33D"/>
                </a:solidFill>
                <a:latin typeface="Aptos"/>
              </a:rPr>
              <a:t>Important: movement
creates I/O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Vendor examples: the same concept, different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084831"/>
            <a:ext cx="1417320" cy="3657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Aptos"/>
              </a:rPr>
              <a:t>VMware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vSAN storage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7"/>
                </a:solidFill>
                <a:latin typeface="Aptos"/>
              </a:rPr>
              <a:t>Teach the principle,
then show the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8288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75887" y="2084831"/>
            <a:ext cx="1417320" cy="3657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2084831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NetApp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69748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FabricPool / ONTAP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52044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7"/>
                </a:solidFill>
                <a:latin typeface="Aptos"/>
              </a:rPr>
              <a:t>Teach the principle,
then show the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288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7376" y="2084831"/>
            <a:ext cx="1417320" cy="3657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084831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0A0BE"/>
                </a:solidFill>
                <a:latin typeface="Aptos"/>
              </a:rPr>
              <a:t>Dell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9748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PowerStore / PowerMax tiering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52044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7"/>
                </a:solidFill>
                <a:latin typeface="Aptos"/>
              </a:rPr>
              <a:t>Teach the principle,
then show the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8288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98864" y="2084831"/>
            <a:ext cx="1417320" cy="3657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4" y="2084831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79136"/>
                </a:solidFill>
                <a:latin typeface="Aptos"/>
              </a:rPr>
              <a:t>HPE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69748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3PAR / Primera / Alletra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52044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7"/>
                </a:solidFill>
                <a:latin typeface="Aptos"/>
              </a:rPr>
              <a:t>Teach the principle,
then show the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09160"/>
            <a:ext cx="10652760" cy="62179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10287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Vendor names change; the design question stays: “Which data deserves which media?”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Thin Provisioning, Compression &amp; Deduplication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Reduce wasted capacity — while understanding the operational risks of oversubscription.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Thin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Present capacity up front, allocate physical space as data is actually written.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Host sees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743200"/>
            <a:ext cx="2560320" cy="5029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B6CB0"/>
                </a:solidFill>
                <a:latin typeface="Aptos"/>
              </a:rPr>
              <a:t>10 TB virtual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2743200" cy="32918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993392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Physical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74320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1 TB allocated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310128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3310128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0.5 TB allocated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877056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387705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0.25 TB allocated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3800" y="3246120"/>
            <a:ext cx="6858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1828800"/>
            <a:ext cx="3154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Watch-outs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651760"/>
            <a:ext cx="2514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Pool exhaustion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False capacity confidence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Growth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dirty="0">
                <a:solidFill>
                  <a:srgbClr val="637387"/>
                </a:solidFill>
                <a:latin typeface="Aptos"/>
              </a:rPr>
              <a:t>Source: supplied ITC storage deck; VMware and NetApp storage-efficiency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Thin vs thick 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The difference is when physical space is committed.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92608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Characteristic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365760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3657600" cy="502920"/>
          </a:xfrm>
          <a:prstGeom prst="rect">
            <a:avLst/>
          </a:prstGeom>
          <a:solidFill>
            <a:srgbClr val="14233D"/>
          </a:solidFill>
          <a:ln w="1270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404872"/>
            <a:ext cx="279806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Physical capacity at 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3774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24048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Allocated on 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774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7768" y="24048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Committed at creation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63240"/>
            <a:ext cx="292608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090672"/>
            <a:ext cx="279806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Overprovisioning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063240"/>
            <a:ext cx="365760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30906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063240"/>
            <a:ext cx="365760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30906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Generally avoided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49039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776472"/>
            <a:ext cx="279806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749039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30168" y="37764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Requires growth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749039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87768" y="37764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Capacity is reserved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434840"/>
            <a:ext cx="292608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4462272"/>
            <a:ext cx="279806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83442"/>
                </a:solidFill>
                <a:latin typeface="Aptos"/>
              </a:rPr>
              <a:t>Typical 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434840"/>
            <a:ext cx="365760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44622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283442"/>
                </a:solidFill>
                <a:latin typeface="Aptos"/>
              </a:rPr>
              <a:t>Variable / elastic demand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434840"/>
            <a:ext cx="3657600" cy="658368"/>
          </a:xfrm>
          <a:prstGeom prst="rect">
            <a:avLst/>
          </a:prstGeom>
          <a:solidFill>
            <a:srgbClr val="F6F8FB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87768" y="4462272"/>
            <a:ext cx="35295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Predictable / guaranteed capacity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431536"/>
            <a:ext cx="10058400" cy="640080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9883" y="5458968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C44C4C"/>
                </a:solidFill>
                <a:latin typeface="Aptos"/>
              </a:rPr>
              <a:t>Remember: “thin” is a provisioning behavior, not a performance guarantee.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Broadcom KB 343258; NetApp ONTAP storage efficiency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Encode data more compactly so fewer physical bytes are stored.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058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1 TB logical
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1880" y="2514600"/>
            <a:ext cx="1097280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85615" y="2057400"/>
            <a:ext cx="777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compress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011680"/>
            <a:ext cx="2743200" cy="10058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69C8A"/>
                </a:solidFill>
                <a:latin typeface="Aptos"/>
              </a:rPr>
              <a:t>700 GB physical
(example)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373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Compression depends 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95728"/>
            <a:ext cx="28346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Text often compresses well;
compressed/encrypted media may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Trade-off lens: saved capacity ↔ CPU/controller work ↔ workload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Dell PowerStore data reduction; NetApp ONTAP storage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Identify duplicate blocks and keep one unique copy with references.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77724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965960"/>
            <a:ext cx="777240" cy="5943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9659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777240" cy="5943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80360"/>
            <a:ext cx="77724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880360"/>
            <a:ext cx="777240" cy="5943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28803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880360"/>
            <a:ext cx="777240" cy="5943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880360"/>
            <a:ext cx="777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Before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9080" y="2834640"/>
            <a:ext cx="1097280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2395728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37387"/>
                </a:solidFill>
                <a:latin typeface="Aptos"/>
              </a:rPr>
              <a:t>hash / compare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1965960"/>
            <a:ext cx="1005840" cy="5943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1965960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965960"/>
            <a:ext cx="1005840" cy="5943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965960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965960"/>
            <a:ext cx="100584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1965960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788920"/>
            <a:ext cx="3383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C8A"/>
                </a:solidFill>
                <a:latin typeface="Aptos"/>
              </a:rPr>
              <a:t>References point to unique blocks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7830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196596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69C8A"/>
                </a:solidFill>
                <a:latin typeface="Aptos"/>
              </a:rPr>
              <a:t>3:1
example 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251960"/>
            <a:ext cx="10378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Actual savings depend on workload, block size, change rate and whether data is already unique.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Source: supplied ITC storage deck; NetApp/Dell data-reduction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Compression vs deduplication — not the same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176272"/>
            <a:ext cx="1280160" cy="34747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280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Deduplication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Removes redundancy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73552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Many copies → one unique 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202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81728" y="2176272"/>
            <a:ext cx="128016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176272"/>
            <a:ext cx="1280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432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Shrinks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273552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One block → fewer physical bytes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9202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49056" y="2176272"/>
            <a:ext cx="1280160" cy="347472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176272"/>
            <a:ext cx="1280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7432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Reduce physical footprint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73552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Dedup first / compression after, depending on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709160"/>
            <a:ext cx="9875520" cy="65836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70916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C8A"/>
                </a:solidFill>
                <a:latin typeface="Aptos"/>
              </a:rPr>
              <a:t>Think “duplicate elimination” vs “compact encoding.”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Stacking efficiency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workload can benefit from multiple controls — but the effective result must be measured, not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755648"/>
            <a:ext cx="8138160" cy="56692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Logical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755648"/>
            <a:ext cx="4983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10 TB presented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505456"/>
            <a:ext cx="8138160" cy="56692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505456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Thin provisioning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505456"/>
            <a:ext cx="4983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3 TB physically allocated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55263"/>
            <a:ext cx="8138160" cy="566928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255263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Deduplication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255263"/>
            <a:ext cx="4983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2.4 TB unique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005072"/>
            <a:ext cx="8138160" cy="566928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005072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005072"/>
            <a:ext cx="4983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83442"/>
                </a:solidFill>
                <a:latin typeface="Aptos"/>
              </a:rPr>
              <a:t>2.0 TB physical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783080"/>
            <a:ext cx="187451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196596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514600"/>
            <a:ext cx="15361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83442"/>
                </a:solidFill>
                <a:latin typeface="Aptos"/>
              </a:defRPr>
            </a:pPr>
            <a:r>
              <a:t>Logical</a:t>
            </a:r>
          </a:p>
          <a:p>
            <a:pPr>
              <a:spcAft>
                <a:spcPts val="600"/>
              </a:spcAft>
              <a:defRPr sz="1100">
                <a:solidFill>
                  <a:srgbClr val="283442"/>
                </a:solidFill>
                <a:latin typeface="Aptos"/>
              </a:defRPr>
            </a:pPr>
            <a:r>
              <a:t>Physical</a:t>
            </a:r>
          </a:p>
          <a:p>
            <a:pPr>
              <a:spcAft>
                <a:spcPts val="600"/>
              </a:spcAft>
              <a:defRPr sz="1100">
                <a:solidFill>
                  <a:srgbClr val="283442"/>
                </a:solidFill>
                <a:latin typeface="Aptos"/>
              </a:defRPr>
            </a:pPr>
            <a:r>
              <a:t>Savings</a:t>
            </a:r>
          </a:p>
          <a:p>
            <a:pPr>
              <a:spcAft>
                <a:spcPts val="600"/>
              </a:spcAft>
              <a:defRPr sz="1100">
                <a:solidFill>
                  <a:srgbClr val="283442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56048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44C4C"/>
                </a:solidFill>
                <a:latin typeface="Aptos"/>
              </a:rPr>
              <a:t>Effective efficiency = workload-dependent outcome, not marketing ratio.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Vendor examples: storage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64208"/>
            <a:ext cx="108356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69164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Dell PowerStore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5212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Data reduction: deduplication + compression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37360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Monitoring shows savings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05456"/>
            <a:ext cx="108356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670048"/>
            <a:ext cx="169164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NetApp ONTAP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78608"/>
            <a:ext cx="5212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Thin provisioning + dedup + compression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78608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Logical vs physical capacity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108356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3511296"/>
            <a:ext cx="169164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A0BE"/>
                </a:solidFill>
                <a:latin typeface="Aptos"/>
              </a:rPr>
              <a:t>vSAN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19856"/>
            <a:ext cx="5212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Deduplication + compression on supported architectures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419856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Policy and datastore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87952"/>
            <a:ext cx="108356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4352544"/>
            <a:ext cx="169164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52544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HPE 3PAR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61104"/>
            <a:ext cx="5212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Thin provisioning and related efficiency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61104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Monitor oversubscription and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Performance Concepts &amp;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Turn IOPS, latency and throughput into a practical troubleshooting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The three headline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IOPS counts work. Throughput measures data moved. Latency measures time per I/O.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29967" y="2194560"/>
            <a:ext cx="658368" cy="658368"/>
          </a:xfrm>
          <a:prstGeom prst="ellipse">
            <a:avLst/>
          </a:prstGeom>
          <a:solidFill>
            <a:srgbClr val="2B6C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29967" y="21945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233D"/>
                </a:solidFill>
                <a:latin typeface="Aptos"/>
              </a:rPr>
              <a:t>IOPS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I/O operations per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22191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Think: request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874519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97296" y="2194560"/>
            <a:ext cx="658368" cy="658368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97296" y="21945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233D"/>
                </a:solidFill>
                <a:latin typeface="Aptos"/>
              </a:rPr>
              <a:t>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4290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Data moved per 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822191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Think: MB/s or GB/s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874519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4624" y="2194560"/>
            <a:ext cx="658368" cy="658368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64624" y="21945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29718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233D"/>
                </a:solidFill>
                <a:latin typeface="Aptos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3429000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83442"/>
                </a:solidFill>
                <a:latin typeface="Aptos"/>
              </a:rPr>
              <a:t>Time to complete an I/O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3822191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Think: ms / µs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00600"/>
            <a:ext cx="10287000" cy="62179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9921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The best metric depends on the workload. OLTP cares strongly about latency; analytics often cares about throughput.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A useful relationship: IOPS × I/O size ≈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Use this mental model to connect small random I/O with large sequential transfers.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2834640" cy="109728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6CB0"/>
                </a:solidFill>
                <a:latin typeface="Aptos"/>
              </a:rPr>
              <a:t>4,000 IOPS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21408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4233D"/>
                </a:solidFill>
                <a:latin typeface="Aptos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874519"/>
            <a:ext cx="2834640" cy="10972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1874519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69C8A"/>
                </a:solidFill>
                <a:latin typeface="Aptos"/>
              </a:rPr>
              <a:t>64 KB /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21408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4233D"/>
                </a:solidFill>
                <a:latin typeface="Aptos"/>
              </a:rPr>
              <a:t>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74519"/>
            <a:ext cx="1920240" cy="109728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1874519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79136"/>
                </a:solidFill>
                <a:latin typeface="Aptos"/>
              </a:rPr>
              <a:t>256 MB/s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This is a teaching approximation. Real systems are affected by protocol overhead, queueing, cache behavior, compression, RAID layout and contention.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Where does latency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Total response time is a sum of multiple wait/service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874519" cy="1417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Guest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queue / scheduler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70632"/>
            <a:ext cx="283464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2057400"/>
            <a:ext cx="1874519" cy="14173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219456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Hypervisor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633472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virtual storage stack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45736" y="2770632"/>
            <a:ext cx="283464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11496" y="2057400"/>
            <a:ext cx="1874519" cy="1417320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11496" y="219456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633472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switch / fabric / TCP or FC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4" y="2770632"/>
            <a:ext cx="283464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70064" y="2057400"/>
            <a:ext cx="1874519" cy="141732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19456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633472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controller / cache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62872" y="2770632"/>
            <a:ext cx="283464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28632" y="2057400"/>
            <a:ext cx="1874519" cy="1417320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28632" y="2194560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633472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SSD / HDD / NVMe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420624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40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C44C4C"/>
                </a:solidFill>
                <a:latin typeface="Aptos"/>
              </a:rPr>
              <a:t>Troubleshooting rule: measure multiple layers before changing the storage array.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dirty="0">
                <a:solidFill>
                  <a:srgbClr val="637387"/>
                </a:solidFill>
                <a:latin typeface="Aptos"/>
              </a:rPr>
              <a:t>Source: supplied ITC deck latency definitions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Queue depth: when more work is waiting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rising queue with rising latency is a key signal of a constrained resource.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Healthy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20824"/>
            <a:ext cx="6217920" cy="4114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94560" y="2020824"/>
            <a:ext cx="1367942" cy="4114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83442"/>
                </a:solidFill>
                <a:latin typeface="Aptos"/>
              </a:rPr>
              <a:t>queue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Busy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980944"/>
            <a:ext cx="6217920" cy="4114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94560" y="2980944"/>
            <a:ext cx="3108960" cy="4114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83442"/>
                </a:solidFill>
                <a:latin typeface="Aptos"/>
              </a:rPr>
              <a:t>queue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Constrained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3941063"/>
            <a:ext cx="6217920" cy="411480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94560" y="3941063"/>
            <a:ext cx="5596128" cy="411480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3886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83442"/>
                </a:solidFill>
                <a:latin typeface="Aptos"/>
              </a:rPr>
              <a:t>queue 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10287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Do not tune queue depth blindly: the correct queue depends on device, workload and vendor guidance.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Source: supplied ITC deck queue-length / response-time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Workload fingerprints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Before changing storage, classify the workload.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" y="2148840"/>
            <a:ext cx="109728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OLTP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Small random I/O
Latency sensitive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657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37387"/>
                </a:solidFill>
                <a:latin typeface="Aptos"/>
              </a:rPr>
              <a:t>Ask first: what does “fast” mean 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828800"/>
            <a:ext cx="2514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03320" y="2148840"/>
            <a:ext cx="109728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14884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VDI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76148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Bursty random I/O
Many concurrent VMs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657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37387"/>
                </a:solidFill>
                <a:latin typeface="Aptos"/>
              </a:rPr>
              <a:t>Ask first: what does “fast” mean here?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514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4808" y="2148840"/>
            <a:ext cx="109728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214884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6148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Large sequential I/O
Throughput sensitive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657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37387"/>
                </a:solidFill>
                <a:latin typeface="Aptos"/>
              </a:rPr>
              <a:t>Ask first: what does “fast” mean here?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828800"/>
            <a:ext cx="2514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26296" y="2148840"/>
            <a:ext cx="1097280" cy="34747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214884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A0BE"/>
                </a:solidFill>
                <a:latin typeface="Aptos"/>
              </a:rPr>
              <a:t>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76148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Large sequential streams
Window constrained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657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37387"/>
                </a:solidFill>
                <a:latin typeface="Aptos"/>
              </a:rPr>
              <a:t>Ask first: what does “fast” mean here?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Performance tuning decision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011680" cy="7315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Latency high?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2194560"/>
            <a:ext cx="9601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1691640"/>
            <a:ext cx="1920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691640"/>
            <a:ext cx="1920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Check queue /
network / array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194560"/>
            <a:ext cx="7315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691640"/>
            <a:ext cx="1965960" cy="10058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C8A"/>
                </a:solidFill>
                <a:latin typeface="Aptos"/>
              </a:rPr>
              <a:t>Then check
media /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2194560"/>
            <a:ext cx="68580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26880" y="1691640"/>
            <a:ext cx="2011680" cy="100584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69164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79136"/>
                </a:solidFill>
                <a:latin typeface="Aptos"/>
              </a:rPr>
              <a:t>Change one
variable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794760"/>
            <a:ext cx="8092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3794760"/>
            <a:ext cx="77266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83442"/>
                </a:solidFill>
                <a:latin typeface="Aptos"/>
              </a:rPr>
              <a:t>If IOPS is low and latency is low, the bottleneck may be upstream: workload, application, host or queue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Common tuning levers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" y="1984248"/>
            <a:ext cx="10972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Right-size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8658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Do not provision a faster tier than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90288" y="1984248"/>
            <a:ext cx="1097280" cy="310896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Separate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8658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Reduce noisy-neighbor contention.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93608" y="1984248"/>
            <a:ext cx="10972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98424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A0BE"/>
                </a:solidFill>
                <a:latin typeface="Aptos"/>
              </a:rPr>
              <a:t>Check queueing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8658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Validate queue depth at multiple layers.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39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6968" y="3493008"/>
            <a:ext cx="10972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49300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Use cache wisely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89534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Burst performance is not steady-state performance.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91839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90288" y="3493008"/>
            <a:ext cx="10972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49300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33D"/>
                </a:solidFill>
                <a:latin typeface="Aptos"/>
              </a:rPr>
              <a:t>Validate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9534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Check bandwidth, errors, congestion.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291839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93608" y="3493008"/>
            <a:ext cx="10972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3493008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44C4C"/>
                </a:solidFill>
                <a:latin typeface="Aptos"/>
              </a:rPr>
              <a:t>Measure after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895344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Use before/after baselines.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39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Cache: why the same disk can feel fast or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Caches absorb bursts and accelerate reads/writes — but sustained workload must still fit the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77440" cy="2560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Host I/O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697480"/>
            <a:ext cx="1554480" cy="34747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Burst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246120"/>
            <a:ext cx="1554480" cy="34747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Small I/O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108960"/>
            <a:ext cx="1005840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80" y="1828800"/>
            <a:ext cx="2377440" cy="256032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96596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97480"/>
            <a:ext cx="15544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69748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Absorb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246120"/>
            <a:ext cx="15544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324612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Reorder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3108960"/>
            <a:ext cx="1005840" cy="0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1828800"/>
            <a:ext cx="3474720" cy="256032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EB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79136"/>
                </a:solidFill>
                <a:latin typeface="Aptos"/>
              </a:rPr>
              <a:t>Backend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8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83442"/>
                </a:solidFill>
                <a:latin typeface="Aptos"/>
              </a:rPr>
              <a:t>SSD / NVMe / HDD
RAID / pool behavior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846320"/>
            <a:ext cx="9692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846320"/>
            <a:ext cx="9326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44C4C"/>
                </a:solidFill>
                <a:latin typeface="Aptos"/>
              </a:rPr>
              <a:t>Watch steady-state latency — not only the “hero” cache number.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Source: supplied Intelligent Storage System cache 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Benchmarking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Synthetic numbers can mislead when workload patterns differ from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44752" y="2240280"/>
            <a:ext cx="457200" cy="457200"/>
          </a:xfrm>
          <a:prstGeom prst="ellipse">
            <a:avLst/>
          </a:prstGeom>
          <a:solidFill>
            <a:srgbClr val="2B6C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44752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Block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1645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4 KB vs 1 MB can tell different stories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96596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12463" y="2240280"/>
            <a:ext cx="457200" cy="457200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2463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88036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Read/write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429000"/>
            <a:ext cx="1645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70/30 ≠ 100%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196596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80176" y="2240280"/>
            <a:ext cx="457200" cy="45720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0176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88036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Randomness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429000"/>
            <a:ext cx="1645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Random I/O stresses differently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96596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2240280"/>
            <a:ext cx="457200" cy="457200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88036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Concurrency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5" y="3429000"/>
            <a:ext cx="1645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1 VM ≠ 100 VMs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196596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15600" y="2240280"/>
            <a:ext cx="457200" cy="457200"/>
          </a:xfrm>
          <a:prstGeom prst="ellipse">
            <a:avLst/>
          </a:prstGeom>
          <a:solidFill>
            <a:srgbClr val="C44C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0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88036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33D"/>
                </a:solidFill>
                <a:latin typeface="Aptos"/>
              </a:rPr>
              <a:t>Cache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429000"/>
            <a:ext cx="1645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Cold cache ≠ warm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Monitoring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Correlate performance, capacity, health and trends across the storage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What should a storage monitoring tool show?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64208"/>
            <a:ext cx="10561320" cy="60350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2377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VM /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64208"/>
            <a:ext cx="7223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Latency • IOPS • throughput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10561320" cy="603504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377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Host / hypervisor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7223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Datastore latency • HBA/NIC • CPU/memory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73552"/>
            <a:ext cx="10561320" cy="603504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2377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Fabric /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73552"/>
            <a:ext cx="7223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Port errors • drops • utilization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78224"/>
            <a:ext cx="10561320" cy="603504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078224"/>
            <a:ext cx="2377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78224"/>
            <a:ext cx="7223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Controller load • cache • pool • 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82896"/>
            <a:ext cx="10561320" cy="603504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882896"/>
            <a:ext cx="2377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82896"/>
            <a:ext cx="7223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Drive health • latency •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Monitoring tool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Use the tool that sees the layer where the symptom appears.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764792"/>
            <a:ext cx="14173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VMware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vCenter / vSAN performance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73352"/>
            <a:ext cx="4251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VM, host, datastore, vSAN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2587752"/>
            <a:ext cx="14173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58775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Dell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9631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PowerStore Manager / CloudIQ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96312"/>
            <a:ext cx="4251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Array health +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0392" y="3410712"/>
            <a:ext cx="14173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41071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A0BE"/>
                </a:solidFill>
                <a:latin typeface="Aptos"/>
              </a:rPr>
              <a:t>NetApp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1927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ONTAP System Manager / Active 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19272"/>
            <a:ext cx="4251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Capacity + efficiency +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2" y="4233672"/>
            <a:ext cx="14173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23367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HPE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14223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OneView / Data Services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42232"/>
            <a:ext cx="4251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Infrastructure + storage health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0392" y="5056631"/>
            <a:ext cx="14173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5056631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OS / fabric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96519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Windows perf tools / switch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965192"/>
            <a:ext cx="4251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Host + network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 vendor documentation used for current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371600" cy="29260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VMware monitoring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Start from the affected VM, then walk down the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084831"/>
            <a:ext cx="100584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6CB0"/>
                </a:solidFill>
                <a:latin typeface="Aptos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33D"/>
                </a:solidFill>
                <a:latin typeface="Aptos"/>
              </a:rPr>
              <a:t>Check the signal
for this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288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75887" y="2084831"/>
            <a:ext cx="100584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084831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Datastore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697480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33D"/>
                </a:solidFill>
                <a:latin typeface="Aptos"/>
              </a:rPr>
              <a:t>Check the signal
for this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37376" y="2084831"/>
            <a:ext cx="100584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084831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A0BE"/>
                </a:solidFill>
                <a:latin typeface="Aptos"/>
              </a:rPr>
              <a:t>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33D"/>
                </a:solidFill>
                <a:latin typeface="Aptos"/>
              </a:rPr>
              <a:t>Check the signal
for this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82880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98864" y="2084831"/>
            <a:ext cx="100584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4" y="2084831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9136"/>
                </a:solidFill>
                <a:latin typeface="Aptos"/>
              </a:rPr>
              <a:t>vSAN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697480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33D"/>
                </a:solidFill>
                <a:latin typeface="Aptos"/>
              </a:rPr>
              <a:t>Check the signal
for this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617720"/>
            <a:ext cx="9966960" cy="65836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4617720"/>
            <a:ext cx="9601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Broadcom documents vSAN graphs for IOPS, throughput and latency at cluster, VM and disk levels.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Broadcom KB 326953 — vSAN performance graphs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Dell example: performance + data reduction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1508760" cy="384048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DELL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4754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4251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IOPS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Throughput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Latency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Resource utilization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423160"/>
            <a:ext cx="4937760" cy="22860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265176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246120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Deduplication savings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Compression savings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Thin provisioning</a:t>
            </a:r>
          </a:p>
          <a:p>
            <a:pPr>
              <a:spcAft>
                <a:spcPts val="600"/>
              </a:spcAft>
              <a:defRPr sz="1200">
                <a:solidFill>
                  <a:srgbClr val="283442"/>
                </a:solidFill>
                <a:latin typeface="Aptos"/>
              </a:defRPr>
            </a:pPr>
            <a:r>
              <a:t>Capacity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Dell PowerStore monitoring and data-reduction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NetApp example: physical vs logical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Modern monitoring separates what the host thinks it has from what the array physically consumes.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554480" cy="38404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NetApp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4480560" cy="21945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ptos"/>
              </a:rPr>
              <a:t>Logical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91840"/>
            <a:ext cx="3154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291840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8 TB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423160"/>
            <a:ext cx="4480560" cy="219456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0" y="265176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Physical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91840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2918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3 TB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40680" y="3794760"/>
            <a:ext cx="457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98348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3442"/>
                </a:solidFill>
                <a:latin typeface="Aptos"/>
              </a:rPr>
              <a:t>Compression and deduplication can make physical used capacity lower than logical used capacity.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External: NetApp ONTAP capacity measurements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Monitoring is more than 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Good monitoring turns metrics into actionable thresholds and trends.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0" y="2194560"/>
            <a:ext cx="502920" cy="502920"/>
          </a:xfrm>
          <a:prstGeom prst="ellipse">
            <a:avLst/>
          </a:prstGeom>
          <a:solidFill>
            <a:srgbClr val="2B6C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Know the normal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07408" y="2194560"/>
            <a:ext cx="502920" cy="502920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92608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40156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Warning before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68896" y="2194560"/>
            <a:ext cx="502920" cy="502920"/>
          </a:xfrm>
          <a:prstGeom prst="ellipse">
            <a:avLst/>
          </a:prstGeom>
          <a:solidFill>
            <a:srgbClr val="C44C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68896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92608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40156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Action required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920240"/>
            <a:ext cx="2514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30384" y="2194560"/>
            <a:ext cx="502920" cy="502920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0384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92608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33D"/>
                </a:solidFill>
                <a:latin typeface="Aptos"/>
              </a:rPr>
              <a:t>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340156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Predict capacity / demand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663440"/>
            <a:ext cx="9966960" cy="658368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4663440"/>
            <a:ext cx="9601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A metric without a baseline is a number. A metric with a baseline becomes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Correlate capacity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storage pool can be healthy on capacity and unhealthy on latency — or the reverse.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4983480" cy="306324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ptos"/>
              </a:rPr>
              <a:t>Case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7860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233D"/>
                </a:solidFill>
                <a:latin typeface="Aptos"/>
              </a:rPr>
              <a:t>Capacity 45%
Latency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703320"/>
            <a:ext cx="2743200" cy="384048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C44C4C"/>
                </a:solidFill>
                <a:latin typeface="Aptos"/>
              </a:rPr>
              <a:t>Performance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4983480" cy="306324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993392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9C8A"/>
                </a:solidFill>
                <a:latin typeface="Aptos"/>
              </a:rPr>
              <a:t>Case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7860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233D"/>
                </a:solidFill>
                <a:latin typeface="Aptos"/>
              </a:rPr>
              <a:t>Capacity 92%
Latency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703320"/>
            <a:ext cx="2560320" cy="384048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3703320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79136"/>
                </a:solidFill>
                <a:latin typeface="Aptos"/>
              </a:rPr>
              <a:t>Capacity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A simple storage-ops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Example of the minimum views a storage operator should want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911095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IOPS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94560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B6CB0"/>
                </a:solidFill>
                <a:latin typeface="Aptos"/>
              </a:rPr>
              <a:t>18.2K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7" y="2194560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0087" y="2194560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B6CB0"/>
                </a:solidFill>
                <a:latin typeface="Aptos"/>
              </a:rPr>
              <a:t>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556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911095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94560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69C8A"/>
                </a:solidFill>
                <a:latin typeface="Aptos"/>
              </a:rPr>
              <a:t>1.8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7" y="2194560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7" y="2194560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69C8A"/>
                </a:solidFill>
                <a:latin typeface="Aptos"/>
              </a:rPr>
              <a:t>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11095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0A0BE"/>
                </a:solidFill>
                <a:latin typeface="Aptos"/>
              </a:rPr>
              <a:t>740 MB/s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2194560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96728" y="2194560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0A0BE"/>
                </a:solidFill>
                <a:latin typeface="Aptos"/>
              </a:rPr>
              <a:t>trend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36976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92424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Pool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75887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79136"/>
                </a:solidFill>
                <a:latin typeface="Aptos"/>
              </a:rPr>
              <a:t>68%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90087" y="3675887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0087" y="3675887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E79136"/>
                </a:solidFill>
                <a:latin typeface="Aptos"/>
              </a:rPr>
              <a:t>trend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236976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4568" y="3392424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Dedup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675887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4233D"/>
                </a:solidFill>
                <a:latin typeface="Aptos"/>
              </a:rPr>
              <a:t>2.4×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3407" y="3675887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93407" y="3675887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4233D"/>
                </a:solidFill>
                <a:latin typeface="Aptos"/>
              </a:rPr>
              <a:t>trend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236976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3392424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7387"/>
                </a:solidFill>
                <a:latin typeface="Aptos"/>
              </a:rPr>
              <a:t>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675887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C44C4C"/>
                </a:solidFill>
                <a:latin typeface="Aptos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96728" y="3675887"/>
            <a:ext cx="658368" cy="2743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96728" y="3675887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C44C4C"/>
                </a:solidFill>
                <a:latin typeface="Aptos"/>
              </a:rPr>
              <a:t>trend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49808"/>
            <a:ext cx="9052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Scenario Lab &amp;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0E0F0"/>
                </a:solidFill>
                <a:latin typeface="Aptos"/>
              </a:rPr>
              <a:t>Apply the concepts to a banking workload and explain your troubleshooting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4517136"/>
            <a:ext cx="850392" cy="0"/>
          </a:xfrm>
          <a:prstGeom prst="line">
            <a:avLst/>
          </a:prstGeom>
          <a:ln w="25400">
            <a:solidFill>
              <a:srgbClr val="78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160520"/>
            <a:ext cx="1828800" cy="71323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E6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Scenario: retail bank transaction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A production VM is reporting slow database response during the morning peak.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9834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371600" cy="329184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44C4C"/>
                </a:solidFill>
                <a:latin typeface="Aptos"/>
              </a:rPr>
              <a:t>SYMPTOMS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rPr dirty="0"/>
              <a:t>VM latency increased from 2 </a:t>
            </a:r>
            <a:r>
              <a:rPr dirty="0" err="1"/>
              <a:t>ms</a:t>
            </a:r>
            <a:r>
              <a:rPr dirty="0"/>
              <a:t> → 8 </a:t>
            </a:r>
            <a:r>
              <a:rPr dirty="0" err="1"/>
              <a:t>ms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rPr dirty="0"/>
              <a:t>IOPS doubled during peak</a:t>
            </a:r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rPr dirty="0"/>
              <a:t>Datastore still has 35% free capacity</a:t>
            </a:r>
          </a:p>
          <a:p>
            <a:pPr>
              <a:spcAft>
                <a:spcPts val="600"/>
              </a:spcAft>
              <a:defRPr sz="1300">
                <a:solidFill>
                  <a:srgbClr val="283442"/>
                </a:solidFill>
                <a:latin typeface="Aptos"/>
              </a:defRPr>
            </a:pPr>
            <a:r>
              <a:rPr dirty="0"/>
              <a:t>No single drive failure reported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4983480" cy="342900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80" y="2057400"/>
            <a:ext cx="1371600" cy="329184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9C8A"/>
                </a:solidFill>
                <a:latin typeface="Aptos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480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14233D"/>
                </a:solidFill>
                <a:latin typeface="Aptos"/>
              </a:rPr>
              <a:t>Where would you look first —
VM, host, network, array,
cache, queue or media?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Scenario: possible investigation path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19072"/>
            <a:ext cx="457200" cy="457200"/>
          </a:xfrm>
          <a:prstGeom prst="ellipse">
            <a:avLst/>
          </a:prstGeom>
          <a:solidFill>
            <a:srgbClr val="2B6C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27632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Validate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27632"/>
            <a:ext cx="7040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Read/write mix • block size • concurrency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78608"/>
            <a:ext cx="457200" cy="457200"/>
          </a:xfrm>
          <a:prstGeom prst="ellipse">
            <a:avLst/>
          </a:prstGeom>
          <a:solidFill>
            <a:srgbClr val="269C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87168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Check VM +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87168"/>
            <a:ext cx="7040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Latency • queue • HBA / NIC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46704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Check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46704"/>
            <a:ext cx="7040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Errors • congestion • path health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97679"/>
            <a:ext cx="457200" cy="457200"/>
          </a:xfrm>
          <a:prstGeom prst="ellipse">
            <a:avLst/>
          </a:prstGeom>
          <a:solidFill>
            <a:srgbClr val="E791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7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206240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Check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06240"/>
            <a:ext cx="7040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Controller • cache • pool • tier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157216"/>
            <a:ext cx="457200" cy="457200"/>
          </a:xfrm>
          <a:prstGeom prst="ellipse">
            <a:avLst/>
          </a:prstGeom>
          <a:solidFill>
            <a:srgbClr val="142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157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65776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Change one 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065776"/>
            <a:ext cx="7040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Re-test and compare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Classroom exercise: design the storage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Teams of 3–4: choose storage behavior for each workload.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Core banking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554480"/>
            <a:ext cx="21488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Latency sensitive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High IOPS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554480"/>
            <a:ext cx="2514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SSD / low-latency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141732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→ choose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0881360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VDI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59152"/>
            <a:ext cx="21488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Bursty random I/O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High concurrency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359152"/>
            <a:ext cx="2514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Tiered / flash-assisted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359152"/>
            <a:ext cx="141732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→ choose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63824"/>
            <a:ext cx="10881360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163824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163824"/>
            <a:ext cx="21488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Large sequential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163824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High throughput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63824"/>
            <a:ext cx="2514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Capacity + performance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163824"/>
            <a:ext cx="141732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→ 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10881360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968496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968496"/>
            <a:ext cx="21488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Rare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68496"/>
            <a:ext cx="20574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Cost optimized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968496"/>
            <a:ext cx="2514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Capacity / cloud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968496"/>
            <a:ext cx="141732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37387"/>
                </a:solidFill>
                <a:latin typeface="Aptos"/>
              </a:rPr>
              <a:t>→ choose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02352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Deliverable: explain the choice using workload + SLA + cost + manageability — not brand name.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66814"/>
            <a:ext cx="89611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dirty="0">
                <a:solidFill>
                  <a:srgbClr val="637387"/>
                </a:solidFill>
                <a:latin typeface="Aptos"/>
              </a:rPr>
              <a:t>storageprabhu99@gmail.com• Day 3 • Storage Virtualization &amp;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Knowledge check — explain, don’t memorize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6420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62763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Why can a 10 TB virtual volume consume only 3 TB physically?</a:t>
            </a:r>
          </a:p>
        </p:txBody>
      </p:sp>
      <p:sp>
        <p:nvSpPr>
          <p:cNvPr id="7" name="Oval 6"/>
          <p:cNvSpPr/>
          <p:nvPr/>
        </p:nvSpPr>
        <p:spPr>
          <a:xfrm>
            <a:off x="6263640" y="166420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642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62763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What is the conceptual difference between VMDK, RDM and vSAN?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81635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When does auto-tiering move data “up” or “down”?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285292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81635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How are compression and deduplication different?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00507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What does rising latency + rising queue depth tell you?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4041648"/>
            <a:ext cx="384048" cy="384048"/>
          </a:xfrm>
          <a:prstGeom prst="ellipse">
            <a:avLst/>
          </a:prstGeom>
          <a:solidFill>
            <a:srgbClr val="30A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4041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005072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Which monitoring layer would you check first for a VM-specific symptom?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RPS | ICICI • Day 3 • Storage Virtualization &amp;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Day 3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7"/>
                </a:solidFill>
                <a:latin typeface="Aptos"/>
              </a:rPr>
              <a:t>The storage stack is a chain of abstractions, policies and physical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87452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Virtualize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Abstract physical resources into logical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87452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69C8A"/>
                </a:solidFill>
                <a:latin typeface="Aptos"/>
              </a:rPr>
              <a:t>Integrate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13432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VMDK / RDM / vSAN shape the VM data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19" y="187452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87452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0A0BE"/>
                </a:solidFill>
                <a:latin typeface="Aptos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13432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Place hot data on faster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38328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9136"/>
                </a:solidFill>
                <a:latin typeface="Aptos"/>
              </a:rPr>
              <a:t>Reduce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1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Thin + dedup + compression improve efficiency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004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0" y="338328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38328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33D"/>
                </a:solidFill>
                <a:latin typeface="Aptos"/>
              </a:rPr>
              <a:t>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22191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Use IOPS + latency + throughput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004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75319" y="3383280"/>
            <a:ext cx="96012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338328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44C4C"/>
                </a:solidFill>
                <a:latin typeface="Aptos"/>
              </a:rP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822191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442"/>
                </a:solidFill>
                <a:latin typeface="Aptos"/>
              </a:rPr>
              <a:t>Correlate metrics across layers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956048"/>
            <a:ext cx="9966960" cy="640080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495604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9C8A"/>
                </a:solidFill>
                <a:latin typeface="Aptos"/>
              </a:rPr>
              <a:t>Next: connect storage behavior to backup, replication and operational resilience.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RPS | ICICI • Day 3 • Storage Virtualization &amp;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One-page architecture: from VM to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149840" cy="621792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600200"/>
            <a:ext cx="2240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VM /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600200"/>
            <a:ext cx="7040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What the business feels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2240280"/>
            <a:ext cx="0" cy="173736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2423160"/>
            <a:ext cx="10149840" cy="621792"/>
          </a:xfrm>
          <a:prstGeom prst="roundRect">
            <a:avLst/>
          </a:prstGeom>
          <a:solidFill>
            <a:srgbClr val="DEF4F1"/>
          </a:solidFill>
          <a:ln w="12700">
            <a:solidFill>
              <a:srgbClr val="DE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423160"/>
            <a:ext cx="2240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vSphere / datastore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23160"/>
            <a:ext cx="7040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Abstraction + scheduling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3063239"/>
            <a:ext cx="0" cy="173737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246120"/>
            <a:ext cx="10149840" cy="621792"/>
          </a:xfrm>
          <a:prstGeom prst="roundRect">
            <a:avLst/>
          </a:prstGeom>
          <a:solidFill>
            <a:srgbClr val="ECF6F9"/>
          </a:solidFill>
          <a:ln w="12700">
            <a:solidFill>
              <a:srgbClr val="EC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2240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Storage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7040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Thin • snapshots • dedup • compression • tiering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886200"/>
            <a:ext cx="0" cy="173735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069080"/>
            <a:ext cx="10149840" cy="621792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069080"/>
            <a:ext cx="2240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Array / vSAN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69080"/>
            <a:ext cx="7040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Controllers • cache • policies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4709160"/>
            <a:ext cx="0" cy="173736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892040"/>
            <a:ext cx="10149840" cy="621792"/>
          </a:xfrm>
          <a:prstGeom prst="roundRect">
            <a:avLst/>
          </a:prstGeom>
          <a:solidFill>
            <a:srgbClr val="F7EEEE"/>
          </a:solidFill>
          <a:ln w="12700">
            <a:solidFill>
              <a:srgbClr val="F7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892040"/>
            <a:ext cx="22402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892040"/>
            <a:ext cx="7040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442"/>
                </a:solidFill>
                <a:latin typeface="Aptos"/>
              </a:rPr>
              <a:t>NVMe • SSD • HDD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RPS | ICICI • Day 3 • Storage Virtualization &amp;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Reference map used for Day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46504"/>
            <a:ext cx="6400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46504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Supplied: Introduction to Information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600200"/>
            <a:ext cx="5532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Virtualization overview, storage management, data-center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32888"/>
            <a:ext cx="6400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86584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Supplied: Intelligent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386584"/>
            <a:ext cx="5532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Virtual provisioning, cache, automated tiering, storage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19272"/>
            <a:ext cx="6400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319272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72968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Supplied: Introduction to Storage &amp; Backup_ITC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172968"/>
            <a:ext cx="5532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Thin provisioning, performance measures, replication, vendor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05656"/>
            <a:ext cx="6400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05656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59352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External: Broadcom / VMware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959352"/>
            <a:ext cx="5532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vSphere VMDK/RDM/vSAN, vSAN performance graphs and current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92040"/>
            <a:ext cx="640080" cy="31089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B6CB0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45736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33D"/>
                </a:solidFill>
                <a:latin typeface="Aptos"/>
              </a:rPr>
              <a:t>External: NetApp / Dell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745736"/>
            <a:ext cx="5532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Storage efficiency, tiering, logical vs physical capacity,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Primary: supplied RPS/ICICI reference deck set • Supplemental: current vendor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 Display"/>
              </a:rPr>
              <a:t>External references &amp; current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45919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Broadcom KB 404711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vSphere 9.0 storage configuration: clustered VMDKs, vVols, RDM, vSAN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Broadcom KB 323064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0156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Physical vs virtual compatibility RDM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434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48056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Broadcom KB 326953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81888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vSAN performance graphs: IOPS, throughput,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645919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VMware vSAN Architecture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8424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vSAN object/policy architecture and modern storage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2608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06324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NetApp ONTAP — Storage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40156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Thin provisioning, deduplication, compression, physical vs logical capacity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3434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448056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33D"/>
                </a:solidFill>
                <a:latin typeface="Aptos"/>
              </a:rPr>
              <a:t>Dell PowerStore —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818888"/>
            <a:ext cx="4663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442"/>
                </a:solidFill>
                <a:latin typeface="Aptos"/>
              </a:rPr>
              <a:t>Data reduction and storage monitoring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961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7"/>
                </a:solidFill>
                <a:latin typeface="Aptos"/>
              </a:rPr>
              <a:t>RPS | ICICI • Day 3 • Storage Virtualization &amp;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37387"/>
                </a:solidFill>
                <a:latin typeface="Aptos"/>
              </a:rPr>
              <a:t>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640080" cy="36576"/>
          </a:xfrm>
          <a:prstGeom prst="rect">
            <a:avLst/>
          </a:prstGeom>
          <a:solidFill>
            <a:srgbClr val="3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658368"/>
            <a:ext cx="1554480" cy="347472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22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A0BE"/>
                </a:solidFill>
                <a:latin typeface="Aptos"/>
              </a:rPr>
              <a:t>RPS | ICICI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The performance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96012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DAE7F6"/>
                </a:solidFill>
                <a:latin typeface="Aptos"/>
              </a:rPr>
              <a:t>“What changed in the workload —
and which layer owns the evidence?”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2423160" cy="1051560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C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31596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7F1FA"/>
                </a:solidFill>
                <a:latin typeface="Aptos"/>
              </a:rP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What is being requested?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160520"/>
            <a:ext cx="2423160" cy="1051560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C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431596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EF4F1"/>
                </a:solidFill>
                <a:latin typeface="Aptos"/>
              </a:rPr>
              <a:t>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66344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Where does I/O travel?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2423160" cy="1051560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C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431596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CF6F9"/>
                </a:solidFill>
                <a:latin typeface="Apto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466344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What rules shape placement?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4160520"/>
            <a:ext cx="2423160" cy="1051560"/>
          </a:xfrm>
          <a:prstGeom prst="roundRect">
            <a:avLst/>
          </a:prstGeom>
          <a:solidFill>
            <a:srgbClr val="223452"/>
          </a:solidFill>
          <a:ln w="12700">
            <a:solidFill>
              <a:srgbClr val="4C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431596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0E7"/>
                </a:solidFill>
                <a:latin typeface="Aptos"/>
              </a:rPr>
              <a:t>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66344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What device ultimately serves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BED6"/>
                </a:solidFill>
                <a:latin typeface="Aptos"/>
              </a:rPr>
              <a:t>Day 3 • Storage Virtualization &amp; Performance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587044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BED6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2529</TotalTime>
  <Words>4255</Words>
  <Application>Microsoft Office PowerPoint</Application>
  <PresentationFormat>Widescreen</PresentationFormat>
  <Paragraphs>889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Prabhugaonkar</cp:lastModifiedBy>
  <cp:revision>8</cp:revision>
  <dcterms:created xsi:type="dcterms:W3CDTF">2013-01-27T09:14:16Z</dcterms:created>
  <dcterms:modified xsi:type="dcterms:W3CDTF">2026-10-03T04:41:59Z</dcterms:modified>
  <cp:category/>
</cp:coreProperties>
</file>