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7653A-FE25-4153-8AC2-1F4D622A698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B0AA5-932B-4774-B065-6678D3A7D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1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B0AA5-932B-4774-B065-6678D3A7D01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9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3E1F9-1694-47E4-B239-2F44C180F6ED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B260-8001-40C6-BFEF-AFADD7EF4E56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FEB41-0641-4151-98DB-A003CEA816F0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9B1C4-2D7B-42C6-829A-7A809F4DFD18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46A0-5047-4157-B361-C148D91CF320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0806E-A966-421C-A273-54CF441B3B53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3D8D-B07C-4541-A1BD-A2B6AB1B9657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97147-3D8F-471D-B2FE-6C5F69306394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F053-E8AB-40E4-9FDC-5600E897C490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883BD-AFA5-4E12-B8DB-06FD4FF9CC71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33D96-49BA-4DD3-8055-D9CE54410DA8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AEA9A-2A88-4BC6-9E3E-4AE1B60A5EF2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torageprabhu99@gmail.com|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torageprabhu99@gmail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2EA1BF"/>
                </a:solidFill>
                <a:latin typeface="Aptos"/>
              </a:rPr>
              <a:t>StoragePrabhu99</a:t>
            </a:r>
            <a:endParaRPr sz="1400" b="1" dirty="0">
              <a:solidFill>
                <a:srgbClr val="2EA1B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C8DCF0"/>
                </a:solidFill>
                <a:latin typeface="Aptos"/>
              </a:rP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8595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Backup, DR &amp;</a:t>
            </a:r>
            <a:br/>
            <a:r>
              <a:t>Business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8869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EE8F3"/>
                </a:solidFill>
                <a:latin typeface="Aptos"/>
              </a:rPr>
              <a:t>Backup strategies • RPO/RTO • Enterprise backup tools • D2D/D2T • Replication • DR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983480"/>
            <a:ext cx="2697480" cy="329184"/>
          </a:xfrm>
          <a:prstGeom prst="roundRect">
            <a:avLst/>
          </a:prstGeom>
          <a:solidFill>
            <a:srgbClr val="295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038344"/>
            <a:ext cx="2697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STUDENT CLASSROOM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870448"/>
            <a:ext cx="5852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dirty="0">
                <a:solidFill>
                  <a:srgbClr val="A5BCD2"/>
                </a:solidFill>
                <a:latin typeface="Aptos"/>
                <a:hlinkClick r:id="rId2"/>
              </a:rPr>
              <a:t>storageprabhu99@gmail.com|</a:t>
            </a:r>
            <a:r>
              <a:rPr lang="en-US" sz="1100" b="0" dirty="0">
                <a:solidFill>
                  <a:srgbClr val="A5BCD2"/>
                </a:solidFill>
                <a:latin typeface="Aptos"/>
              </a:rPr>
              <a:t> </a:t>
            </a:r>
            <a:r>
              <a:rPr sz="1100" b="0" dirty="0">
                <a:solidFill>
                  <a:srgbClr val="A5BCD2"/>
                </a:solidFill>
                <a:latin typeface="Aptos"/>
              </a:rPr>
              <a:t>Storage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What you should be able to explain, design and test by the end of Day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" y="6535954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0" dirty="0">
                <a:solidFill>
                  <a:srgbClr val="60748C"/>
                </a:solidFill>
                <a:latin typeface="Aptos"/>
                <a:hlinkClick r:id="rId2"/>
              </a:rPr>
              <a:t>storageprabhu99@gmail.com</a:t>
            </a:r>
            <a:r>
              <a:rPr lang="en-US" sz="800" b="0" dirty="0">
                <a:solidFill>
                  <a:srgbClr val="60748C"/>
                </a:solidFill>
                <a:latin typeface="Aptos"/>
              </a:rPr>
              <a:t> </a:t>
            </a:r>
            <a:r>
              <a:rPr sz="800" b="0" dirty="0">
                <a:solidFill>
                  <a:srgbClr val="60748C"/>
                </a:solidFill>
                <a:latin typeface="Aptos"/>
              </a:rPr>
              <a:t>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078992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8191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Design backup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Choose backup methods and schedules around business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834640"/>
            <a:ext cx="73152" cy="1078992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99923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Translate RPO/RTO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0156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Connect business impact to recoverability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51960"/>
            <a:ext cx="73152" cy="1078992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41655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Understand backup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81888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Recognize Veeam, Commvault and NetBackup architecture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73152" cy="1078992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158191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Compare D2D/D2T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198424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Explain disk and tape roles in enterprise protection.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346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2834640"/>
            <a:ext cx="73152" cy="1078992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299923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Compare replication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340156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Explain synchronous vs asynchronous behavior and trade-offs.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25196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251960"/>
            <a:ext cx="73152" cy="1078992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807" y="4416552"/>
            <a:ext cx="4727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Run a DR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818888"/>
            <a:ext cx="4727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Follow a controlled failover, validation and failback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Day 4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Two sessions, one connected story: protect → recover → validate.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81912"/>
            <a:ext cx="4910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Session 1 • Backup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9103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Backup strategies; RPO/RTO; backup software; backup architecture; D2D and D2T.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81912"/>
            <a:ext cx="4910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Session 2 • DR &amp;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9103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DR planning; synchronous/asynchronous replication; test scenario; lessons learned.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Delivery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058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9703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A1BF"/>
                </a:solidFill>
                <a:latin typeface="Aptos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Concepts + vocabulary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434840"/>
            <a:ext cx="10058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4489703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A1BF"/>
                </a:solidFill>
                <a:latin typeface="Aptos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Architecture + data 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34840"/>
            <a:ext cx="10058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489703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A1BF"/>
                </a:solidFill>
                <a:latin typeface="Aptos"/>
              </a:rPr>
              <a:t>Apply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Scenario +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434840"/>
            <a:ext cx="1005840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4489703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A1BF"/>
                </a:solidFill>
                <a:latin typeface="Aptos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Recovery exercise + recap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The protection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Backup is one layer of a wider resilience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274320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426464"/>
            <a:ext cx="263347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Availability</a:t>
            </a:r>
            <a:br/>
            <a:r>
              <a:t>Keep service running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011680"/>
            <a:ext cx="0" cy="210311"/>
          </a:xfrm>
          <a:prstGeom prst="line">
            <a:avLst/>
          </a:prstGeom>
          <a:ln w="25400">
            <a:solidFill>
              <a:srgbClr val="39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221991"/>
            <a:ext cx="274320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295144"/>
            <a:ext cx="263347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Replication</a:t>
            </a:r>
            <a:br/>
            <a:r>
              <a:t>Maintain a recovery copy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880359"/>
            <a:ext cx="0" cy="210313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090672"/>
            <a:ext cx="274320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163824"/>
            <a:ext cx="263347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Snapshots</a:t>
            </a:r>
            <a:br/>
            <a:r>
              <a:t>Fast point-in-time rollback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3749039"/>
            <a:ext cx="0" cy="210313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959352"/>
            <a:ext cx="274320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4032504"/>
            <a:ext cx="263347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Independent recoverable copy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4617720"/>
            <a:ext cx="0" cy="210312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828031"/>
            <a:ext cx="274320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901183"/>
            <a:ext cx="263347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Archive / Tape</a:t>
            </a:r>
            <a:br/>
            <a:r>
              <a:t>Long-term retention /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508760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92D4E"/>
                </a:solidFill>
                <a:latin typeface="Aptos"/>
              </a:rPr>
              <a:t>Key idea: no single mechanism solves every failure mode.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8600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>
                <a:solidFill>
                  <a:srgbClr val="283545"/>
                </a:solidFill>
                <a:latin typeface="Aptos"/>
              </a:rPr>
              <a:t>• Snapshots help with fast local recovery.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283545"/>
                </a:solidFill>
                <a:latin typeface="Aptos"/>
              </a:rPr>
              <a:t>• Backups create recoverable copies separated from production.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283545"/>
                </a:solidFill>
                <a:latin typeface="Aptos"/>
              </a:rPr>
              <a:t>• Replication reduces recovery time but can replicate corruption or unwanted changes.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283545"/>
                </a:solidFill>
                <a:latin typeface="Aptos"/>
              </a:rPr>
              <a:t>• Business continuity adds people, process, communications and alternate ways of 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What are we actually protecting?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Think in terms of failure domains, not just storage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8191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Deleted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299008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Accidental / malicious deletion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8191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Corruption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299008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Logical or application corruption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58191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Hardware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984248"/>
            <a:ext cx="299008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Disk, array, server,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291839"/>
            <a:ext cx="73152" cy="14173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45643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Site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858768"/>
            <a:ext cx="299008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Power, fire, flood, facility outage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918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291839"/>
            <a:ext cx="73152" cy="141732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45643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Cyber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858768"/>
            <a:ext cx="299008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Ransomware / credential compromise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Backup strategy: start with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Backup frequency is a consequence of business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D4E"/>
                </a:solidFill>
                <a:latin typeface="Aptos"/>
              </a:rPr>
              <a:t>Business requirement → RPO → recovery point frequency → backup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73152" cy="182880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1343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Critical transaction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15768"/>
            <a:ext cx="30815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Minutes</a:t>
            </a:r>
            <a:br/>
            <a:r>
              <a:t>Frequent incremental / log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62272" y="2148840"/>
            <a:ext cx="73152" cy="18288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31343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Customer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15768"/>
            <a:ext cx="30815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Hours</a:t>
            </a:r>
            <a:br/>
            <a:r>
              <a:t>Scheduled incremental + periodic full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2148840"/>
            <a:ext cx="73152" cy="18288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1343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15768"/>
            <a:ext cx="30815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Days / weeks</a:t>
            </a:r>
            <a:br/>
            <a:r>
              <a:t>Long-retention copy, often tape/object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748C"/>
                </a:solidFill>
                <a:latin typeface="Aptos"/>
              </a:rPr>
              <a:t>Also define: retention • security • encryption • immutability • off-site copy • restore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Full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complete copy of the selected dataset at a point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81912"/>
            <a:ext cx="23957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What is copied?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23957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The entire selected data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03320" y="141732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7" y="1581912"/>
            <a:ext cx="23957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7" y="1984248"/>
            <a:ext cx="23957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Simple recovery chain; typically faster restore.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141732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76288" y="1581912"/>
            <a:ext cx="23957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Trade-off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984248"/>
            <a:ext cx="23957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More storage and backup-window consumption.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Illustrative weekly pattern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Mon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67712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67712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2464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12464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Wed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7216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57216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Thu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1968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Fri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3794760"/>
            <a:ext cx="74980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91472" y="384962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Sun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1472" y="4297680"/>
            <a:ext cx="749808" cy="329184"/>
          </a:xfrm>
          <a:prstGeom prst="roundRect">
            <a:avLst/>
          </a:prstGeom>
          <a:solidFill>
            <a:srgbClr val="295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91472" y="4352544"/>
            <a:ext cx="749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6636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83545"/>
                </a:solidFill>
                <a:latin typeface="Aptos"/>
              </a:rPr>
              <a:t>Use a full copy as the anchor point for a recovery 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Incremental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Back up what changed since the most recent backup in the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Mon</a:t>
            </a:r>
            <a:br/>
            <a:r>
              <a:t>FULL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011680"/>
            <a:ext cx="5486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Tue</a:t>
            </a:r>
            <a:br/>
            <a:r>
              <a:t>INC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2011680"/>
            <a:ext cx="5486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Wed</a:t>
            </a:r>
            <a:br/>
            <a:r>
              <a:t>INC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46520" y="2011680"/>
            <a:ext cx="5486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951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Thu</a:t>
            </a:r>
            <a:br/>
            <a:r>
              <a:t>INC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2011680"/>
            <a:ext cx="5486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74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Fri</a:t>
            </a:r>
            <a:br/>
            <a:r>
              <a:t>INC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546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315468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319272"/>
            <a:ext cx="44074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721608"/>
            <a:ext cx="440740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Smaller daily backup and efficient use of network/storage.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31546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2160" y="3154680"/>
            <a:ext cx="73152" cy="132588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3328" y="3319272"/>
            <a:ext cx="44074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Recovery consideration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21608"/>
            <a:ext cx="440740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Restore the anchor full plus each required incremental in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Reference material emphasizes that incremental backup minimizes storage but can lengthen restore sequences.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Differential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Back up changes since the most recent full backup.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Mon</a:t>
            </a:r>
            <a:br/>
            <a:r>
              <a:t>FULL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011680"/>
            <a:ext cx="54864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Tue</a:t>
            </a:r>
            <a:br/>
            <a:r>
              <a:t>DIFF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2011680"/>
            <a:ext cx="54864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Wed</a:t>
            </a:r>
            <a:br/>
            <a:r>
              <a:t>DIFF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46520" y="2011680"/>
            <a:ext cx="54864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951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Thu</a:t>
            </a:r>
            <a:br/>
            <a:r>
              <a:t>DIFF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2011680"/>
            <a:ext cx="548640" cy="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1508760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7424" y="1581912"/>
            <a:ext cx="1399031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Fri</a:t>
            </a:r>
            <a:br/>
            <a:r>
              <a:t>DIFF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546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315468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319272"/>
            <a:ext cx="44074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721608"/>
            <a:ext cx="440740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Typically faster restore than a long incremental chain.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31546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2160" y="3154680"/>
            <a:ext cx="73152" cy="132588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3328" y="3319272"/>
            <a:ext cx="44074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21608"/>
            <a:ext cx="440740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Each differential grows as the interval from the full increases.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supplied backup reference describes differential as copying all data changed since the last full.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Full vs incremental vs differential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There is no universally correct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Backup volume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Typical backup time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Typical restore chain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Best fit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Highest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Longest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Shortest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Simple recovery / periodic anchor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Incremental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Lowest per run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Shortest per run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Longest chain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Frequent protection / bandwidth sensitivity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Differential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Grows after 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Moderate → longer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Full + latest differential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Balance of backup and restore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709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92D4E"/>
                </a:solidFill>
                <a:latin typeface="Aptos"/>
              </a:rPr>
              <a:t>Modern platforms may also add synthetic </a:t>
            </a:r>
            <a:r>
              <a:rPr sz="1500" b="1" dirty="0" err="1">
                <a:solidFill>
                  <a:srgbClr val="192D4E"/>
                </a:solidFill>
                <a:latin typeface="Aptos"/>
              </a:rPr>
              <a:t>fulls</a:t>
            </a:r>
            <a:r>
              <a:rPr sz="1500" b="1" dirty="0">
                <a:solidFill>
                  <a:srgbClr val="192D4E"/>
                </a:solidFill>
                <a:latin typeface="Aptos"/>
              </a:rPr>
              <a:t>, forever-forward schemes, CBT and application-aware backups.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Synthetic full: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Build a full recovery point from existing backup data without rereading the entire production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4767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Previous</a:t>
            </a:r>
            <a:br/>
            <a:r>
              <a:t>FULL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74519"/>
            <a:ext cx="21945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55264" y="1947672"/>
            <a:ext cx="20848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Incrementals /</a:t>
            </a:r>
            <a:br/>
            <a:r>
              <a:t>Differentials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74519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35624" y="194767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874519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1664" y="194767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Synthetic</a:t>
            </a:r>
            <a:br/>
            <a:r>
              <a:t>FULL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331720"/>
            <a:ext cx="6400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2331720"/>
            <a:ext cx="6858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2331720"/>
            <a:ext cx="6858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4290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Reduces pressure on production reads for another full-style restore point.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Useful when backup windows are constrained.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The exact implementation varies by product and repository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RPO — Recovery Point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How much data loss, measured in time, can the business tolerate?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44646"/>
                </a:solidFill>
                <a:latin typeface="Aptos"/>
              </a:rPr>
              <a:t>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755648"/>
            <a:ext cx="1645920" cy="7498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1828800"/>
            <a:ext cx="15361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Recovery</a:t>
            </a:r>
            <a:br/>
            <a:r>
              <a:t>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55648"/>
            <a:ext cx="1645920" cy="7498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4" y="1828800"/>
            <a:ext cx="15361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Recovery</a:t>
            </a:r>
            <a:br/>
            <a:r>
              <a:t>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755648"/>
            <a:ext cx="1645920" cy="7498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61504" y="1828800"/>
            <a:ext cx="1536192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Recovery</a:t>
            </a:r>
            <a:br/>
            <a:r>
              <a:t>Point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2148840"/>
            <a:ext cx="320040" cy="0"/>
          </a:xfrm>
          <a:prstGeom prst="line">
            <a:avLst/>
          </a:prstGeom>
          <a:ln w="25400">
            <a:solidFill>
              <a:srgbClr val="C4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39" y="2148840"/>
            <a:ext cx="1005841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2148840"/>
            <a:ext cx="10058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40280" y="269748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D4E"/>
                </a:solidFill>
                <a:latin typeface="Aptos"/>
              </a:rPr>
              <a:t>←──────── acceptable data-loss window ────────→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83280"/>
            <a:ext cx="10012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383280"/>
            <a:ext cx="73152" cy="132588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547872"/>
            <a:ext cx="96652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950208"/>
            <a:ext cx="9665207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RPO = 15 minutes means the recovery design aims to lose no more than about 15 minutes of data, subject to actual implementation and failure conditions.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748C"/>
                </a:solidFill>
                <a:latin typeface="Aptos"/>
              </a:rPr>
              <a:t>RPO is a business requirement translated into technical recovery-point frequency.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RTO — Recovery Time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How quickly must the service be restored after an incident?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44646"/>
                </a:solidFill>
                <a:latin typeface="Aptos"/>
              </a:rPr>
              <a:t>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828800"/>
            <a:ext cx="146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99168"/>
                </a:solidFill>
                <a:latin typeface="Aptos"/>
              </a:rPr>
              <a:t>Service</a:t>
            </a:r>
            <a:br/>
            <a:r>
              <a:t>restored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2148840"/>
            <a:ext cx="7680960" cy="0"/>
          </a:xfrm>
          <a:prstGeom prst="line">
            <a:avLst/>
          </a:prstGeom>
          <a:ln w="381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240" y="16733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RTO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Detection + decision time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Failover / restore execution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Application validation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User acceptance and communications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578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748C"/>
                </a:solidFill>
                <a:latin typeface="Aptos"/>
              </a:rPr>
              <a:t>Important: a recovery solution can meet a data target but miss the time target—or vice versa.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RPO and RTO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both dimensions to design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Workload example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Illustrative RPO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Illustrative RTO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Design implication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Payments / core transaction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Minutes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&lt; 1 hour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Frequent recovery points + rapid failover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Customer document store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1–4 hours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2–4 hours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Scheduled backup + warm recovery capacity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Archive / historical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24 hours+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1–3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Cost-efficient backup / tape / cloud archive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800600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44646"/>
                </a:solidFill>
                <a:latin typeface="Aptos"/>
              </a:rPr>
              <a:t>Values above are teaching examples, not ICICI production requirements.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Enterprise backup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Separate management, data movement and storage roles when scale requires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4767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Protected</a:t>
            </a:r>
            <a:br/>
            <a:r>
              <a:t>VMs /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74519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9544" y="194767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Control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74519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24144" y="194767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Proxy /</a:t>
            </a:r>
            <a:br/>
            <a:r>
              <a:t>Media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17373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47304" y="1947672"/>
            <a:ext cx="16276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Repository</a:t>
            </a:r>
            <a:br/>
            <a:r>
              <a:t>Disk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874519"/>
            <a:ext cx="155448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13264" y="1947672"/>
            <a:ext cx="144475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Tape / Cloud</a:t>
            </a:r>
            <a:br/>
            <a:r>
              <a:t>Copy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2331720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74920" y="2331720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2331720"/>
            <a:ext cx="594361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2331720"/>
            <a:ext cx="2286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54680" y="30175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0748C"/>
                </a:solidFill>
                <a:latin typeface="Aptos"/>
              </a:rPr>
              <a:t>Control 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0175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0748C"/>
                </a:solidFill>
                <a:latin typeface="Aptos"/>
              </a:rPr>
              <a:t>Data plane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175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0748C"/>
                </a:solidFill>
                <a:latin typeface="Aptos"/>
              </a:rPr>
              <a:t>Copies /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8620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The supplied backup material uses a server–client model with backup server, backup client, media server and target.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Modern platforms may use proxies, repositories, object storage and cloud services instead of a single media-server pattern.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Veeam — representative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Current Veeam Backup &amp; Replication documentation describes source hosts, proxies, repositories and optional guest-interaction/gateway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AEEF"/>
                </a:solidFill>
                <a:latin typeface="Aptos"/>
              </a:rPr>
              <a:t>VEEAM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47672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748C"/>
                </a:solidFill>
                <a:latin typeface="Aptos"/>
              </a:rPr>
              <a:t>Backup &amp; recovery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9584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Source</a:t>
            </a:r>
            <a:br/>
            <a:r>
              <a:t>Hosts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79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95543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61504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7464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Guest /</a:t>
            </a:r>
            <a:br/>
            <a:r>
              <a:t>Gateway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0" y="2267712"/>
            <a:ext cx="4114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2267712"/>
            <a:ext cx="4114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2267712"/>
            <a:ext cx="4114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2461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Backup jobs define what, when, where and how to protect workloads.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Veeam uses Data Movers to process and transport VM data.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Incremental runs can use changed-block information to avoid rereading unchanged blocks.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Commvault — representative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Current Commvault documentation describes a CommCell environment built around CommServe, MediaAgents and clients/servers.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E2E2E"/>
                </a:solidFill>
                <a:latin typeface="Aptos"/>
              </a:rPr>
              <a:t>COMMVAULT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47672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748C"/>
                </a:solidFill>
                <a:latin typeface="Aptos"/>
              </a:rPr>
              <a:t>Data protection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164592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901952"/>
            <a:ext cx="153619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Clients /</a:t>
            </a:r>
            <a:br/>
            <a:r>
              <a:t>Workloads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828800"/>
            <a:ext cx="18288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61303" y="1901952"/>
            <a:ext cx="17190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MediaAgent</a:t>
            </a:r>
            <a:br/>
            <a:r>
              <a:t>Data Mover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164592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901952"/>
            <a:ext cx="153619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Library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246120"/>
            <a:ext cx="18288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61303" y="3319272"/>
            <a:ext cx="17190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CommServe</a:t>
            </a:r>
            <a:br/>
            <a:r>
              <a:t>Control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2267712"/>
            <a:ext cx="6400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2267712"/>
            <a:ext cx="6858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720840" y="2724912"/>
            <a:ext cx="0" cy="521208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48056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CommServe coordinates operations and maintains configuration/operational information.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MediaAgents manage data movement and storage libraries.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Multiple MediaAgents can scale data movement.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Veritas NetBackup — representative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supplied material and Veritas documentation use a master / media server / client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A40000"/>
                </a:solidFill>
                <a:latin typeface="Aptos"/>
              </a:rPr>
              <a:t>VERITAS NETBACKUP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48255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rgbClr val="60748C"/>
                </a:solidFill>
                <a:latin typeface="Aptos"/>
              </a:rPr>
              <a:t>Enterprise backup &amp;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146304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901952"/>
            <a:ext cx="135331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78424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Master</a:t>
            </a:r>
            <a:br/>
            <a:r>
              <a:t>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64424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Media</a:t>
            </a:r>
            <a:br/>
            <a:r>
              <a:t>Server(s)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828800"/>
            <a:ext cx="141732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13264" y="1901952"/>
            <a:ext cx="130759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Disk / Tape</a:t>
            </a:r>
            <a:br/>
            <a:r>
              <a:t>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80" y="2267712"/>
            <a:ext cx="6400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78040" y="2267712"/>
            <a:ext cx="7315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64040" y="2267712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3429000"/>
            <a:ext cx="10149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Master server: central control, policy/schedule and catalog functions.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Media servers: connect to storage and distribute backup data movement.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Clients: machines containing the data being protected.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Backup software: what to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Tool selection should follow the workload and operating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Veeam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Commvault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NetBackup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Common strength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VM-centric + broad enterprise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Broad workload + data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Large-scale enterprise 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Core architecture pattern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Server + proxies + repositories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CommServe + MediaAgents + clients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Master + media servers + clients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Targets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Disk / object / cloud / tape via supported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Disk / tape / cloud / libraries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Disk / tape / cloud / storage appliances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Operational focus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Backup, recovery, orchestration ecosystem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Centralized data protection management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Enterprise policy/catalog/media management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These are teaching-level architecture patterns; exact features, licensing and terminology vary by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Backup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backup that an attacker can erase is not an effective last line of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4630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Separate backup administration and networks where practical.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Immutability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Protect restore points from alteration/deletion for a defined period.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Protect data in transit and at rest.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50215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Least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90448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Separate operator, security and recovery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33756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33756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50215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Restore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0448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Prove that protected data can actually be recovered.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Disk-to-Disk (D2D)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Fast backup and restore to disk-based repositories.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Production</a:t>
            </a:r>
            <a:br/>
            <a:r>
              <a:t>Workloads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2463" y="190195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92024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84264" y="1901952"/>
            <a:ext cx="1810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Secondary</a:t>
            </a:r>
            <a:br/>
            <a:r>
              <a:t>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828800"/>
            <a:ext cx="16459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56064" y="1901952"/>
            <a:ext cx="153619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Restore /</a:t>
            </a:r>
            <a:br/>
            <a:r>
              <a:t>DR copy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286000"/>
            <a:ext cx="10972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2286000"/>
            <a:ext cx="10515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49640" y="2286000"/>
            <a:ext cx="10515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429000"/>
            <a:ext cx="10241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Fast random access is valuable for VM and file restores.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Disk pools support deduplication/compression and concurrent jobs.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D2D does not automatically mean isolated from ransomware—protection architecture still matters.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Disk-to-Tape (D2T)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disk for operational recovery and tape for long-term, portable or isolated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55448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3" y="1901952"/>
            <a:ext cx="144475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7373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8064" y="1901952"/>
            <a:ext cx="1627631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Disk</a:t>
            </a:r>
            <a:br/>
            <a:r>
              <a:t>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28800"/>
            <a:ext cx="17373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9783" y="1901952"/>
            <a:ext cx="1627631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Tape</a:t>
            </a:r>
            <a:br/>
            <a:r>
              <a:t>Library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828800"/>
            <a:ext cx="17373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61504" y="1901952"/>
            <a:ext cx="1627631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Off-site /</a:t>
            </a:r>
            <a:br/>
            <a:r>
              <a:t>Vault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828800"/>
            <a:ext cx="146304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93224" y="1901952"/>
            <a:ext cx="135331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Restore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2267712"/>
            <a:ext cx="4114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2267712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12280" y="2267712"/>
            <a:ext cx="5943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12280" y="3246120"/>
            <a:ext cx="2926080" cy="0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6576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Tape is sequential-access media: excellent for large sequential copies and retention, slower for random restore.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Physical separation can help create an additional recovery boundary.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Tape operations need media lifecycle, retention, catalog and restore-readiness controls.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D2D2T: a common enterprise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fast disk as the operational layer and tape as the long-retention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9659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947672"/>
            <a:ext cx="18562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Production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33172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1874519"/>
            <a:ext cx="19659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947672"/>
            <a:ext cx="18562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D2D</a:t>
            </a:r>
            <a:br/>
            <a:r>
              <a:t>Backup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33172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874519"/>
            <a:ext cx="19659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947672"/>
            <a:ext cx="18562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D2T</a:t>
            </a:r>
            <a:br/>
            <a:r>
              <a:t>Copy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33172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1874519"/>
            <a:ext cx="19659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44584" y="1947672"/>
            <a:ext cx="18562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Off-site</a:t>
            </a:r>
            <a:br/>
            <a: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E"/>
                </a:solidFill>
                <a:latin typeface="Aptos"/>
              </a:rPr>
              <a:t>Recovery priority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749039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Recovery need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Preferred layer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Why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Deleted VM /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D2D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Fast browse and restore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Site loss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Remote copy / D2T / cloud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Survive local site failure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Long 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Tape / archive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Cost and retention characteristics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Backup window &amp; data change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backup system must finish before the business-critical workload feels the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92D4E"/>
                </a:solidFill>
                <a:latin typeface="Aptos"/>
              </a:rPr>
              <a:t>Backup throughput requirement ≈ data changed ÷ available backup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31720"/>
            <a:ext cx="73152" cy="132588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496312"/>
            <a:ext cx="40416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898648"/>
            <a:ext cx="404164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10 TB changed data / 8 hours ≈ 1.25 TB/hour sustained before overheads.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317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0" y="2331720"/>
            <a:ext cx="73152" cy="132588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2496312"/>
            <a:ext cx="4956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What reduces the load?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898648"/>
            <a:ext cx="4956048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Changed-block tracking, deduplication, compression, parallel streams, proxies and scheduling.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83545"/>
                </a:solidFill>
                <a:latin typeface="Aptos"/>
              </a:rPr>
              <a:t>Capacity planning = data volume + daily change + retention + copies + growth + operational overhead.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Retention is a policy, not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Keep enough history to recover business, regulatory and operational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1874519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Short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67128"/>
            <a:ext cx="2212848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Recent restore points for operational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0020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600200"/>
            <a:ext cx="73152" cy="1874519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176479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Medium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167128"/>
            <a:ext cx="2212848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Weekly/monthly recovery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73152" cy="1874519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176479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Long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167128"/>
            <a:ext cx="2212848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Year+ archive / regulatory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600200"/>
            <a:ext cx="25603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59" y="1600200"/>
            <a:ext cx="73152" cy="1874519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176479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Off-site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167128"/>
            <a:ext cx="2212848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Recovery boundary outside primary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891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Retention decision inputs: policy • legal/regulatory requirements • business history • storage cost • restore expectations.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Snapshot vs backup vs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Three similar words with very different recovery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Mechanism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Primary purpose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Typical speed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Independent copy?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Typical risk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Fast PIT rollback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Very 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Usually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May share storage / failure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Backup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Recoverable historical copy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Fast → moderate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Designed to be separate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Must be protected from deletion/corruption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Keep secondary data current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Fast failover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Yes, at another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Can replicate corruption / deletion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8463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Use them together when the business requires both rapid recovery and resilient historical recovery.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A1BF"/>
                </a:solidFill>
                <a:latin typeface="Aptos"/>
              </a:rPr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Disaster Recovery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14600"/>
            <a:ext cx="9875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Aptos"/>
              </a:rPr>
              <a:t>A DR plan connects technology, people, procedures and communications into a repeatable recovery capability.</a:t>
            </a:r>
          </a:p>
        </p:txBody>
      </p:sp>
      <p:sp>
        <p:nvSpPr>
          <p:cNvPr id="7" name="Oval 6"/>
          <p:cNvSpPr/>
          <p:nvPr/>
        </p:nvSpPr>
        <p:spPr>
          <a:xfrm>
            <a:off x="9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" y="5"/>
            <a:ext cx="0" cy="0"/>
          </a:xfrm>
          <a:prstGeom prst="ellipse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" y="5"/>
            <a:ext cx="0" cy="0"/>
          </a:xfrm>
          <a:prstGeom prst="ellipse">
            <a:avLst/>
          </a:prstGeom>
          <a:solidFill>
            <a:srgbClr val="69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ABED2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plan: five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resilient plan is more than a replica of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713232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490472"/>
            <a:ext cx="103510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1.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92807"/>
            <a:ext cx="10351007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Critical services, dependencies, priorities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12848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212848"/>
            <a:ext cx="73152" cy="713232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377440"/>
            <a:ext cx="103510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2. Recovery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79776"/>
            <a:ext cx="10351007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RPO, RTO, service levels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99815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099815"/>
            <a:ext cx="73152" cy="713232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264408"/>
            <a:ext cx="103510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3.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66744"/>
            <a:ext cx="10351007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Backup, replication, alternate compute, network, DNS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86784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986784"/>
            <a:ext cx="73152" cy="713232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151376"/>
            <a:ext cx="103510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4.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553712"/>
            <a:ext cx="10351007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Runbooks, access, owners, communications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73752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873752"/>
            <a:ext cx="73152" cy="713232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038344"/>
            <a:ext cx="1035100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5.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440680"/>
            <a:ext cx="10351007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83545"/>
                </a:solidFill>
                <a:latin typeface="Aptos"/>
              </a:rPr>
              <a:t>Exercises, evidence, remediation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Business impact analysis (BIA)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Prioritize recovery based on business impact and dependency chains.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Dependencies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Impact of outage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Recovery priority input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DB + network + IAM +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Transactions delayed / unavailable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High criticality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Customer portal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Web + API + DB + DNS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Digital channels unavailable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Warehouse + ETL +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Decision support delayed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Archive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Archive platform + storage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Historical access delayed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283545"/>
                          </a:solidFill>
                          <a:latin typeface="Aptos"/>
                        </a:rPr>
                        <a:t>Lower immediate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16636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The exact priority is a business decision; technology should make the chosen sequence executable.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Choose recovery infrastructure based on RTO/RPO, distance, cost and operational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73152" cy="17373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Backup / Restore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21408"/>
            <a:ext cx="2212848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Low cost • slower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5448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73152" cy="17373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171907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Pilot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121408"/>
            <a:ext cx="2212848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Core services pre-positioned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73152" cy="17373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71907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Warm Standby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21408"/>
            <a:ext cx="2212848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Reduced startup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55448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39" y="1554480"/>
            <a:ext cx="73152" cy="17373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7" y="171907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Hot Standby / Active-Active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7" y="2121408"/>
            <a:ext cx="2212848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Fastest recovery • highest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748C"/>
                </a:solidFill>
                <a:latin typeface="Aptos"/>
              </a:rPr>
              <a:t>These patterns describe service readiness—not a promise of a specific RTO.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8056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Align compute, storage, network, identity, monitoring and DNS readiness.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Document what is automated and what still requires human action.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Replication: moving changes to another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goal is a usable recovery copy at the target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0574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9476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Primary Site</a:t>
            </a:r>
            <a:br/>
            <a:r>
              <a:t>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737360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12463" y="181051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Primary</a:t>
            </a:r>
            <a:br/>
            <a:r>
              <a:t>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17373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810512"/>
            <a:ext cx="16276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Replication</a:t>
            </a:r>
            <a:br/>
            <a:r>
              <a:t>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737360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87384" y="181051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DR</a:t>
            </a:r>
            <a:br/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657600"/>
            <a:ext cx="18288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87384" y="3730752"/>
            <a:ext cx="17190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DR</a:t>
            </a:r>
            <a:br/>
            <a:r>
              <a:t>Applications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219456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2194560"/>
            <a:ext cx="8686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92440" y="2194560"/>
            <a:ext cx="64008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46920" y="2651760"/>
            <a:ext cx="0" cy="100584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27889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D4E"/>
                </a:solidFill>
                <a:latin typeface="Aptos"/>
              </a:rPr>
              <a:t>Primary → secondary 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2064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748C"/>
                </a:solidFill>
                <a:latin typeface="Aptos"/>
              </a:rPr>
              <a:t>Failover = make DR compute/services authoritative and validate dependencies.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Synchronous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Write is acknowledged only after the protected copy is kept in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5544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144475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28800"/>
            <a:ext cx="17373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58183" y="1901952"/>
            <a:ext cx="1627631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Primary</a:t>
            </a:r>
            <a:br/>
            <a:r>
              <a:t>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828800"/>
            <a:ext cx="18288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07224" y="1901952"/>
            <a:ext cx="17190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Secondary</a:t>
            </a:r>
            <a:br/>
            <a:r>
              <a:t>Storage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240280"/>
            <a:ext cx="12344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2240280"/>
            <a:ext cx="2011680" cy="0"/>
          </a:xfrm>
          <a:prstGeom prst="line">
            <a:avLst/>
          </a:prstGeom>
          <a:ln w="381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703320" y="2971800"/>
            <a:ext cx="3749040" cy="0"/>
          </a:xfrm>
          <a:prstGeom prst="line">
            <a:avLst/>
          </a:prstGeom>
          <a:ln w="25400">
            <a:solidFill>
              <a:srgbClr val="6074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24912" y="1554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5544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0748C"/>
                </a:solidFill>
                <a:latin typeface="Aptos"/>
              </a:rPr>
              <a:t>Remote write / acknowledgement dependency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94760"/>
            <a:ext cx="9875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794760"/>
            <a:ext cx="73152" cy="12344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959352"/>
            <a:ext cx="9528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Conceptual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61688"/>
            <a:ext cx="95280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Near-zero / zero data-loss target can be achievable, but distance, latency, bandwidth and platform support constrain design.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Asynchronous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primary acknowledges locally; changes are transferred to the secondary with some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>
                <a:solidFill>
                  <a:srgbClr val="60748C"/>
                </a:solidFill>
                <a:latin typeface="Aptos"/>
              </a:rPr>
              <a:t>RPS | ICICI 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5544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144475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28800"/>
            <a:ext cx="173736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58183" y="1901952"/>
            <a:ext cx="1627631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Primary</a:t>
            </a:r>
            <a:br/>
            <a:r>
              <a:t>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164592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1901952"/>
            <a:ext cx="153619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Replication</a:t>
            </a:r>
            <a:br/>
            <a:r>
              <a:t>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828800"/>
            <a:ext cx="18288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0224" y="1901952"/>
            <a:ext cx="17190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Secondary</a:t>
            </a:r>
            <a:br/>
            <a:r>
              <a:t>Storage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240280"/>
            <a:ext cx="12344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40680" y="2240280"/>
            <a:ext cx="7315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2240280"/>
            <a:ext cx="77724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60320" y="1508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99168"/>
                </a:solidFill>
                <a:latin typeface="Aptos"/>
              </a:rPr>
              <a:t>Local acknowledgement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28F43"/>
                </a:solidFill>
                <a:latin typeface="Aptos"/>
              </a:rPr>
              <a:t>Replication lag → RPO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49039"/>
            <a:ext cx="9875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749039"/>
            <a:ext cx="73152" cy="12801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3913631"/>
            <a:ext cx="9528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Conceptual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315968"/>
            <a:ext cx="9528048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545"/>
                </a:solidFill>
                <a:latin typeface="Aptos"/>
              </a:rPr>
              <a:t>Works across longer distances and lower bandwidth than synchronous designs, but recovery may lose the data still in flight.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Synchronous vs asynchronous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trade-off is driven by distance, latency, bandwidth, consistency and acceptable data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1732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Attribute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Synchronous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Asynchronous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Write acknowledgement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Depends on remote consistency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Local first, remote later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Potential RPO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Near-zero / zero target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Non-zero; depends on lag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Distance sensitivity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Bandwidth / latency sensitivity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Metro / low-latency protection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Regional / long-distance 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663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Current storage vendor documentation commonly exposes both modes; exact distance and transport limits are platform-specific.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Replication planning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Do not select synchronous/asynchronous before measuring the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Change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How much data changes per second/hour?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32588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RTT /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is the round-trip time between sites?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32588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Bandwidth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Can the link carry the change rate plus overhead?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What state must be crash/application consistent?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154680"/>
            <a:ext cx="73152" cy="14630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Failover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How are compute, IP/DNS, identity and apps activated?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154680"/>
            <a:ext cx="73152" cy="146304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Recovery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How much data may be lost?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Two-site DR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Production and DR should not share the same obvious failure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212080" cy="3931920"/>
          </a:xfrm>
          <a:prstGeom prst="roundRect">
            <a:avLst/>
          </a:prstGeom>
          <a:solidFill>
            <a:srgbClr val="FAFCFE"/>
          </a:solidFill>
          <a:ln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A1BF"/>
                </a:solidFill>
                <a:latin typeface="Aptos"/>
              </a:rPr>
              <a:t>PRIMARY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3931920"/>
          </a:xfrm>
          <a:prstGeom prst="roundRect">
            <a:avLst/>
          </a:prstGeom>
          <a:solidFill>
            <a:srgbClr val="FAFCFE"/>
          </a:solidFill>
          <a:ln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05AA8"/>
                </a:solidFill>
                <a:latin typeface="Aptos"/>
              </a:rPr>
              <a:t>DR 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14884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" y="222199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Apps / VMs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4884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5224" y="222199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8328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" y="345643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Backup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38328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35224" y="345643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4884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21424" y="222199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Apps / VMs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4884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41664" y="222199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38328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21424" y="345643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383280"/>
            <a:ext cx="1371600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41664" y="3456432"/>
            <a:ext cx="126187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Network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51960" y="2514600"/>
            <a:ext cx="2148840" cy="0"/>
          </a:xfrm>
          <a:prstGeom prst="line">
            <a:avLst/>
          </a:prstGeom>
          <a:ln w="381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43400" y="27157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05AA8"/>
                </a:solidFill>
                <a:latin typeface="Aptos"/>
              </a:rPr>
              <a:t>Replication / backup / management network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runbook: the sequence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runbook should reduce ambiguity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5819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1. Declare incident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1947672"/>
            <a:ext cx="365759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79" y="15087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15819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2. Freeze / isolate affected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1947672"/>
            <a:ext cx="365760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5087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5819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3. Confirm recovery point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1947672"/>
            <a:ext cx="365760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19" y="15087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5984" y="15819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4. Activate DR infrastructure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68128" y="2377439"/>
            <a:ext cx="0" cy="685801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" y="31089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31821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5. Restore / start services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3547872"/>
            <a:ext cx="365759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83279" y="31089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38144" y="31821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6. Validate dependencies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6440" y="3547872"/>
            <a:ext cx="365760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72200" y="31089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27064" y="31821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7. Business sign-off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0" y="3547872"/>
            <a:ext cx="365760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61119" y="3108960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3182112"/>
            <a:ext cx="231343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8. Resume normal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D4E"/>
                </a:solidFill>
                <a:latin typeface="Aptos"/>
              </a:rPr>
              <a:t>Every step needs: owner • entry criteria • evidence • exit criteria.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testing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Testing should build confidence without creating unnecessary production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0789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Test type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What happens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Production risk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Document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Validate contacts, dependencies, runbooks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Baseline 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Tabletop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Walk through an incident as a team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Decision / communication readiness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Simulation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Exercise recovery actions in controlled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Operational 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Low → 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Planned failover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Move selected services to DR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End-to-end confidence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Full DR exercise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Recover a critical service set under controlled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High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3545"/>
                          </a:solidFill>
                          <a:latin typeface="Aptos"/>
                        </a:rPr>
                        <a:t>Higher / carefully managed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What does a good DR test 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Success is measurable, not a status message that says “test completed”.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73152" cy="15087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RPO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Recovered data is within the agreed point-in-time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280160"/>
            <a:ext cx="73152" cy="15087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RTO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Service available within the agreed time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280160"/>
            <a:ext cx="73152" cy="15087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Dependencies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DNS, IAM, databases, network and integrations are functional.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79"/>
            <a:ext cx="73152" cy="15087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Business transactions / records are consistent.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154679"/>
            <a:ext cx="73152" cy="150876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Runbook usable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Operators can execute without tribal knowledge.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154679"/>
            <a:ext cx="73152" cy="150876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Evidence captured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Logs, timestamps, screenshots and sign-offs exist.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test scenario — retail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Controlled exercise for a critical transaction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Scenario item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Teaching value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Production: Mumbai; DR: Hyderabad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Shows site-level failure separation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Primary workload: transaction database + API tier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Illustrates application dependencies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RPO target: 15 minutes (exercise target)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Forces discussion on replication lag / backup 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RTO target: 60 minutes (exercise target)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Creates a measurable recovery clock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Protection: backup + asynchronous 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Compare recovery paths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Test window: planned maintenance window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Allows controlled failover and failback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44646"/>
                </a:solidFill>
                <a:latin typeface="Aptos"/>
              </a:rPr>
              <a:t>Scenario values are instructional assumptions, not ICICI production targets.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test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Measure the clock, not just the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Declare &amp; freeze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9928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21992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21992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Confirm recovery point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9624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9624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Activate DR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65192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77256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6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DB / middleware ready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92824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04888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04888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Application validation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0456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32520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Business test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48088" y="1719072"/>
            <a:ext cx="512064" cy="0"/>
          </a:xfrm>
          <a:prstGeom prst="line">
            <a:avLst/>
          </a:prstGeom>
          <a:ln w="2032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360152" y="1554480"/>
            <a:ext cx="1115568" cy="329184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60152" y="1609344"/>
            <a:ext cx="1115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T+60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20574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83545"/>
                </a:solidFill>
                <a:latin typeface="Aptos"/>
              </a:rPr>
              <a:t>RTO checkpoint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9260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At each checkpoint capture actual time and the reason for any delay.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68680" y="3566160"/>
          <a:ext cx="10058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Actual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Gap / cause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≤ 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RTO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≤ 60 min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________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Data integrity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Business validation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________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Scenario: failover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technical sequence must align with the business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Detect</a:t>
            </a:r>
            <a:br/>
            <a:r>
              <a:t>Production unavailable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286000"/>
            <a:ext cx="429768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Decide</a:t>
            </a:r>
            <a:br/>
            <a:r>
              <a:t>Incident commander approves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50208" y="2286000"/>
            <a:ext cx="429768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79976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Protect</a:t>
            </a:r>
            <a:br/>
            <a:r>
              <a:t>Stop / isolate writes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88736" y="2286000"/>
            <a:ext cx="429768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Recover</a:t>
            </a:r>
            <a:br/>
            <a:r>
              <a:t>Activate DR copy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7264" y="2286000"/>
            <a:ext cx="429768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57032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Validate</a:t>
            </a:r>
            <a:br/>
            <a:r>
              <a:t>DB → middleware → app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65792" y="2286000"/>
            <a:ext cx="429768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828800"/>
            <a:ext cx="150876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50424" y="1901952"/>
            <a:ext cx="1399031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Release</a:t>
            </a:r>
            <a:br/>
            <a:r>
              <a:t>Business users resume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D4E"/>
                </a:solidFill>
                <a:latin typeface="Aptos"/>
              </a:rPr>
              <a:t>Rollback / failback is a separate controlled sequence — do not treat it as an automatic mirror image.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Failback: the recovery after the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Returning service to the primary site is a planned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Confirm root cause is understood / contained.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Re-establish replication direction and baseline data.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Choose a low-risk cutover window.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Quiesce DR writes and synchronize remaining changes.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Switch application endpoints back to primary.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3545"/>
                </a:solidFill>
                <a:latin typeface="Aptos"/>
              </a:rPr>
              <a:t>• Validate transactions and resume normal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16002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70064" y="1901952"/>
            <a:ext cx="14904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DR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71800"/>
            <a:ext cx="16002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064" y="3044952"/>
            <a:ext cx="14904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Sync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114800"/>
            <a:ext cx="160020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4187952"/>
            <a:ext cx="14904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D4E"/>
                </a:solidFill>
                <a:latin typeface="Aptos"/>
              </a:rPr>
              <a:t>Primary Active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19872" y="2651760"/>
            <a:ext cx="0" cy="32004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19872" y="3794760"/>
            <a:ext cx="0" cy="32004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Common DR test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Most failures are operational, not because replication was impossible.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73152" cy="150876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Wrong recovery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The secondary is current but the business needs a prior clean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280160"/>
            <a:ext cx="73152" cy="150876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Hidden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DNS, IAM, certificates, firewall, integration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280160"/>
            <a:ext cx="73152" cy="150876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444751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Unclear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847088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No single person can authorize the next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79"/>
            <a:ext cx="73152" cy="150876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No data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System is “up” but business transactions are incorrect.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154679"/>
            <a:ext cx="73152" cy="150876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No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Test happened but there is no audit-ready result.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15467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154679"/>
            <a:ext cx="73152" cy="150876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No remediation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721607"/>
            <a:ext cx="3081528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Known gaps repeat in the next exercise.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Crash consistency vs application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“Data copied” does not automatically mean “application recoverable”.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3152" cy="164592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71907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Crash-consistent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21408"/>
            <a:ext cx="299008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Storage state that could result from an abrupt power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73152" cy="164592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719072"/>
            <a:ext cx="2990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Application-consistent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121408"/>
            <a:ext cx="299008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Coordinated application/database state using application-aware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73152" cy="164592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719072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21408"/>
            <a:ext cx="257860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Run application-level checks after recovery to prove the recovered service behaves correctly.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E"/>
                </a:solidFill>
                <a:latin typeface="Aptos"/>
              </a:rPr>
              <a:t>Backup and DR design should state what consistency level is required for each workload.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Which protection handles which failure?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Match the mechanism to the failure mode.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Failure mode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Backup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Replication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Accidental file deletion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Historical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May replicate deletion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Array failure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if same array, often no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Target storage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Site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✗ usually insufficient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off-site copy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secondary 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Corruption / ransomware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Risk if replicated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 with clean point + isolation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Risk if corruption replicates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Long 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Not ideal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Usually not primary purpose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Banking example: layered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transaction service typically needs more than one recovery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105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Customer /</a:t>
            </a:r>
            <a:br/>
            <a:r>
              <a:t>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8064" y="18105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API /</a:t>
            </a:r>
            <a:br/>
            <a:r>
              <a:t>App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1183" y="18105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Transaction</a:t>
            </a:r>
            <a:br/>
            <a:r>
              <a:t>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7373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3" y="18105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Primary</a:t>
            </a:r>
            <a:br/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3375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4303" y="34107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DR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337560"/>
            <a:ext cx="160020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36024" y="3410712"/>
            <a:ext cx="1490472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Repository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80" y="2176272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43400" y="2176272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6520" y="2176272"/>
            <a:ext cx="5029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54112" y="2606040"/>
            <a:ext cx="0" cy="731520"/>
          </a:xfrm>
          <a:prstGeom prst="line">
            <a:avLst/>
          </a:prstGeom>
          <a:ln w="25400">
            <a:solidFill>
              <a:srgbClr val="705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49640" y="3776472"/>
            <a:ext cx="73152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" y="498348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92D4E"/>
                </a:solidFill>
                <a:latin typeface="Aptos"/>
              </a:rPr>
              <a:t>Protection layers: application-aware backup + replication + isolated retention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Current vendor context: replication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Exact features differ by platform, but the operating concepts are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IBM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Current IBM documentation describes synchronous and asynchronous replication policies; planning considers RPO, application needs, RTT and data-change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9202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Dell 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Current Dell documentation describes synchronous, asynchronous and manual replication modes, with asynchronous synchronization tied to RPO.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73152" cy="19202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58191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Veeam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84248"/>
            <a:ext cx="3081528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Current Veeam documentation describes recovery plans, readiness checks, testing, execution and RPO/RTO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D4E"/>
                </a:solidFill>
                <a:latin typeface="Aptos"/>
              </a:rPr>
              <a:t>Teaching point: the control plane is becoming as important as the data copy.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Monitoring recovery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You should know whether the DR solution is healthy before the 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Replication 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Current gap between primary and secondary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32588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Last restore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Timestamp of most recent usable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32588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Backup job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Success / warning /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Repository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Free space and growth forecast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154680"/>
            <a:ext cx="73152" cy="14630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DR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Compute, network, DNS, IAM readiness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154680"/>
            <a:ext cx="73152" cy="146304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Test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Last successful exercise + open findings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Recovery readiness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 simple operational dashboard can turn “I think we’re protected” into measurable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Example status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Last successful 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Today 02:15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Protects recent changes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Replication lag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4 min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Shows current RPO exposure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Repository free 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Prevents backup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Last restore test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7 days ago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Proves recoverability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Last DR exercise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30 days ago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Proves operational readiness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Open DR findings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2 high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Shows residual risk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Classroom exercise: design the recovery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Work in pairs: turn a business requirement into a technical recovery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83545"/>
                </a:solidFill>
                <a:latin typeface="Aptos"/>
              </a:rPr>
              <a:t>A critical digital banking service processes transactions 24×7. The business requires minimal data loss and a controlled recovery test every quarter.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Illustrative RPO and RTO targets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Backup frequency and retention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D2D / D2T / cloud copy placement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Replication mode and rationale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Failover validation sequence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83545"/>
                </a:solidFill>
                <a:latin typeface="Aptos"/>
              </a:rPr>
              <a:t>• Evidence you would 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E"/>
                </a:solidFill>
                <a:latin typeface="Aptos"/>
              </a:rP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54680"/>
            <a:ext cx="4297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315468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319272"/>
            <a:ext cx="3950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One-page recovery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721608"/>
            <a:ext cx="395020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Draw the primary site, DR site, data flows, protection layers and recovery sequence.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DR test: discussion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Use these questions to expose design gaps before you perform the exercise.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8930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61872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What is the exact recovery point being used?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92808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476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39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Who declares the failover?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51176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78608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What happens to in-flight transactions?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09544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6440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36976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How are DNS and identity changed?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67912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95344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How are dependent services validated?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26279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581143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553712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Who signs off that the business service is ready?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84648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23951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12080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83545"/>
                </a:solidFill>
                <a:latin typeface="Aptos"/>
              </a:rPr>
              <a:t>How do you return safely to primary?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Day 4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From backup job to business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146304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Full / incremental / differential / synthetic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325880"/>
            <a:ext cx="73152" cy="146304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RPO + RTO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9016" y="1325880"/>
            <a:ext cx="73152" cy="146304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4904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892807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D2D / D2T / off-site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73152" cy="146304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Replicate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Sync vs async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154680"/>
            <a:ext cx="73152" cy="146304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62856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Operate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Runbook + ownership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1546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154680"/>
            <a:ext cx="73152" cy="1463040"/>
          </a:xfrm>
          <a:prstGeom prst="rect">
            <a:avLst/>
          </a:prstGeom>
          <a:solidFill>
            <a:srgbClr val="C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19272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721608"/>
            <a:ext cx="308152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DR test +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1663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D4E"/>
                </a:solidFill>
                <a:latin typeface="Aptos"/>
              </a:rPr>
              <a:t>Learner lens: recovery is a system property — data + compute + network + identity + people + process.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Answer first, then discuss.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52728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Which backup type usually minimizes data backed up per run?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252728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Incremental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84248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3911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02536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What does RPO measure?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02536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Acceptable data loss expressed as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34056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5234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What does RTO measure?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52344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Time allowed to restore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83864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53872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02152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What is a common advantage of D2D?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502152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Fast operational restore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33672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28853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51959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What is a core trade-off of asynchronous replication?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51959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Non-zero recovery-point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83479"/>
            <a:ext cx="38404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038343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001767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3545"/>
                </a:solidFill>
                <a:latin typeface="Aptos"/>
              </a:rPr>
              <a:t>What must every DR test capture?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001767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748C"/>
                </a:solidFill>
                <a:latin typeface="Aptos"/>
              </a:rPr>
              <a:t>Actual RPO/RTO and recovery evidence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Think like a recovery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Five questions to ask whenever you see a backup or DR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205740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What can fail?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16642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Use the question to challenge an architecture, not just a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554480"/>
            <a:ext cx="73152" cy="2057400"/>
          </a:xfrm>
          <a:prstGeom prst="rect">
            <a:avLst/>
          </a:prstGeom>
          <a:solidFill>
            <a:srgbClr val="7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171907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92D4E"/>
                </a:solidFill>
                <a:latin typeface="Aptos"/>
              </a:rPr>
              <a:t>What data can be lost?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121408"/>
            <a:ext cx="16642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545"/>
                </a:solidFill>
                <a:latin typeface="Aptos"/>
              </a:rPr>
              <a:t>Use the question to challenge an architecture, not just a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55448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0" y="1554480"/>
            <a:ext cx="73152" cy="2057400"/>
          </a:xfrm>
          <a:prstGeom prst="rect">
            <a:avLst/>
          </a:prstGeom>
          <a:solidFill>
            <a:srgbClr val="E28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71907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How fast must service return?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194560"/>
            <a:ext cx="16642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83545"/>
                </a:solidFill>
                <a:latin typeface="Aptos"/>
              </a:rPr>
              <a:t>Use the question to challenge an architecture, not just a product.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5448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1554480"/>
            <a:ext cx="73152" cy="2057400"/>
          </a:xfrm>
          <a:prstGeom prst="rect">
            <a:avLst/>
          </a:prstGeom>
          <a:solidFill>
            <a:srgbClr val="39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53528" y="171907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Where is the independent recovery copy?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2394057"/>
            <a:ext cx="16642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83545"/>
                </a:solidFill>
                <a:latin typeface="Aptos"/>
              </a:rPr>
              <a:t>Use the question to challenge an architecture, not just a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55448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0" y="1554480"/>
            <a:ext cx="73152" cy="20574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8" y="171907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How do we prove recovery before the incident?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7183" y="2359152"/>
            <a:ext cx="16642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83545"/>
                </a:solidFill>
                <a:latin typeface="Aptos"/>
              </a:rPr>
              <a:t>Use the question to challenge an architecture, not just a product.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External references used for current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Official vendor documentation consulted for Day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Used for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Domain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Veeam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83545"/>
                          </a:solidFill>
                          <a:latin typeface="Aptos"/>
                        </a:rPr>
                        <a:t>Backup Infrastructure, Planning, Backup Copy, Recovery 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helpcenter.veeam.com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Commvault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CommCell / MediaAgent / DR backup documentation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documentation.commvault.com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Veritas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NetBackup Getting Started / architecture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veritas.com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IBM Storage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Synchronous and asynchronous replication planning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ibm.com/docs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Dell Unity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Replication modes and RPO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83545"/>
                          </a:solidFill>
                          <a:latin typeface="Aptos"/>
                        </a:rPr>
                        <a:t>dell.com/support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Reference pages are current as checked during deck preparation; exact feature availability depends on product, release and license.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Source map from supplied training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The uploaded decks remain the primary teaching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80160"/>
          <a:ext cx="1097279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Supplied reference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Day 4 material used</a:t>
                      </a:r>
                    </a:p>
                  </a:txBody>
                  <a:tcPr>
                    <a:solidFill>
                      <a:srgbClr val="19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5.Backup.pptx / Backup.pptx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Full, incremental, differential, synthetic, mirror; backup devices; backup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Introduction to Storage &amp; Backup_ITC.pptx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Backup/restore, image-based backup, RPO/RTO, performance, replication concepts, deduplication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Storage-Module1.pptx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Storage replication context and performance vocabulary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2.Intelligent_Storage_System.pptx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83545"/>
                          </a:solidFill>
                          <a:latin typeface="Aptos"/>
                        </a:rPr>
                        <a:t>Intelligent storage, cache and storage-system concepts supporting DR context</a:t>
                      </a:r>
                    </a:p>
                  </a:txBody>
                  <a:tcPr anchor="ctr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949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0748C"/>
                </a:solidFill>
                <a:latin typeface="Aptos"/>
              </a:rPr>
              <a:t>External sources supplement current vendor architecture and replication guidance where the supplied legacy decks were dated.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End-to-end resilience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One picture to connect the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3258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993392"/>
            <a:ext cx="121615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Users /</a:t>
            </a:r>
            <a:br/>
            <a:r>
              <a:t>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920240"/>
            <a:ext cx="132588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9424" y="1993392"/>
            <a:ext cx="121615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Apps /</a:t>
            </a:r>
            <a:br/>
            <a:r>
              <a:t>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20240"/>
            <a:ext cx="141732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41063" y="1993392"/>
            <a:ext cx="130759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Primary</a:t>
            </a:r>
            <a:br/>
            <a:r>
              <a:t>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143000"/>
            <a:ext cx="1325880" cy="777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24144" y="1216152"/>
            <a:ext cx="1216152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Snapshots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331720"/>
            <a:ext cx="1325880" cy="777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8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4144" y="2404872"/>
            <a:ext cx="1216152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Backup</a:t>
            </a:r>
            <a:br/>
            <a:r>
              <a:t>Repository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920240"/>
            <a:ext cx="141732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0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52944" y="1993392"/>
            <a:ext cx="130759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DR</a:t>
            </a:r>
            <a:br/>
            <a:r>
              <a:t>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920240"/>
            <a:ext cx="141732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7464" y="1993392"/>
            <a:ext cx="130759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DR Apps /</a:t>
            </a:r>
            <a:br/>
            <a:r>
              <a:t>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703320"/>
            <a:ext cx="1325880" cy="7772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9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24144" y="3776472"/>
            <a:ext cx="1216152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92D4E"/>
                </a:solidFill>
                <a:latin typeface="Aptos"/>
              </a:rPr>
              <a:t>Tape /</a:t>
            </a:r>
            <a:br/>
            <a:r>
              <a:t>Archive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2331720"/>
            <a:ext cx="3657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20440" y="2331720"/>
            <a:ext cx="3657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03520" y="2331720"/>
            <a:ext cx="36576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95160" y="2331720"/>
            <a:ext cx="502919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15400" y="2331720"/>
            <a:ext cx="457200" cy="0"/>
          </a:xfrm>
          <a:prstGeom prst="line">
            <a:avLst/>
          </a:prstGeom>
          <a:ln w="25400">
            <a:solidFill>
              <a:srgbClr val="2EA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572000" y="1536192"/>
            <a:ext cx="1097280" cy="429768"/>
          </a:xfrm>
          <a:prstGeom prst="line">
            <a:avLst/>
          </a:prstGeom>
          <a:ln w="25400">
            <a:solidFill>
              <a:srgbClr val="2EA1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2697480"/>
            <a:ext cx="1097280" cy="27432"/>
          </a:xfrm>
          <a:prstGeom prst="line">
            <a:avLst/>
          </a:prstGeom>
          <a:ln w="25400">
            <a:solidFill>
              <a:srgbClr val="E28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0800" y="3108960"/>
            <a:ext cx="0" cy="594360"/>
          </a:xfrm>
          <a:prstGeom prst="line">
            <a:avLst/>
          </a:prstGeom>
          <a:ln w="25400">
            <a:solidFill>
              <a:srgbClr val="19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68112" y="841248"/>
            <a:ext cx="17373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EA1BF"/>
                </a:solidFill>
                <a:latin typeface="Aptos"/>
              </a:rPr>
              <a:t>Fast local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526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2D4E"/>
                </a:solidFill>
                <a:latin typeface="Aptos"/>
              </a:rPr>
              <a:t>Historical / independent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1508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5AA8"/>
                </a:solidFill>
                <a:latin typeface="Aptos"/>
              </a:rPr>
              <a:t>Replication for site recovery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E"/>
                </a:solidFill>
                <a:latin typeface="Aptos"/>
              </a:rPr>
              <a:t>Five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748C"/>
                </a:solidFill>
                <a:latin typeface="Aptos"/>
              </a:rPr>
              <a:t>What should stay with you after Day 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748C"/>
                </a:solidFill>
                <a:latin typeface="Aptos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0" cy="0"/>
          </a:xfrm>
          <a:prstGeom prst="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3949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6692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89304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2710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Backup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271016"/>
            <a:ext cx="7406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Start with business recovery requirements, not the backup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112264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939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RPO / 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93976"/>
            <a:ext cx="7406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Translate loss tolerance and downtime tolerance into measurable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56692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935224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169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Protection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16936"/>
            <a:ext cx="7406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Snapshots, backup and replication solve different problems.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56692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758184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3989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DR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39896"/>
            <a:ext cx="7406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Runbooks, dependencies and ownership matter as much as technology.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26280"/>
            <a:ext cx="566928" cy="329184"/>
          </a:xfrm>
          <a:prstGeom prst="roundRect">
            <a:avLst/>
          </a:prstGeom>
          <a:solidFill>
            <a:srgbClr val="2EA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581144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56285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E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562856"/>
            <a:ext cx="7406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545"/>
                </a:solidFill>
                <a:latin typeface="Aptos"/>
              </a:rPr>
              <a:t>A recovery design is only credible when it has been exercised and evidenced.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A1BF"/>
                </a:solidFill>
                <a:latin typeface="Aptos"/>
              </a:rPr>
              <a:t>DAY 4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Protect → Recover →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51760"/>
            <a:ext cx="9692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CE6F2"/>
                </a:solidFill>
                <a:latin typeface="Aptos"/>
              </a:rPr>
              <a:t>Backup strategies, recovery objectives, enterprise tools, replication and DR testing are one connected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754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ED2"/>
                </a:solidFill>
                <a:latin typeface="Aptos"/>
              </a:rPr>
              <a:t>Next: continue from recovery fundamentals into deeper storage operations and resiliency.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053328"/>
            <a:ext cx="3657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60748C"/>
                </a:solidFill>
                <a:latin typeface="Aptos"/>
              </a:rPr>
              <a:t>storageprabhu99@gmail.com• Day 4 • Backup, DR &amp; Business Continuity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3506</TotalTime>
  <Words>5398</Words>
  <Application>Microsoft Office PowerPoint</Application>
  <PresentationFormat>Widescreen</PresentationFormat>
  <Paragraphs>960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Prabhugaonkar</cp:lastModifiedBy>
  <cp:revision>11</cp:revision>
  <dcterms:created xsi:type="dcterms:W3CDTF">2013-01-27T09:14:16Z</dcterms:created>
  <dcterms:modified xsi:type="dcterms:W3CDTF">2026-10-03T04:49:25Z</dcterms:modified>
  <cp:category/>
</cp:coreProperties>
</file>