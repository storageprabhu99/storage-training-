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BFC1C-3139-4820-B532-17F16816973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A6F71-7CB7-40E4-B651-FE6BA189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1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A6F71-7CB7-40E4-B651-FE6BA189FB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A6F71-7CB7-40E4-B651-FE6BA189FB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A6F71-7CB7-40E4-B651-FE6BA189FB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A6F71-7CB7-40E4-B651-FE6BA189FB7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91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s.emc.com/usa/UnityVSA/DELLEMCUnityDemo-5.0.0.0-win.exe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center.dell.com/hol/HOLA/HOL-0504-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2EA1BF"/>
                </a:solidFill>
                <a:latin typeface="Aptos"/>
              </a:rPr>
              <a:t>StoragePrabhu99</a:t>
            </a:r>
            <a:endParaRPr sz="1400" b="1" dirty="0">
              <a:solidFill>
                <a:srgbClr val="2EA1B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C8DCF0"/>
                </a:solidFill>
                <a:latin typeface="Aptos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Dell EMC Storage Systems</a:t>
            </a:r>
            <a:br/>
            <a:r>
              <a:rPr sz="3800" b="1">
                <a:solidFill>
                  <a:srgbClr val="FFFFFF"/>
                </a:solidFill>
                <a:latin typeface="Aptos"/>
              </a:rPr>
              <a:t>Hands-On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9509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EE8F3"/>
                </a:solidFill>
                <a:latin typeface="Aptos"/>
              </a:rPr>
              <a:t>Unity • VNX • PowerMax • Pools • LUNs • RAID • Unisphere • Snapshots • Replication • Provisioning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983480"/>
            <a:ext cx="2697480" cy="329184"/>
          </a:xfrm>
          <a:prstGeom prst="roundRect">
            <a:avLst/>
          </a:prstGeom>
          <a:solidFill>
            <a:srgbClr val="295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38344"/>
            <a:ext cx="26609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STUDENT CLASSROOM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870448"/>
            <a:ext cx="5852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By the end of Day 5, you should be able to explain, navigate and simulate a storage provisioning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0" dirty="0">
                <a:solidFill>
                  <a:srgbClr val="60748C"/>
                </a:solidFill>
                <a:latin typeface="Aptos"/>
              </a:rPr>
              <a:t>storageprabhu99@gmail.com</a:t>
            </a:r>
            <a:r>
              <a:rPr sz="800" b="0" dirty="0">
                <a:solidFill>
                  <a:srgbClr val="60748C"/>
                </a:solidFill>
                <a:latin typeface="Aptos"/>
              </a:rPr>
              <a:t>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09728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63039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Position Unity, VNX and PowerMax at overview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109728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39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Explain controllers, front-end connectivity, pools, LUNs and RAID.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73152" cy="10972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Provisioning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Describe pool → LUN → access mapping → host 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743200"/>
            <a:ext cx="73152" cy="109728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Unisphere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Recognize common monitoring, provisioning and protection areas.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160520"/>
            <a:ext cx="73152" cy="109728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Explain snapshots and replication and distinguish them from backups.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160520"/>
            <a:ext cx="73152" cy="109728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2976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663440"/>
            <a:ext cx="474573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Complete a simulated 500 GB LUN workflow and document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Day 5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source curriculum uses an 8-hour flow that moves from portfolio → architecture → GUI → protection →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0515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09:30–10:00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911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Recap +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32588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73152" cy="10515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463039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10:00–11:15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28800"/>
            <a:ext cx="1911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Dell EMC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32588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73152" cy="10515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463039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11:30–13:00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1828800"/>
            <a:ext cx="1911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Architecture + pools / LUNs / RAID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32588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18120" y="1325880"/>
            <a:ext cx="73152" cy="10515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1463039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14:00–15:15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1911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Unisphere walkthrough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063240"/>
            <a:ext cx="2697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20240" y="306324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320040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15:30–16:30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566160"/>
            <a:ext cx="236829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Snapshots + replication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063240"/>
            <a:ext cx="2697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306324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320040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16:30–17:30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66160"/>
            <a:ext cx="236829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Provisioning lab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063240"/>
            <a:ext cx="2697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89520" y="3063240"/>
            <a:ext cx="73152" cy="11430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320040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17:30–18:00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566160"/>
            <a:ext cx="236829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Quiz +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Hands-on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828032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83545"/>
                </a:solidFill>
                <a:latin typeface="Aptos"/>
              </a:rPr>
              <a:t>Before clicking: state what object you are changing, why, who is affected, and what evidence should prove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Connect Days 1–4 to 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Vendor terminology changes; the storage administrator’s reasoning stays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920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1792224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Day 1</a:t>
            </a:r>
            <a:br/>
            <a:r>
              <a:rPr sz="1100" b="1">
                <a:solidFill>
                  <a:srgbClr val="192D4E"/>
                </a:solidFill>
                <a:latin typeface="Aptos"/>
              </a:rPr>
              <a:t>DAS / NAS / SAN / RAID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377440"/>
            <a:ext cx="3657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1828800"/>
            <a:ext cx="1920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865376"/>
            <a:ext cx="1792224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Day 2</a:t>
            </a:r>
            <a:br/>
            <a:r>
              <a:rPr sz="1100" b="1">
                <a:solidFill>
                  <a:srgbClr val="192D4E"/>
                </a:solidFill>
                <a:latin typeface="Aptos"/>
              </a:rPr>
              <a:t>FC / iSCSI / zoning / LUN / MPIO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2377440"/>
            <a:ext cx="36576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828800"/>
            <a:ext cx="1920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8" y="1865376"/>
            <a:ext cx="1792224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Day 3</a:t>
            </a:r>
            <a:br/>
            <a:r>
              <a:rPr sz="1100" b="1">
                <a:solidFill>
                  <a:srgbClr val="192D4E"/>
                </a:solidFill>
                <a:latin typeface="Aptos"/>
              </a:rPr>
              <a:t>virtualization / tiering / performance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2377440"/>
            <a:ext cx="36576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43800" y="1828800"/>
            <a:ext cx="1920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8" y="1865376"/>
            <a:ext cx="1792224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Day 4</a:t>
            </a:r>
            <a:br/>
            <a:r>
              <a:rPr sz="1100" b="1">
                <a:solidFill>
                  <a:srgbClr val="192D4E"/>
                </a:solidFill>
                <a:latin typeface="Aptos"/>
              </a:rPr>
              <a:t>backup / DR / replication / RPO / RTO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4040" y="2377440"/>
            <a:ext cx="36576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1828800"/>
            <a:ext cx="1920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93808" y="1865376"/>
            <a:ext cx="1792224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Day 5</a:t>
            </a:r>
            <a:br/>
            <a:r>
              <a:rPr sz="1100" b="1">
                <a:solidFill>
                  <a:srgbClr val="192D4E"/>
                </a:solidFill>
                <a:latin typeface="Aptos"/>
              </a:rPr>
              <a:t>Dell EMC implementation +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Dell Technologies storage portfolio — course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Unity, VNX and PowerMax are intentionally taught at different depth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9981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Focus: enterprise platform, architecture, provisioning and Unisphere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09981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Use as an enterprise example for pools, LUNs, RAID and host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POWERMAX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09981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High-end enterprise platform; focus on transferable storage concepts.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977639"/>
            <a:ext cx="30175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4032503"/>
            <a:ext cx="2980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DELL TECHNOLOGIES •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0748C"/>
                </a:solidFill>
                <a:latin typeface="Aptos"/>
              </a:rPr>
              <a:t>Training boundary: this module is overview + simulated administration, not a model-specific certification course.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Portfolio comparison — what transfers?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Keep the comparison conceptual; validate model-specific capabilities in the actual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17320"/>
          <a:ext cx="106070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Unity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VNX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PowerMax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Primary classroom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Architecture + provisioning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Pools + LUNs + RAID +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Architecture + provisioning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Management focus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Unisphere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Unisphere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Unisphere for PowerMax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Common objects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Pools, LUNs, 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Pools, LUNs, storage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Storage groups, thin devices, masking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Protection emphasis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Snapshots + replication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Snapshots / replication concepts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Local replication + SRDF concepts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Do not memorize product numbers. Learn the object model and the operational 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1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Unity — conceptual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Map the generic enterprise path onto a Dell Unity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4991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468880"/>
            <a:ext cx="457199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7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SAN / Network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4759" y="2468880"/>
            <a:ext cx="45720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59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Front-end 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9" y="2468880"/>
            <a:ext cx="45720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79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Controllers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2468880"/>
            <a:ext cx="45720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2468880"/>
            <a:ext cx="4572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75520" y="205740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209397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Student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703320"/>
            <a:ext cx="8046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Where is capacity abstracted?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Where does access get controlled?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Where does the host discover the LUN?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VNX — conceptual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VNX to reinforce the classic storage objects and access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011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18836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Physical disks / RAID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423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7" y="1499616"/>
            <a:ext cx="229514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Storage pool / RAID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14173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499616"/>
            <a:ext cx="128930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18288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499616"/>
            <a:ext cx="17007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Storage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1463040"/>
            <a:ext cx="10972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96728" y="1499616"/>
            <a:ext cx="9692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1847088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1847088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1847088"/>
            <a:ext cx="45720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0" y="1847088"/>
            <a:ext cx="45720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2971800"/>
            <a:ext cx="10241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2971800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108960"/>
            <a:ext cx="9921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Modern teaching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74720"/>
            <a:ext cx="99120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VNX is a legacy platform in today’s portfolio, but Dell still documents operational procedures for VNX/VNXe. Treat it as a transfer-of-concepts platform in this course.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PowerMax — conceptual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PowerMax adds a more explicit host/export object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22402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62456"/>
            <a:ext cx="21122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 initiator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325880"/>
            <a:ext cx="1600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362456"/>
            <a:ext cx="14721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Port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25880"/>
            <a:ext cx="17830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1362456"/>
            <a:ext cx="16550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Storage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325880"/>
            <a:ext cx="17373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362456"/>
            <a:ext cx="160934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Thin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743200"/>
            <a:ext cx="2057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2779776"/>
            <a:ext cx="19293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Masking 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743200"/>
            <a:ext cx="17373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779776"/>
            <a:ext cx="160934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 access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1719072"/>
            <a:ext cx="64008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7800" y="1719072"/>
            <a:ext cx="7315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0" y="1719072"/>
            <a:ext cx="68580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03720" y="2103120"/>
            <a:ext cx="0" cy="640080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136392"/>
            <a:ext cx="640080" cy="0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1605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83545"/>
                </a:solidFill>
                <a:latin typeface="Aptos"/>
              </a:rPr>
              <a:t>PowerMax provisioning uses the association of initiators + front-end ports + storage group through a masking 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Common enterprise storage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source curriculum anchors Day 5 on this simple end-to-end mental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331720"/>
            <a:ext cx="457199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7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SAN / network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4759" y="2331720"/>
            <a:ext cx="45720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59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Front-end 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9" y="2331720"/>
            <a:ext cx="45720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79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Controllers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2331720"/>
            <a:ext cx="45720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Storage pool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2331720"/>
            <a:ext cx="4572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75520" y="1920240"/>
            <a:ext cx="1417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1956816"/>
            <a:ext cx="1289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LUN /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77639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D4E"/>
                </a:solidFill>
                <a:latin typeface="Aptos"/>
              </a:rPr>
              <a:t>capacity → protection → object → access → validation →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Controllers, front end and back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Keep internals conceptual unless the actual platform is available for demonstration.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16002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305409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Receives host I/O over configured connectivity and exposes storage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17320"/>
            <a:ext cx="73152" cy="16002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Controller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20240"/>
            <a:ext cx="305409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Coordinates access, cache and storage operations at platform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73152" cy="160020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Back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05409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Coordinates access to underlying storage resources and protection layout.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60520" y="2212848"/>
            <a:ext cx="246888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2212848"/>
            <a:ext cx="256032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88720" y="4023360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44646"/>
                </a:solidFill>
                <a:latin typeface="Aptos"/>
              </a:rPr>
              <a:t>Rule: use architecture-level language; do not invent vendor-specific implementation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Storage pools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pool abstracts physical storage resources into a capacity resource used for provisioning.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6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0312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9748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9184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886200" y="132588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0876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0312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9748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86200" y="1920240"/>
            <a:ext cx="384048" cy="384048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00600" y="1444752"/>
            <a:ext cx="19202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1481328"/>
            <a:ext cx="179222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6160" y="1828800"/>
            <a:ext cx="12344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1444752"/>
            <a:ext cx="20116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82128" y="1481328"/>
            <a:ext cx="188366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LUNs / Volumes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20840" y="1938528"/>
            <a:ext cx="109728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3154680"/>
            <a:ext cx="10241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Capacity: enough usable headroom for workload growth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Protection: aligned with workload and platform capabilities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Performance: match workload profile and tiering goals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83545"/>
                </a:solidFill>
                <a:latin typeface="Aptos"/>
              </a:rPr>
              <a:t>• Utilization: avoid over-commitment without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Pool design: dynamic vs traditional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Exact support depends on Unity model and OE 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Concept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Dynamic pool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Traditional pool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Drive extents distributed across drives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More fixed storage/RAID-group style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Failure handling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Rebuild extents into distributed spare space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Rebuild behavior depends on configured RAID group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Designed for flexible pooled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Common in legacy / specific configurations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Course action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Understand the pool as the provisioning abstraction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Understand the relationship between RAID groups and LUNs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6634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748C"/>
                </a:solidFill>
                <a:latin typeface="Aptos"/>
              </a:rPr>
              <a:t>Dell documents dynamic pools as the default for many Unity configurations; verify the actual platform before selecting pool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RAID — protection before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RAID choices trade capacity, resilience and rebuild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7160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RAID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30998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Mirroring • strong redundancy • lower usable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19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7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36775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76856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95144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53512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1234440"/>
            <a:ext cx="73152" cy="114300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137160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RAID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737360"/>
            <a:ext cx="30998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Single parity • efficient usable capacity • rebuild considerations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1536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9904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28F43"/>
                </a:solidFill>
                <a:latin typeface="Aptos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9984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73168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3248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31536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28F43"/>
                </a:solidFill>
                <a:latin typeface="Aptos"/>
              </a:rPr>
              <a:t>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1234440"/>
            <a:ext cx="73152" cy="11430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137160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RAID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737360"/>
            <a:ext cx="30998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Dual parity • tolerates multiple drive failures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67928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26296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66376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84663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5AA8"/>
                </a:solidFill>
                <a:latin typeface="Aptos"/>
              </a:rPr>
              <a:t>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24744" y="2788920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43032" y="2843784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5AA8"/>
                </a:solidFill>
                <a:latin typeface="Aptos"/>
              </a:rPr>
              <a:t>Q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67928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08008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26296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66376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84663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5AA8"/>
                </a:solidFill>
                <a:latin typeface="Aptos"/>
              </a:rPr>
              <a:t>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24744" y="3291839"/>
            <a:ext cx="5029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43032" y="3346703"/>
            <a:ext cx="466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5AA8"/>
                </a:solidFill>
                <a:latin typeface="Aptos"/>
              </a:rPr>
              <a:t>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48920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44646"/>
                </a:solidFill>
                <a:latin typeface="Aptos"/>
              </a:rPr>
              <a:t>Always confirm supported RAID / protection choices in the actual lab or simulator.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How should you choose protection?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Maximum usable capacity is only one decision criterion.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1731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Random I/O? Sequential? DB? Virtualization?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1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How many drive failures must be tolerated?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801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28016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41731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8308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happens to performance during rebuild?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632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063239"/>
            <a:ext cx="73152" cy="14173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0039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6615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Can the pool be expanded / rebalanced?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0632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063239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320039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6615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does this Dell platform actually support?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LUNs — the logical block-storage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LUN becomes useful only when it is correctly presented to the intended host.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11095"/>
            <a:ext cx="156362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286000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874519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911095"/>
            <a:ext cx="156362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Create LUN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286000"/>
            <a:ext cx="59436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874519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1911095"/>
            <a:ext cx="156362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Set access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2286000"/>
            <a:ext cx="594359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79" y="1874519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1911095"/>
            <a:ext cx="156362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 discovers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89719" y="2286000"/>
            <a:ext cx="594361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84080" y="1874519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48088" y="1911095"/>
            <a:ext cx="156362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OS / Hypervisor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83545"/>
                </a:solidFill>
                <a:latin typeface="Aptos"/>
              </a:rPr>
              <a:t>LUN metadata usually includes name, ID, capacity and the pool / storage resource it consumes.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Host access: mapping /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visible LUN is not enough — the correct host must have the correct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1554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499616"/>
            <a:ext cx="14264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63040"/>
            <a:ext cx="19202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499616"/>
            <a:ext cx="179222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Access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463040"/>
            <a:ext cx="2011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0568" y="1499616"/>
            <a:ext cx="18836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SAN zoning</a:t>
            </a:r>
            <a:br/>
            <a:r>
              <a:rPr sz="1200" b="1">
                <a:solidFill>
                  <a:srgbClr val="192D4E"/>
                </a:solidFill>
                <a:latin typeface="Aptos"/>
              </a:rPr>
              <a:t>(if applicable)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463040"/>
            <a:ext cx="13716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39528" y="1499616"/>
            <a:ext cx="12435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847088"/>
            <a:ext cx="11887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1847088"/>
            <a:ext cx="11887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1847088"/>
            <a:ext cx="109728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1089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10896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Validate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28254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WWPN / iSCSI initiator / host object must match the intended server.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1089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10896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246120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11880"/>
            <a:ext cx="28254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Avoid exposing the LUN to an unintended host.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1089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0" y="3108960"/>
            <a:ext cx="73152" cy="14173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3246120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Validate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11880"/>
            <a:ext cx="28254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Confirm redundancy / MPIO and expected discovery.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End-to-end provisioning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lab follows the complete storage object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Requirement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8" y="2368296"/>
            <a:ext cx="475488" cy="0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8296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32304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9624" y="2368296"/>
            <a:ext cx="475488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25112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2368296"/>
            <a:ext cx="475488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1928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Access mapping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63256" y="2368296"/>
            <a:ext cx="475488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38744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Host discovery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20072" y="2368296"/>
            <a:ext cx="475488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965960"/>
            <a:ext cx="1481328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59568" y="2002536"/>
            <a:ext cx="13533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D4E"/>
                </a:solidFill>
                <a:latin typeface="Aptos"/>
              </a:rPr>
              <a:t>Plan → Select → Create → Present → Discover → Validate → Document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Provisioning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Run this checklist before clicking “Create”.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28930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Capacity requirement understood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28930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Correct pool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11226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Protection requirement considered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5740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1226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Correct LUN size +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8036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93522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Correct host / initiator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88036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93522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Correct mapping / masking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0332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75818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Host visibility confirmed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0332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75818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Paths / MPIO validated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2628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Before / after evidence captured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52628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4581144"/>
            <a:ext cx="49926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☐ Documentation completed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Provisioning — student decision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Before the lab, verbalize the workflow for a 500 GB request.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19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 •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21854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Where should 500 GB come from?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801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280160"/>
            <a:ext cx="73152" cy="11430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417319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2 •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83080"/>
            <a:ext cx="21854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What RAID / protection requirement applies?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73152" cy="114300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19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3 •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1854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Which host / initiators should see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2801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1280160"/>
            <a:ext cx="73152" cy="11430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1417319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4 •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783080"/>
            <a:ext cx="21854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evidence proves only the intended host sees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154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Instructor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1089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3545"/>
                </a:solidFill>
                <a:latin typeface="Aptos"/>
              </a:rPr>
              <a:t>Do not start with the GUI. Start with the desired end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A1BF"/>
                </a:solidFill>
                <a:latin typeface="Aptos"/>
              </a:rPr>
              <a:t>SESSION 1 →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Unisphere &amp; 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9875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Aptos"/>
              </a:rPr>
              <a:t>Now translate the storage object model into a management interface and repeatable operational tasks.</a:t>
            </a:r>
          </a:p>
        </p:txBody>
      </p:sp>
      <p:sp>
        <p:nvSpPr>
          <p:cNvPr id="6" name="Oval 5"/>
          <p:cNvSpPr/>
          <p:nvPr/>
        </p:nvSpPr>
        <p:spPr>
          <a:xfrm>
            <a:off x="9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ED2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What is Unisphere?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Dell uses Unisphere-family interfaces for web-based array management; exact menus vary by product/version.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30540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Health • capacity • performance •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920240"/>
            <a:ext cx="30540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Pools • LUNs / volumes • host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0540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Snapshots • replication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Student principle: learn the object you are changing, not the button sequence.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Unisphere navigation — Unity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Official Dell documentation groups the interface into dashboard, system, storage, access, protection, events and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2103120" cy="329184"/>
          </a:xfrm>
          <a:prstGeom prst="round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89304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10512"/>
            <a:ext cx="2103120" cy="329184"/>
          </a:xfrm>
          <a:prstGeom prst="round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6537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86584"/>
            <a:ext cx="2103120" cy="329184"/>
          </a:xfrm>
          <a:prstGeom prst="round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441448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62656"/>
            <a:ext cx="2103120" cy="329184"/>
          </a:xfrm>
          <a:prstGeom prst="round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017520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38728"/>
            <a:ext cx="21031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593592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Protection &amp; Mobility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14800"/>
            <a:ext cx="21031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169663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90872"/>
            <a:ext cx="210312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74573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4173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141732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1554480"/>
            <a:ext cx="2423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System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920240"/>
            <a:ext cx="24140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Look for component health, capacity, pool state and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1417320"/>
            <a:ext cx="73152" cy="11430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554480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920240"/>
            <a:ext cx="204825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Pools + block/file/VMware storage resources.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61120" y="1417320"/>
            <a:ext cx="73152" cy="114300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1554480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920240"/>
            <a:ext cx="204825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Hosts + initiators + storage presentation.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92608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2926080"/>
            <a:ext cx="73152" cy="11430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3063240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429000"/>
            <a:ext cx="204825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Snapshot schedules + replication areas.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92608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61120" y="2926080"/>
            <a:ext cx="73152" cy="1143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3063240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429000"/>
            <a:ext cx="204825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Alerts + jobs + logs =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Unisphere dashboard — simulated training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Not a production screenshot; use the actual lab interface for live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6766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6766560" cy="384048"/>
          </a:xfrm>
          <a:prstGeom prst="rect">
            <a:avLst/>
          </a:prstGeom>
          <a:solidFill>
            <a:srgbClr val="0C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6492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Unisphere • 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527048"/>
            <a:ext cx="1417320" cy="4279392"/>
          </a:xfrm>
          <a:prstGeom prst="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14883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38144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67911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7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8013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D4E"/>
                </a:solidFill>
                <a:latin typeface="Aptos"/>
              </a:rP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7830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92D4E"/>
                </a:solidFill>
                <a:latin typeface="Aptos"/>
              </a:rPr>
              <a:t>6.3 TB</a:t>
            </a:r>
          </a:p>
        </p:txBody>
      </p:sp>
      <p:sp>
        <p:nvSpPr>
          <p:cNvPr id="21" name="Oval 20"/>
          <p:cNvSpPr/>
          <p:nvPr/>
        </p:nvSpPr>
        <p:spPr>
          <a:xfrm>
            <a:off x="235000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7" name="Oval 26"/>
          <p:cNvSpPr/>
          <p:nvPr/>
        </p:nvSpPr>
        <p:spPr>
          <a:xfrm>
            <a:off x="235000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0" name="Oval 29"/>
          <p:cNvSpPr/>
          <p:nvPr/>
        </p:nvSpPr>
        <p:spPr>
          <a:xfrm>
            <a:off x="477316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59552"/>
            <a:ext cx="2743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0748C"/>
                </a:solidFill>
                <a:latin typeface="Aptos"/>
              </a:rPr>
              <a:t>SIMULATED UI • TRAINING VISUAL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18120" y="1417320"/>
            <a:ext cx="73152" cy="132588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155448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What to notice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920240"/>
            <a:ext cx="300837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Health • capacity • pools • performance • alerts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9260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18120" y="2926080"/>
            <a:ext cx="73152" cy="132588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1000" y="306324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Trainer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429000"/>
            <a:ext cx="300837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Ask learners to name the object behind every dashboard tile.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4348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818120" y="4434840"/>
            <a:ext cx="73152" cy="1143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01000" y="45720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4937759"/>
            <a:ext cx="300837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Dell Unity Unisphere navigation includes Dashboard, Storage, Access, Protection &amp; Mobility, Events and Support.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Unisphere dashboard — what would you inspect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evidence before changing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Any component / resource not healthy?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Free / used / preallocated / unconfigured?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Any pool approaching a threshold?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971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Latency / IOPS / throughput trend?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971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Alerts &amp;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747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Did a prior task fail or raise a warning?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Pool view — what should you verify?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pool is a capacity + protection + performance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6583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6583680" cy="384048"/>
          </a:xfrm>
          <a:prstGeom prst="rect">
            <a:avLst/>
          </a:prstGeom>
          <a:solidFill>
            <a:srgbClr val="0C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Unisphere • Storage → Pools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527048"/>
            <a:ext cx="1417320" cy="4096512"/>
          </a:xfrm>
          <a:prstGeom prst="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14883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38144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67911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7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8013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D4E"/>
                </a:solidFill>
                <a:latin typeface="Aptos"/>
              </a:rP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7830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92D4E"/>
                </a:solidFill>
                <a:latin typeface="Aptos"/>
              </a:rPr>
              <a:t>6.3 TB</a:t>
            </a:r>
          </a:p>
        </p:txBody>
      </p:sp>
      <p:sp>
        <p:nvSpPr>
          <p:cNvPr id="21" name="Oval 20"/>
          <p:cNvSpPr/>
          <p:nvPr/>
        </p:nvSpPr>
        <p:spPr>
          <a:xfrm>
            <a:off x="235000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7" name="Oval 26"/>
          <p:cNvSpPr/>
          <p:nvPr/>
        </p:nvSpPr>
        <p:spPr>
          <a:xfrm>
            <a:off x="235000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0" name="Oval 29"/>
          <p:cNvSpPr/>
          <p:nvPr/>
        </p:nvSpPr>
        <p:spPr>
          <a:xfrm>
            <a:off x="477316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76672"/>
            <a:ext cx="2743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0748C"/>
                </a:solidFill>
                <a:latin typeface="Aptos"/>
              </a:rPr>
              <a:t>SIMULATED UI • TRAINING VISUAL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2801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1280160"/>
            <a:ext cx="73152" cy="10515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19" y="1417319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1783080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Free / used / efficiency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542032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35240" y="2542032"/>
            <a:ext cx="73152" cy="10515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19" y="2679191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19" y="3044952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Pool / tier / protection profile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803904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35240" y="3803904"/>
            <a:ext cx="73152" cy="10515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19" y="3941064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Workload 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19" y="4306824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Does this pool fit the application profile?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Block / LUN view — simulated training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Look for the LUN object and its relationship to pool, size, ID and host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6583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6583680" cy="384048"/>
          </a:xfrm>
          <a:prstGeom prst="rect">
            <a:avLst/>
          </a:prstGeom>
          <a:solidFill>
            <a:srgbClr val="0C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Unisphere • Storage →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527048"/>
            <a:ext cx="1417320" cy="4096512"/>
          </a:xfrm>
          <a:prstGeom prst="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14883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38144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67911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7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8013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D4E"/>
                </a:solidFill>
                <a:latin typeface="Aptos"/>
              </a:rP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7830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92D4E"/>
                </a:solidFill>
                <a:latin typeface="Aptos"/>
              </a:rPr>
              <a:t>6.3 TB</a:t>
            </a:r>
          </a:p>
        </p:txBody>
      </p:sp>
      <p:sp>
        <p:nvSpPr>
          <p:cNvPr id="21" name="Oval 20"/>
          <p:cNvSpPr/>
          <p:nvPr/>
        </p:nvSpPr>
        <p:spPr>
          <a:xfrm>
            <a:off x="235000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7" name="Oval 26"/>
          <p:cNvSpPr/>
          <p:nvPr/>
        </p:nvSpPr>
        <p:spPr>
          <a:xfrm>
            <a:off x="235000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0" name="Oval 29"/>
          <p:cNvSpPr/>
          <p:nvPr/>
        </p:nvSpPr>
        <p:spPr>
          <a:xfrm>
            <a:off x="477316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76672"/>
            <a:ext cx="2743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0748C"/>
                </a:solidFill>
                <a:latin typeface="Aptos"/>
              </a:rPr>
              <a:t>SIMULATED UI • TRAINING VISUAL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143000"/>
            <a:ext cx="3383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1143000"/>
            <a:ext cx="73152" cy="749808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19" y="12801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LUN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1645920"/>
            <a:ext cx="3054096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APP01_DATA01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075688"/>
            <a:ext cx="3383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35240" y="2075688"/>
            <a:ext cx="73152" cy="749808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19" y="2212848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19" y="2578608"/>
            <a:ext cx="3054096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500 GB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008376"/>
            <a:ext cx="3383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35240" y="3008376"/>
            <a:ext cx="73152" cy="749808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19" y="3145536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19" y="3511296"/>
            <a:ext cx="3054096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POOL_APP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3941064"/>
            <a:ext cx="3383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635240" y="3941064"/>
            <a:ext cx="73152" cy="749808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19" y="4078224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19" y="4443984"/>
            <a:ext cx="3054096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APP01_ESX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Access / host view — simulated training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Access configuration is where a correct LUN can still become a wrong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0748C"/>
                </a:solidFill>
                <a:latin typeface="Aptos"/>
              </a:rPr>
              <a:t>RPS | ICICI 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6583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6583680" cy="384048"/>
          </a:xfrm>
          <a:prstGeom prst="rect">
            <a:avLst/>
          </a:prstGeom>
          <a:solidFill>
            <a:srgbClr val="0C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Unisphere • Access → Hosts / Initiators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527048"/>
            <a:ext cx="1417320" cy="4096512"/>
          </a:xfrm>
          <a:prstGeom prst="rect">
            <a:avLst/>
          </a:prstGeom>
          <a:solidFill>
            <a:srgbClr val="2C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14883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578608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38144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67911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79"/>
            <a:ext cx="109728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C8D2"/>
                </a:solidFill>
                <a:latin typeface="Aptos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8013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D4E"/>
                </a:solidFill>
                <a:latin typeface="Aptos"/>
              </a:rP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7830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92D4E"/>
                </a:solidFill>
                <a:latin typeface="Aptos"/>
              </a:rPr>
              <a:t>6.3 TB</a:t>
            </a:r>
          </a:p>
        </p:txBody>
      </p:sp>
      <p:sp>
        <p:nvSpPr>
          <p:cNvPr id="21" name="Oval 20"/>
          <p:cNvSpPr/>
          <p:nvPr/>
        </p:nvSpPr>
        <p:spPr>
          <a:xfrm>
            <a:off x="235000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2286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2523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798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27" name="Oval 26"/>
          <p:cNvSpPr/>
          <p:nvPr/>
        </p:nvSpPr>
        <p:spPr>
          <a:xfrm>
            <a:off x="235000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0" name="Oval 29"/>
          <p:cNvSpPr/>
          <p:nvPr/>
        </p:nvSpPr>
        <p:spPr>
          <a:xfrm>
            <a:off x="4773168" y="3429000"/>
            <a:ext cx="868680" cy="868680"/>
          </a:xfrm>
          <a:prstGeom prst="ellipse">
            <a:avLst/>
          </a:prstGeom>
          <a:solidFill>
            <a:srgbClr val="E8F1F9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3545"/>
                </a:solidFill>
                <a:latin typeface="Aptos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94106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48C"/>
                </a:solidFill>
                <a:latin typeface="Aptos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76672"/>
            <a:ext cx="2743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0748C"/>
                </a:solidFill>
                <a:latin typeface="Aptos"/>
              </a:rPr>
              <a:t>SIMULATED UI • TRAINING VISUAL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41732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1417320"/>
            <a:ext cx="73152" cy="10515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19" y="155448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Check identity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1920240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WWPN / iSCSI initiator / host object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6974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35240" y="2697480"/>
            <a:ext cx="73152" cy="10515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19" y="283464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Check mapping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19" y="3200400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Which LUNs / volumes are assigned?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977639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35240" y="3977639"/>
            <a:ext cx="73152" cy="10515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19" y="411480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Check paths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19" y="4480559"/>
            <a:ext cx="305409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Expected redundant paths / MPIO?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Jobs, alerts and logs — operational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GUI action should leave a trace that can be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21396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Did the create / modify task complete?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6002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65960"/>
            <a:ext cx="21396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Did the system generate warnings?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1396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timestamps / events support the story?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600200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Before /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65960"/>
            <a:ext cx="21396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Can you prove the change had the intended effect?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94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Evidence-first sequence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3767328"/>
            <a:ext cx="12344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44368" y="3822191"/>
            <a:ext cx="1197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Observe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0520" y="3931920"/>
            <a:ext cx="3200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80560" y="3767328"/>
            <a:ext cx="12344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3822191"/>
            <a:ext cx="1197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Change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15000" y="3931920"/>
            <a:ext cx="3200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35040" y="3767328"/>
            <a:ext cx="12344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53327" y="3822191"/>
            <a:ext cx="1197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Job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69479" y="3931920"/>
            <a:ext cx="320041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89520" y="3767328"/>
            <a:ext cx="12344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07808" y="3822191"/>
            <a:ext cx="1197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Validate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23959" y="3931920"/>
            <a:ext cx="320041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0" y="3767328"/>
            <a:ext cx="12344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62288" y="3822191"/>
            <a:ext cx="1197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Document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Basic CLI / REST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GUI for learning; CLI / API for repeatability and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Approach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Use in training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GUI / Unisphere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Visual provisioning and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Low barrier; easy to validate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CLI / UEMCLI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Repeatable administrative tasks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Scriptable / automatable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REST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Integration and orchestration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Programmatic / tool-friendly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828800" y="3794760"/>
            <a:ext cx="8595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4023360"/>
            <a:ext cx="73152" cy="10058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3877056"/>
            <a:ext cx="8275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92D4E"/>
                </a:solidFill>
                <a:latin typeface="Aptos"/>
              </a:rPr>
              <a:t>Example pattern — conceptual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9138" y="4229492"/>
            <a:ext cx="8193417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83545"/>
                </a:solidFill>
                <a:latin typeface="Aptos"/>
              </a:rPr>
              <a:t>create pool → create LUN → assign host access → query job → validate</a:t>
            </a:r>
            <a:endParaRPr lang="en-US" sz="1300" b="0" dirty="0">
              <a:solidFill>
                <a:srgbClr val="283545"/>
              </a:solidFill>
              <a:latin typeface="Aptos"/>
            </a:endParaRPr>
          </a:p>
          <a:p>
            <a:r>
              <a:rPr lang="en-US" sz="1300" dirty="0">
                <a:solidFill>
                  <a:srgbClr val="283545"/>
                </a:solidFill>
                <a:latin typeface="Aptos"/>
              </a:rPr>
              <a:t>Dell EMC Unity Simulator download link: </a:t>
            </a:r>
            <a:r>
              <a:rPr lang="en-US" dirty="0">
                <a:hlinkClick r:id="rId2"/>
              </a:rPr>
              <a:t>https://downloads.emc.com/usa/UnityVSA/DELLEMCUnityDemo-5.0.0.0-win.exe</a:t>
            </a:r>
            <a:endParaRPr sz="1300" b="0" dirty="0">
              <a:solidFill>
                <a:srgbClr val="28354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Exact command syntax is version/platform dependent. Use the vendor guide for the lab environment.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CLI provisioning mental model — 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exact command string is version dependent; the object sequence is 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240280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82880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86537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240280"/>
            <a:ext cx="5029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2880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86537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 / initiator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2240280"/>
            <a:ext cx="50292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82880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8" y="186537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Access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2240280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82880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186537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Query / validate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42900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88720" y="342900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3566160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Conceptual command 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31920"/>
            <a:ext cx="3877055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ACTION + OBJECT + TARGET + PARAMETERS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42900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0" y="342900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3566160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Operational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931920"/>
            <a:ext cx="3877055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Never paste a command you do not understand into production.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PowerMax provisioning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PowerMax uses explicit auto-provisioning objects for the host-to-storage relationship.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5087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71600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Initiator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22311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Logical grouping of FC initiators.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3444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73152" cy="15087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371600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Port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37360"/>
            <a:ext cx="22311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Logical grouping of front-end 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73152" cy="15087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Storage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2311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Logical grouping of thin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23444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39" y="1234440"/>
            <a:ext cx="73152" cy="15087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19" y="1371600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Masking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1737360"/>
            <a:ext cx="22311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Association of initiator + port + storage groups.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49039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Masking view = “who” + “through which ports” + “gets which devices”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PowerMax Unisphere — simulated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Dell documents a Host wizard plus a storage provisioning wizard; Solutions Enabler and REST APIs are also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1783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636776"/>
            <a:ext cx="165506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Create host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057400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600200"/>
            <a:ext cx="1783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636776"/>
            <a:ext cx="165506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Select initiators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057400"/>
            <a:ext cx="5029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600200"/>
            <a:ext cx="1783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636776"/>
            <a:ext cx="165506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Create / select storage group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057400"/>
            <a:ext cx="50292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600200"/>
            <a:ext cx="1783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636776"/>
            <a:ext cx="165506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Create / select port group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2057400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38360" y="1600200"/>
            <a:ext cx="1783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636776"/>
            <a:ext cx="165506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Create masking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657600"/>
            <a:ext cx="9418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71600" y="3657600"/>
            <a:ext cx="73152" cy="105156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3794760"/>
            <a:ext cx="9098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Training visual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60520"/>
            <a:ext cx="908913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83545"/>
                </a:solidFill>
                <a:latin typeface="Aptos"/>
              </a:rPr>
              <a:t>Use the actual </a:t>
            </a:r>
            <a:r>
              <a:rPr sz="1200" b="0" dirty="0" err="1">
                <a:solidFill>
                  <a:srgbClr val="283545"/>
                </a:solidFill>
                <a:latin typeface="Aptos"/>
              </a:rPr>
              <a:t>PowerMax</a:t>
            </a:r>
            <a:r>
              <a:rPr sz="1200" b="0" dirty="0">
                <a:solidFill>
                  <a:srgbClr val="283545"/>
                </a:solidFill>
                <a:latin typeface="Aptos"/>
              </a:rPr>
              <a:t> Unisphere interface in the lab/video. This slide shows the object sequence, not a product screenshot.</a:t>
            </a:r>
            <a:endParaRPr lang="en-US" sz="1200" b="0" dirty="0">
              <a:solidFill>
                <a:srgbClr val="283545"/>
              </a:solidFill>
              <a:latin typeface="Aptos"/>
            </a:endParaRPr>
          </a:p>
          <a:p>
            <a:r>
              <a:rPr lang="en-US" sz="1200" dirty="0">
                <a:solidFill>
                  <a:srgbClr val="283545"/>
                </a:solidFill>
                <a:latin typeface="Aptos"/>
                <a:hlinkClick r:id="rId3"/>
              </a:rPr>
              <a:t>Pls refer for </a:t>
            </a:r>
            <a:r>
              <a:rPr lang="en-US" sz="1200" dirty="0" err="1">
                <a:solidFill>
                  <a:srgbClr val="283545"/>
                </a:solidFill>
                <a:latin typeface="Aptos"/>
                <a:hlinkClick r:id="rId3"/>
              </a:rPr>
              <a:t>Demolab</a:t>
            </a:r>
            <a:r>
              <a:rPr lang="en-US" sz="1200" dirty="0">
                <a:solidFill>
                  <a:srgbClr val="283545"/>
                </a:solidFill>
                <a:latin typeface="Aptos"/>
                <a:hlinkClick r:id="rId3"/>
              </a:rPr>
              <a:t>: https://democenter.dell.com/hol/HOLA/HOL-0504-01</a:t>
            </a:r>
            <a:r>
              <a:rPr lang="en-US" sz="1200" dirty="0">
                <a:solidFill>
                  <a:srgbClr val="283545"/>
                </a:solidFill>
                <a:latin typeface="Aptos"/>
              </a:rPr>
              <a:t> </a:t>
            </a:r>
          </a:p>
          <a:p>
            <a:pPr algn="l"/>
            <a:endParaRPr sz="1200" b="0" dirty="0">
              <a:solidFill>
                <a:srgbClr val="28354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VNX Unisphere provisioning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VNX to reinforce classic pool / LUN / storage-group access concepts.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82496"/>
            <a:ext cx="170078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Storage pool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121408"/>
            <a:ext cx="438912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0632" y="164592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682496"/>
            <a:ext cx="170078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Create LUN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99432" y="2121408"/>
            <a:ext cx="438912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38344" y="164592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02352" y="1682496"/>
            <a:ext cx="170078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Add LUN to storage group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67144" y="2121408"/>
            <a:ext cx="438912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5" y="164592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3" y="1682496"/>
            <a:ext cx="170078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Set host LUN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34855" y="2121408"/>
            <a:ext cx="438912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73768" y="164592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37776" y="1682496"/>
            <a:ext cx="170078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Host discovers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520440"/>
            <a:ext cx="10149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" y="3520440"/>
            <a:ext cx="73152" cy="12344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39" y="3657600"/>
            <a:ext cx="9829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Legacy terminology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39" y="4023360"/>
            <a:ext cx="982065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VNX procedures may mention storage groups, HLU and MetaLUN. Treat these as platform-specific terms that map back to the common provisioning model.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A1BF"/>
                </a:solidFill>
                <a:latin typeface="Aptos"/>
              </a:rPr>
              <a:t>PROTECTION &amp;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Snapshots &amp;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9875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Aptos"/>
              </a:rPr>
              <a:t>Protection choices become meaningful only when you ask what failure you are trying to recover from.</a:t>
            </a:r>
          </a:p>
        </p:txBody>
      </p:sp>
      <p:sp>
        <p:nvSpPr>
          <p:cNvPr id="6" name="Oval 5"/>
          <p:cNvSpPr/>
          <p:nvPr/>
        </p:nvSpPr>
        <p:spPr>
          <a:xfrm>
            <a:off x="9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ED2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Snapshots — point-in-time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snapshot records a point-in-time state / changed data for a storage resource.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7772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83664"/>
            <a:ext cx="7406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10:00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691640"/>
            <a:ext cx="914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1728216"/>
            <a:ext cx="7863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SNAP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084831"/>
            <a:ext cx="182880" cy="0"/>
          </a:xfrm>
          <a:prstGeom prst="line">
            <a:avLst/>
          </a:prstGeom>
          <a:ln w="19050">
            <a:solidFill>
              <a:srgbClr val="2EA1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1828800"/>
            <a:ext cx="7772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1883664"/>
            <a:ext cx="7406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10:15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691640"/>
            <a:ext cx="914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3048" y="1728216"/>
            <a:ext cx="7863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SNAP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63440" y="2084831"/>
            <a:ext cx="182880" cy="0"/>
          </a:xfrm>
          <a:prstGeom prst="line">
            <a:avLst/>
          </a:prstGeom>
          <a:ln w="19050">
            <a:solidFill>
              <a:srgbClr val="2EA1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1828800"/>
            <a:ext cx="7772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1883664"/>
            <a:ext cx="7406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10:30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691640"/>
            <a:ext cx="914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8" y="1728216"/>
            <a:ext cx="7863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SNAP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2084831"/>
            <a:ext cx="182880" cy="0"/>
          </a:xfrm>
          <a:prstGeom prst="line">
            <a:avLst/>
          </a:prstGeom>
          <a:ln w="19050">
            <a:solidFill>
              <a:srgbClr val="2EA1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0" y="1828800"/>
            <a:ext cx="7772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6288" y="1883664"/>
            <a:ext cx="7406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10:45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691640"/>
            <a:ext cx="914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36408" y="1728216"/>
            <a:ext cx="78638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SNAP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246120"/>
            <a:ext cx="4800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3246120"/>
            <a:ext cx="73152" cy="12801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3383279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Useful for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749039"/>
            <a:ext cx="4471416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Fast rollback / recovery from accidental changes, corruption or deletion when the snapshot is accessible.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246120"/>
            <a:ext cx="4800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246120"/>
            <a:ext cx="73152" cy="128016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383279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749039"/>
            <a:ext cx="4471416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A snapshot is not automatically an independent backup; it can depend on the underlying storage system.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Unity snapshots — what Dell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actual platform/version behavior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73152" cy="13716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630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Create /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300837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Snapshots can be created for storage resources such as LUNs; schedules can automate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3258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1325880"/>
            <a:ext cx="73152" cy="155448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4630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Storage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828800"/>
            <a:ext cx="300837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Dell notes that LUN snapshots are not intended as mirrors, DR or HA tools and may become inaccessible if the primary LUN is inaccessible.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32588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1325880"/>
            <a:ext cx="73152" cy="13716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4630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300837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Snapshot capacity consumes protection space; monitor capacity and retention.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9476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Operational question: “What happens to this recovery mechanism if the primary array is unavailable?”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Replication — remote recovery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Replication moves or maintains data/changes at another storage 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Primary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Replication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Remote 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82328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DR / Recovery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011680"/>
            <a:ext cx="10515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2011680"/>
            <a:ext cx="105156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66760" y="2011680"/>
            <a:ext cx="105156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34290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42900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56616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Use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Site failure, array failure, maintenance or planned mobility.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290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429000"/>
            <a:ext cx="73152" cy="12344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56616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3192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Network, distance, bandwidth, change rate and RPO / RTO matter.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4290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3429000"/>
            <a:ext cx="73152" cy="123444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56616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93192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 replication session that exists is not the same as a tested recovery procedure.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Unity replication — current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Dell documentation supports synchronous and asynchronous replication for relevant storage resources.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17320"/>
          <a:ext cx="105156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Core idea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Typical teaching lens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Synchronous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Writes are coordinated with a remote copy before the operation is considered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Low / zero RPO design where distance and latency allow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Asynchronous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Local write proceeds and remote synchronization follows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Non-zero RPO with distance / bandwidth flexibility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80160" y="3977639"/>
            <a:ext cx="9601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3977639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39" y="4114800"/>
            <a:ext cx="9281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Unity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39" y="4480559"/>
            <a:ext cx="927201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Dell documents native replication for LUNs, LUN groups, VMFS / NFS datastores and other resources; exact supported combinations depend on release / configuration.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PowerMax replication — SRDF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PowerMax environments commonly use SRDF-family replication for remote protection and mobility.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965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28216"/>
            <a:ext cx="18379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R1 / 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103120"/>
            <a:ext cx="7772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691640"/>
            <a:ext cx="1965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728216"/>
            <a:ext cx="18379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SRDF link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103120"/>
            <a:ext cx="77724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691640"/>
            <a:ext cx="1965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728216"/>
            <a:ext cx="18379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R2 / target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5320" y="2103120"/>
            <a:ext cx="77724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0" y="1691640"/>
            <a:ext cx="1965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6568" y="1728216"/>
            <a:ext cx="18379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Recovery / DR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246120"/>
            <a:ext cx="73152" cy="12344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383279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Unisphere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Dell documents Unisphere for PowerMax functions for storage, data protection, SRDF views and monitoring.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461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24612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383279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SRDF / Metro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49039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 synchronous active-active style use case exists within the PowerMax / VMAX ecosystem, with specific prerequisites.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2461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246120"/>
            <a:ext cx="73152" cy="12344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79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Course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49039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Learn the replication object and recovery flow; do not memorize every SRDF state code today.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Snapshot vs replication vs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Three mechanisms — three different protection roles.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108356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Where is the copy?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Typical recovery use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Key boundary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Often same storage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Fast point-in-time rollback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May share failure domain with 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Replication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Remote / secondary storage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Site / array recovery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Can replicate corruption / deletion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Separate backup workflow / 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Restore and long-term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283545"/>
                          </a:solidFill>
                          <a:latin typeface="Aptos"/>
                        </a:rPr>
                        <a:t>Restore must be designed and tested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43000" y="46177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Use the right mechanism for the failure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Protection scenario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Decide what protection mechanism(s) address each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73152" cy="15087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916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Accidental deletion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300837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Snapshot + backup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73152" cy="15087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6916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Storage-system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00837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Replication + backup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73152" cy="15087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69163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Site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57400"/>
            <a:ext cx="300837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Remote replication + backup + DR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83545"/>
                </a:solidFill>
                <a:latin typeface="Aptos"/>
              </a:rPr>
              <a:t>Discuss: what is the recovery point, where is the copy, and what is the dependency?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A1BF"/>
                </a:solidFill>
                <a:latin typeface="Apto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500 GB LUN Provisioning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9875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Aptos"/>
              </a:rPr>
              <a:t>Use the simulated lab / video to practice the full lifecycle: plan → pool → LUN → access → validation → documentation.</a:t>
            </a:r>
          </a:p>
        </p:txBody>
      </p:sp>
      <p:sp>
        <p:nvSpPr>
          <p:cNvPr id="6" name="Oval 5"/>
          <p:cNvSpPr/>
          <p:nvPr/>
        </p:nvSpPr>
        <p:spPr>
          <a:xfrm>
            <a:off x="9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ED2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scenario — application requests 500 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You are the storage administrator. Your job is to provision safely, not just quickly.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7340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500 GB block-storage resource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41732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55448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920240"/>
            <a:ext cx="27340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Named application host / initiator supplied by instructor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41732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141732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19" y="155448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920240"/>
            <a:ext cx="27340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Correct host sees the LUN; unintended hosts do not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pre-check — gather the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Do this before opening the provisioning wizard.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500 GB usable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Target pool and available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3736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Required RAID / protection 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017520"/>
            <a:ext cx="73152" cy="14173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Host name + initiator identity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017520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FC or iSCSI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01752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should the host discover?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step 1 — select the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Choose the pool using workload + capacity + protection reasoning.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36776"/>
            <a:ext cx="188366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POOL_APP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8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Free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0020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3677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Protection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00200"/>
            <a:ext cx="15544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8008" y="1636776"/>
            <a:ext cx="142646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Proceed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201168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011680"/>
            <a:ext cx="82296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2011680"/>
            <a:ext cx="82296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33756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337560"/>
            <a:ext cx="73152" cy="11430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474720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Evidence to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40480"/>
            <a:ext cx="3877055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Pool name • free capacity • protection profile • timestamp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333756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0" y="333756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3474720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Do not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840480"/>
            <a:ext cx="3877055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Create the LUN first and “figure out the pool later.”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step 2 — create the 500 GB LUN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Name it clearly and verify the selected pool before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7373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160934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POOL_APP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600200"/>
            <a:ext cx="2011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2968" y="1636776"/>
            <a:ext cx="18836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APP01_DATA01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600200"/>
            <a:ext cx="1554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9008" y="1636776"/>
            <a:ext cx="14264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500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17373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1636776"/>
            <a:ext cx="160934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Create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1600200"/>
            <a:ext cx="11887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59568" y="1636776"/>
            <a:ext cx="106070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Completed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1993392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1993392"/>
            <a:ext cx="59436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9480" y="1993392"/>
            <a:ext cx="685799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2640" y="1993392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3291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E"/>
                </a:solidFill>
                <a:latin typeface="Aptos"/>
              </a:rPr>
              <a:t>Capture: LUN name • size • pool • job status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step 3 — configure host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Select the intended host identity and the appropriate protocol / access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73152" cy="16002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296265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APP01-ESX</a:t>
            </a:r>
            <a:br/>
            <a:r>
              <a:rPr sz="1200" b="0">
                <a:solidFill>
                  <a:srgbClr val="283545"/>
                </a:solidFill>
                <a:latin typeface="Aptos"/>
              </a:rPr>
              <a:t>WWPN / iSCSI initiator from instructor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73152" cy="16002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0876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19"/>
            <a:ext cx="296265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Assign the LUN to the host or host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73152" cy="16002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0876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Safety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74519"/>
            <a:ext cx="2962656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Confirm no unintended host is selected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Think “least required access” — present only what the workload needs.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step 4 — validate host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successful array job is only half the job.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7830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45336"/>
            <a:ext cx="165506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Array job</a:t>
            </a:r>
            <a:br/>
            <a:r>
              <a:rPr sz="1000" b="1">
                <a:solidFill>
                  <a:srgbClr val="192D4E"/>
                </a:solidFill>
                <a:latin typeface="Aptos"/>
              </a:rPr>
              <a:t>PASS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993392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508760"/>
            <a:ext cx="17830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7" y="1545336"/>
            <a:ext cx="165506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Host mapping</a:t>
            </a:r>
            <a:br/>
            <a:r>
              <a:rPr sz="1000" b="1">
                <a:solidFill>
                  <a:srgbClr val="192D4E"/>
                </a:solidFill>
                <a:latin typeface="Aptos"/>
              </a:rPr>
              <a:t>CORRECT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1993392"/>
            <a:ext cx="5029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508760"/>
            <a:ext cx="17830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38928" y="1545336"/>
            <a:ext cx="165506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Fabric / network</a:t>
            </a:r>
            <a:br/>
            <a:r>
              <a:rPr sz="1000" b="1">
                <a:solidFill>
                  <a:srgbClr val="192D4E"/>
                </a:solidFill>
                <a:latin typeface="Aptos"/>
              </a:rPr>
              <a:t>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1993392"/>
            <a:ext cx="50292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1508760"/>
            <a:ext cx="17830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4928" y="1545336"/>
            <a:ext cx="165506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OS discovery</a:t>
            </a:r>
            <a:br/>
            <a:r>
              <a:rPr sz="1000" b="1">
                <a:solidFill>
                  <a:srgbClr val="192D4E"/>
                </a:solidFill>
                <a:latin typeface="Aptos"/>
              </a:rPr>
              <a:t>VISIBLE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1993392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508760"/>
            <a:ext cx="17830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1545336"/>
            <a:ext cx="165506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MPIO</a:t>
            </a:r>
            <a:br/>
            <a:r>
              <a:rPr sz="1000" b="1">
                <a:solidFill>
                  <a:srgbClr val="192D4E"/>
                </a:solidFill>
                <a:latin typeface="Aptos"/>
              </a:rPr>
              <a:t>EXPECTED PATHS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383280"/>
            <a:ext cx="9966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" y="3383280"/>
            <a:ext cx="73152" cy="10972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520440"/>
            <a:ext cx="9646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Validation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86200"/>
            <a:ext cx="963777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Screenshot / job record / host rescan / path count / LUN ID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Lab step 5 — document the provisioning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Operations is not complete until the configuration is recorded.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8720" y="1325880"/>
          <a:ext cx="9601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anchor="ctr"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LUN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APP01_DATA01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Size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500 GB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Pool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POOL_APP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Host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APP01-ESX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Host / initiator identity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________________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Access / mapping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________________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Validation result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283545"/>
                          </a:solidFill>
                          <a:latin typeface="Aptos"/>
                        </a:rPr>
                        <a:t>PASS /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Simulated Unisphere task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this slide as the lab runbook while the real interface or video is on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①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Confirm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② Storage → Pools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Select target 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14300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9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③ Storage →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Create 500 GB LUN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017520"/>
            <a:ext cx="73152" cy="14173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④ Access → Hosts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Map to intended host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017520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⑤ Events →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Capture completion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0175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19" y="301752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9" y="31546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⑥ Host / 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520439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Rescan + validate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Troubleshooting — LUN not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Walk the chain from storage object to host OS; collect evidence before changing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Object exists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39" y="1965960"/>
            <a:ext cx="502921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55448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59105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Host mapping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1965960"/>
            <a:ext cx="5029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55448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159105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Fabric / network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1965960"/>
            <a:ext cx="50292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155448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4928" y="159105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Host discovery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1965960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0" y="155448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65208" y="159105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Multipath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290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E"/>
                </a:solidFill>
                <a:latin typeface="Aptos"/>
              </a:rPr>
              <a:t>Golden rule: symptom → evidence → hypothesis → corrective action → validation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Troubleshooting — high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Do not jump directly to RAID changes. Establish scope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Host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1920240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50876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54533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Path / fabric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1920240"/>
            <a:ext cx="50292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50876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54533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Controller / front 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1920240"/>
            <a:ext cx="50292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50876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8" y="154533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1920240"/>
            <a:ext cx="502920" cy="0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50876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154533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Media / devices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918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329184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42900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9476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Is the latency broad or isolated to one workload?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2918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80560" y="3291840"/>
            <a:ext cx="73152" cy="12344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42900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9476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Capacity pressure • queueing • alerts • path health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918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29184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429000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94760"/>
            <a:ext cx="29169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Correlate before / after any change.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Troubleshooting — snapshot / replication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Treat protection features as stateful workflows with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Snapshot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30540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Check state • capacity • retention • intended recovery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37160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087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Replication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74519"/>
            <a:ext cx="30540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Check source • target • link • session state • lag /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087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Recovery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74519"/>
            <a:ext cx="30540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Verify that the protected copy is actually usable, not merely “configured”.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Team design challenge — 2 TB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Design the storage workflow; document assumptions that must be validated on the actual Dell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17007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2 TB workload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15087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7" y="1499616"/>
            <a:ext cx="13807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463040"/>
            <a:ext cx="17373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58968" y="1499616"/>
            <a:ext cx="1609343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63040"/>
            <a:ext cx="1371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82128" y="1499616"/>
            <a:ext cx="124358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LUN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463040"/>
            <a:ext cx="16459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93808" y="1499616"/>
            <a:ext cx="15179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Host access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1874519"/>
            <a:ext cx="594360" cy="0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1874519"/>
            <a:ext cx="6400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0" y="1874519"/>
            <a:ext cx="68580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89720" y="1874519"/>
            <a:ext cx="64008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24612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324612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383279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Also specify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49039"/>
            <a:ext cx="465429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Snapshot / replication option • monitoring plan • validation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461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246120"/>
            <a:ext cx="73152" cy="12344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79"/>
            <a:ext cx="4251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Defend your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424281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Why this pool? Why this protection? How is the LUN presented? What will you monitor?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Common operational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fastest GUI path is not always the safest operational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Create without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Capacity and workload not understood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Map to wrong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Identity / access not validated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2801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Treat snapshot as 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6459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Same failure domain may remain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971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Change RAID immediately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No evidence / scope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971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Skip before/after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747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Hard to prove the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971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2971800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310896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Ignore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474720"/>
            <a:ext cx="300837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Next engineer cannot reproduce the state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Knowledge check — no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Answer in your own words before reviewing the next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9601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What is the purpose of a storage pool?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37160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What is a LUN and how is it presented to a host?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688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468880"/>
            <a:ext cx="73152" cy="9601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60604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7180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Why must mapping / masking be validated?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468880"/>
            <a:ext cx="73152" cy="96012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7180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What is Unisphere used for?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03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703320"/>
            <a:ext cx="73152" cy="9601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Why is a snapshot not automatically a backup?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03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3703320"/>
            <a:ext cx="73152" cy="9601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8404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0624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What is the difference between replication and backup?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37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937760"/>
            <a:ext cx="73152" cy="9601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Q7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4745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Name two evidence sources to check when a LUN is not visible.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Recap — the Day 5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Keep these five ideas with you after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745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Objects</a:t>
            </a:r>
            <a:br/>
            <a:r>
              <a:rPr sz="1100" b="0">
                <a:solidFill>
                  <a:srgbClr val="283545"/>
                </a:solidFill>
                <a:latin typeface="Aptos"/>
              </a:rPr>
              <a:t>Pool → LUN → host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73152" cy="12344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4745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Protection</a:t>
            </a:r>
            <a:br/>
            <a:r>
              <a:rPr sz="1100" b="0">
                <a:solidFill>
                  <a:srgbClr val="283545"/>
                </a:solidFill>
                <a:latin typeface="Aptos"/>
              </a:rPr>
              <a:t>RAID + snapshot + replication are different layers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697480"/>
            <a:ext cx="73152" cy="12344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4745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Management</a:t>
            </a:r>
            <a:br/>
            <a:r>
              <a:rPr sz="1100" b="0">
                <a:solidFill>
                  <a:srgbClr val="283545"/>
                </a:solidFill>
                <a:latin typeface="Aptos"/>
              </a:rPr>
              <a:t>Unisphere is a view into storage objects and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73152" cy="12344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83464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00400"/>
            <a:ext cx="4745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Validation</a:t>
            </a:r>
            <a:br/>
            <a:r>
              <a:rPr sz="1100" b="0">
                <a:solidFill>
                  <a:srgbClr val="283545"/>
                </a:solidFill>
                <a:latin typeface="Aptos"/>
              </a:rPr>
              <a:t>Jobs + host discovery + paths prove the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73152" cy="12344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09159"/>
            <a:ext cx="4745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Operations</a:t>
            </a:r>
            <a:br/>
            <a:r>
              <a:rPr sz="1100" b="0">
                <a:solidFill>
                  <a:srgbClr val="283545"/>
                </a:solidFill>
                <a:latin typeface="Aptos"/>
              </a:rPr>
              <a:t>Evidence + documentation make changes supportable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One-page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this as the Day 5 quick reference during future storage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28232"/>
            <a:ext cx="256032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79576"/>
            <a:ext cx="1700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234440"/>
            <a:ext cx="8412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Host → SAN → FE ports → controllers → pool → LUN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5740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093976"/>
            <a:ext cx="1700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PROVISIONING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8412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Plan → select pool → create LUN → map host → discover → validate →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1700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UNISPHERE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063240"/>
            <a:ext cx="8412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Monitor • Provision • Protect • Events / Jobs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922776"/>
            <a:ext cx="1700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977639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Snapshot = point-in-time • Replication = remote copy • Backup = managed recovery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00600"/>
            <a:ext cx="18288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837176"/>
            <a:ext cx="1700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92040"/>
            <a:ext cx="8412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4646"/>
                </a:solidFill>
                <a:latin typeface="Aptos"/>
              </a:rPr>
              <a:t>Collect evidence BEFORE changing configuration.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Day 5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A1BF"/>
                </a:solidFill>
                <a:latin typeface="Aptos"/>
              </a:rPr>
              <a:t>Course source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DCE6F2"/>
                </a:solidFill>
                <a:latin typeface="Aptos"/>
              </a:rPr>
              <a:t>• RPS_Storage_Keyskill_Day5(1).pptx — supplied Day 5 scope and learning objectives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DCE6F2"/>
                </a:solidFill>
                <a:latin typeface="Aptos"/>
              </a:rPr>
              <a:t>• RPS_Storage_Keyskill_Day5_Instructor_Content.md — lab flow, architecture, troubleshooting and assessment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DCE6F2"/>
                </a:solidFill>
                <a:latin typeface="Aptos"/>
              </a:rPr>
              <a:t>• Introduction to Storage &amp; Backup_ITC.pptx — generic storage, SAN, LUN, RAID, backup and replication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344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A1BF"/>
                </a:solidFill>
                <a:latin typeface="Aptos"/>
              </a:rPr>
              <a:t>Current Dell references used for vendor-specific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6002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DCE6F2"/>
                </a:solidFill>
                <a:latin typeface="Aptos"/>
              </a:rPr>
              <a:t>• Dell Unity: Unisphere Overview — GUI navigation, dashboard, pools, block, hosts, protection, alerts and jobs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CE6F2"/>
                </a:solidFill>
                <a:latin typeface="Aptos"/>
              </a:rPr>
              <a:t>• Dell Unity Family: pool, LUN, snapshot and replication guides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CE6F2"/>
                </a:solidFill>
                <a:latin typeface="Aptos"/>
              </a:rPr>
              <a:t>• Dell PowerMaxOS / Unisphere for PowerMax — storage groups, initiators, port groups, masking views and SRDF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CE6F2"/>
                </a:solidFill>
                <a:latin typeface="Aptos"/>
              </a:rPr>
              <a:t>• Dell VNX knowledge-base procedures — storage pools, LUNs, storage groups and HLU / MetaLUN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709160"/>
            <a:ext cx="1417320" cy="329184"/>
          </a:xfrm>
          <a:prstGeom prst="roundRect">
            <a:avLst/>
          </a:prstGeom>
          <a:solidFill>
            <a:srgbClr val="295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4764024"/>
            <a:ext cx="1380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TRAINING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4727448"/>
            <a:ext cx="8869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Use the actual lab model/version for live screenshots and exact menu / CLI syntax.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80760"/>
            <a:ext cx="6400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>
                <a:solidFill>
                  <a:srgbClr val="60748C"/>
                </a:solidFill>
                <a:latin typeface="Aptos"/>
              </a:rPr>
              <a:t>storageprabhu99@gmail.com• Day 5 • Dell EMC Storage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4781</Words>
  <Application>Microsoft Office PowerPoint</Application>
  <PresentationFormat>Widescreen</PresentationFormat>
  <Paragraphs>880</Paragraphs>
  <Slides>60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Prabhugaonkar</cp:lastModifiedBy>
  <cp:revision>52</cp:revision>
  <dcterms:created xsi:type="dcterms:W3CDTF">2013-01-27T09:14:16Z</dcterms:created>
  <dcterms:modified xsi:type="dcterms:W3CDTF">2026-10-03T05:47:27Z</dcterms:modified>
  <cp:category/>
</cp:coreProperties>
</file>