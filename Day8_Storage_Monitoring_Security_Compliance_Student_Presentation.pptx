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inyurl.com/2xvphxhn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D48"/>
          </a:solidFill>
          <a:ln>
            <a:solidFill>
              <a:srgbClr val="16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4CFE2"/>
                </a:solidFill>
                <a:latin typeface="Aptos"/>
              </a:rPr>
              <a:t>STORAGE KEY SKILL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Day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698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Storage Monitoring, Security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6DCEC"/>
                </a:solidFill>
                <a:latin typeface="Aptos"/>
              </a:rPr>
              <a:t>OEM tools • SolarWinds • Nagios • Alerts • SNMP • Syslog • Capacity • DCIM • RBAC • ACLs • Encryption • RBI • ISO 27001 • PCI-DSS • GDPR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572000"/>
            <a:ext cx="3017520" cy="731520"/>
          </a:xfrm>
          <a:prstGeom prst="roundRect">
            <a:avLst/>
          </a:prstGeom>
          <a:solidFill>
            <a:srgbClr val="3874B0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4681728"/>
            <a:ext cx="28712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62D48"/>
                </a:solidFill>
                <a:latin typeface="Aptos"/>
              </a:rPr>
              <a:t>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572000"/>
            <a:ext cx="3017520" cy="731520"/>
          </a:xfrm>
          <a:prstGeom prst="round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4681728"/>
            <a:ext cx="28712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62D48"/>
                </a:solidFill>
                <a:latin typeface="Aptos"/>
              </a:rPr>
              <a:t>SECURE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4572000"/>
            <a:ext cx="3017520" cy="731520"/>
          </a:xfrm>
          <a:prstGeom prst="roundRect">
            <a:avLst/>
          </a:prstGeom>
          <a:solidFill>
            <a:srgbClr val="6C5896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74152" y="4681728"/>
            <a:ext cx="28712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62D48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80760"/>
            <a:ext cx="45720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dirty="0">
                <a:solidFill>
                  <a:srgbClr val="AAC5D9"/>
                </a:solidFill>
                <a:latin typeface="Aptos"/>
              </a:rPr>
              <a:t>storageprabhu99@gmail.com</a:t>
            </a:r>
            <a:endParaRPr sz="1000" b="0" dirty="0">
              <a:solidFill>
                <a:srgbClr val="AAC5D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64240" y="6035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AC5D9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By the end of the session, students should connect monitoring, security and compliance into one operating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</a:t>
            </a:r>
            <a:r>
              <a:rPr sz="800" b="0" dirty="0">
                <a:solidFill>
                  <a:srgbClr val="62778A"/>
                </a:solidFill>
                <a:latin typeface="Aptos"/>
              </a:rPr>
              <a:t>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508248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325880"/>
          </a:xfrm>
          <a:prstGeom prst="rect">
            <a:avLst/>
          </a:prstGeom>
          <a:solidFill>
            <a:srgbClr val="3874B0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31607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Explain health, performance, capacity and availability signals; position OEM, SolarWinds and Nagios.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9496" y="1828800"/>
            <a:ext cx="3508248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9496" y="1828800"/>
            <a:ext cx="64008" cy="1325880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0664" y="199339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0664" y="2359152"/>
            <a:ext cx="31607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Describe alerts, SNMP and Syslog and know what evidence each provides.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1" y="1828800"/>
            <a:ext cx="3508248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58911" y="1828800"/>
            <a:ext cx="64008" cy="1325880"/>
          </a:xfrm>
          <a:prstGeom prst="rect">
            <a:avLst/>
          </a:prstGeom>
          <a:solidFill>
            <a:srgbClr val="CD8437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0080" y="199339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Capacity &amp; DCIM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0080" y="2359152"/>
            <a:ext cx="31607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Track growth, thresholds and physical data-center dependencies.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83280"/>
            <a:ext cx="3508248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383280"/>
            <a:ext cx="64008" cy="1325880"/>
          </a:xfrm>
          <a:prstGeom prst="rect">
            <a:avLst/>
          </a:prstGeom>
          <a:solidFill>
            <a:srgbClr val="6C5896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54787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3913632"/>
            <a:ext cx="31607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Distinguish authentication, authorization, RBAC and ACLs.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9496" y="3383280"/>
            <a:ext cx="3508248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9496" y="3383280"/>
            <a:ext cx="64008" cy="1325880"/>
          </a:xfrm>
          <a:prstGeom prst="rect">
            <a:avLst/>
          </a:prstGeom>
          <a:solidFill>
            <a:srgbClr val="378960"/>
          </a:solidFill>
          <a:ln>
            <a:solidFill>
              <a:srgbClr val="378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50664" y="354787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Encryption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0664" y="3913632"/>
            <a:ext cx="31607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Explain protection of data at rest and in transit.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8911" y="3383280"/>
            <a:ext cx="3508248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58911" y="3383280"/>
            <a:ext cx="64008" cy="1325880"/>
          </a:xfrm>
          <a:prstGeom prst="rect">
            <a:avLst/>
          </a:prstGeom>
          <a:solidFill>
            <a:srgbClr val="B55252"/>
          </a:solidFill>
          <a:ln>
            <a:solidFill>
              <a:srgbClr val="B5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60080" y="354787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0080" y="3913632"/>
            <a:ext cx="31607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Map controls to RBI, ISO 27001, PCI-DSS and GDPR themes.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8-Hour Delivery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Use this as the instructor pacing guide.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0" y="178308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Learning emphasis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09:30–10:00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Recap + objectives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Connect earlier storage operations to production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10:00–11:00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Monitoring fundamentals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Health • performance • capacity • availability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11:15–12:30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OEM + SolarWinds + Nagios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Tool roles and centralized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12:30–13:15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Alerts + SNMP + Syslog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Signal collection and triage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14:00–15:00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Capacity planning + DCIM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Trend, threshold, forecast and physical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15:15–16:15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RBAC + ACLs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Least privilege and resource-level access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16:15–17:00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Encryption +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Controls, evidence and auditability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17:00–17:45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Monitoring/security lab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Alert triage + access review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17:45–18:00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Quiz +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Requirement → control →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Where Day 8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The technology from Days 1–7 now becomes an operational service that must be visible, controlled and auditable.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178308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075688"/>
            <a:ext cx="16367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62D48"/>
                </a:solidFill>
                <a:latin typeface="Aptos"/>
              </a:rPr>
              <a:t>Storage basics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965960"/>
            <a:ext cx="178308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62072" y="2075688"/>
            <a:ext cx="16367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62D48"/>
                </a:solidFill>
                <a:latin typeface="Aptos"/>
              </a:rPr>
              <a:t>SAN / provisioning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965960"/>
            <a:ext cx="178308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19472" y="2075688"/>
            <a:ext cx="16367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62D48"/>
                </a:solidFill>
                <a:latin typeface="Aptos"/>
              </a:rPr>
              <a:t>Virtualization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965960"/>
            <a:ext cx="178308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76872" y="2075688"/>
            <a:ext cx="16367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62D48"/>
                </a:solidFill>
                <a:latin typeface="Aptos"/>
              </a:rPr>
              <a:t>Backup / DR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965960"/>
            <a:ext cx="233172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34272" y="2075688"/>
            <a:ext cx="21854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62D48"/>
                </a:solidFill>
                <a:latin typeface="Aptos"/>
              </a:rPr>
              <a:t>Dell EMC + NetApp + HPE + IBM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14600" y="2331720"/>
            <a:ext cx="2286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2331720"/>
            <a:ext cx="2286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29400" y="2331720"/>
            <a:ext cx="2286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2331720"/>
            <a:ext cx="2286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74519" y="3200400"/>
            <a:ext cx="8275321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" y="3657600"/>
            <a:ext cx="201168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3767328"/>
            <a:ext cx="186537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62D48"/>
                </a:solidFill>
                <a:latin typeface="Aptos"/>
              </a:rPr>
              <a:t>MONITOR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3657600"/>
            <a:ext cx="201168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73752" y="3767328"/>
            <a:ext cx="186537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62D48"/>
                </a:solidFill>
                <a:latin typeface="Aptos"/>
              </a:rPr>
              <a:t>SECURE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3657600"/>
            <a:ext cx="201168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59952" y="3767328"/>
            <a:ext cx="186537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62D48"/>
                </a:solidFill>
                <a:latin typeface="Aptos"/>
              </a:rPr>
              <a:t>GOVERN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0916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Health • performance • capacity • availability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7091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RBAC • ACL • encryption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7091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Evidence • compliance •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D48"/>
          </a:solidFill>
          <a:ln>
            <a:solidFill>
              <a:srgbClr val="16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7DDEE"/>
                </a:solidFill>
                <a:latin typeface="Aptos"/>
              </a:rPr>
              <a:t>Storage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971800"/>
            <a:ext cx="960120" cy="6400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The Four Monitoring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Every storage operation should answer these continuously.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074920" cy="141732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938528"/>
            <a:ext cx="492861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62D48"/>
                </a:solidFill>
                <a:latin typeface="Aptos"/>
              </a:rPr>
              <a:t>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4617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Is the platform, component or object healthy?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074920" cy="141732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938528"/>
            <a:ext cx="492861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62D48"/>
                </a:solidFill>
                <a:latin typeface="Aptos"/>
              </a:rP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4617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Are latency, throughput, IOPS or queues within expected range?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5074920" cy="141732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995928"/>
            <a:ext cx="492861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62D48"/>
                </a:solidFill>
                <a:latin typeface="Aptos"/>
              </a:rPr>
              <a:t>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617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How much is used, free and growing?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886200"/>
            <a:ext cx="5074920" cy="141732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3995928"/>
            <a:ext cx="492861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62D48"/>
                </a:solidFill>
                <a:latin typeface="Aptos"/>
              </a:rPr>
              <a:t>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846320"/>
            <a:ext cx="4617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Can the intended host/application access the service?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End-to-End Monitoring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Monitoring is a control loop, not a dashboard screenshot.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1143000" cy="68580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2532888"/>
            <a:ext cx="99669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62D48"/>
                </a:solidFill>
                <a:latin typeface="Aptos"/>
              </a:rPr>
              <a:t>Storage estate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2423160"/>
            <a:ext cx="1143000" cy="68580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47672" y="2532888"/>
            <a:ext cx="99669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62D48"/>
                </a:solidFill>
                <a:latin typeface="Aptos"/>
              </a:rPr>
              <a:t>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423160"/>
            <a:ext cx="1143000" cy="68580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9272" y="2532888"/>
            <a:ext cx="99669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62D48"/>
                </a:solidFill>
                <a:latin typeface="Aptos"/>
              </a:rPr>
              <a:t>Event / metric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423160"/>
            <a:ext cx="1143000" cy="68580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0872" y="2532888"/>
            <a:ext cx="99669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62D48"/>
                </a:solidFill>
                <a:latin typeface="Aptos"/>
              </a:rPr>
              <a:t>Alert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423160"/>
            <a:ext cx="1143000" cy="68580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62472" y="2532888"/>
            <a:ext cx="99669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62D48"/>
                </a:solidFill>
                <a:latin typeface="Aptos"/>
              </a:rPr>
              <a:t>Triage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423160"/>
            <a:ext cx="1143000" cy="68580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34072" y="2532888"/>
            <a:ext cx="99669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62D48"/>
                </a:solidFill>
                <a:latin typeface="Aptos"/>
              </a:rPr>
              <a:t>Correct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2423160"/>
            <a:ext cx="1143000" cy="68580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05672" y="2532888"/>
            <a:ext cx="99669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62D48"/>
                </a:solidFill>
                <a:latin typeface="Aptos"/>
              </a:rPr>
              <a:t>Validate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2423160"/>
            <a:ext cx="1143000" cy="68580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77272" y="2532888"/>
            <a:ext cx="99669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62D48"/>
                </a:solidFill>
                <a:latin typeface="Aptos"/>
              </a:rPr>
              <a:t>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45920" y="2761488"/>
            <a:ext cx="228599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17520" y="2761488"/>
            <a:ext cx="2286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389120" y="2761488"/>
            <a:ext cx="2286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760720" y="2761488"/>
            <a:ext cx="2286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32320" y="2761488"/>
            <a:ext cx="2286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503920" y="2761488"/>
            <a:ext cx="2286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875520" y="2761488"/>
            <a:ext cx="2286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62D48"/>
                </a:solidFill>
                <a:latin typeface="Aptos"/>
              </a:rPr>
              <a:t>Core idea: Monitoring tells us what is happening; operations turn signals into decisions and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OEM Storage Monitoring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Product-specific tools are closest to the storage platform and often expose the richest native telemetry.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35524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508760"/>
          </a:xfrm>
          <a:prstGeom prst="rect">
            <a:avLst/>
          </a:prstGeom>
          <a:solidFill>
            <a:srgbClr val="3874B0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498805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Controllers, ports, disks/drives, pools, volumes, replication and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828800"/>
            <a:ext cx="5335524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828800"/>
            <a:ext cx="64008" cy="1508760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2804" y="199339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2804" y="2359152"/>
            <a:ext cx="498805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Raw / usable / allocated / free capacity and object growth.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5335524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64008" cy="1508760"/>
          </a:xfrm>
          <a:prstGeom prst="rect">
            <a:avLst/>
          </a:prstGeom>
          <a:solidFill>
            <a:srgbClr val="CD8437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73075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096511"/>
            <a:ext cx="498805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Latency, I/O activity, utilization, throughput and workload indicators.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566160"/>
            <a:ext cx="5335524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31636" y="3566160"/>
            <a:ext cx="64008" cy="1508760"/>
          </a:xfrm>
          <a:prstGeom prst="rect">
            <a:avLst/>
          </a:prstGeom>
          <a:solidFill>
            <a:srgbClr val="6C5896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2804" y="373075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804" y="4096511"/>
            <a:ext cx="498805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Topology, objects, host mappings, policies and current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SolarWinds — Centralized Monitoring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Position it as a central monitoring/alerting platform; exact modules and integrations depend on deployment.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55448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121408"/>
            <a:ext cx="14081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Storage arrays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155448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3355848"/>
            <a:ext cx="14081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Hosts / VMware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55448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4590288"/>
            <a:ext cx="14081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971800"/>
            <a:ext cx="2011680" cy="105156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59352" y="3081528"/>
            <a:ext cx="186537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D48"/>
                </a:solidFill>
                <a:latin typeface="Aptos"/>
              </a:rPr>
              <a:t>SolarWinds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2377440"/>
            <a:ext cx="1600200" cy="100584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286000" y="3493008"/>
            <a:ext cx="1600200" cy="118872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286000" y="3657600"/>
            <a:ext cx="1600200" cy="118872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0" y="2148840"/>
            <a:ext cx="1828800" cy="731520"/>
          </a:xfrm>
          <a:prstGeom prst="roundRect">
            <a:avLst/>
          </a:prstGeom>
          <a:solidFill>
            <a:srgbClr val="F6F9FC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88352" y="2258568"/>
            <a:ext cx="16824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291840"/>
            <a:ext cx="1828800" cy="731520"/>
          </a:xfrm>
          <a:prstGeom prst="roundRect">
            <a:avLst/>
          </a:prstGeom>
          <a:solidFill>
            <a:srgbClr val="F6F9FC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88352" y="3401568"/>
            <a:ext cx="16824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Alerting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434840"/>
            <a:ext cx="1828800" cy="731520"/>
          </a:xfrm>
          <a:prstGeom prst="roundRect">
            <a:avLst/>
          </a:prstGeom>
          <a:solidFill>
            <a:srgbClr val="F6F9FC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88352" y="4544568"/>
            <a:ext cx="16824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Trend / reports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897880" y="2514600"/>
            <a:ext cx="1417320" cy="978408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97880" y="3493008"/>
            <a:ext cx="1417320" cy="164592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97880" y="3493008"/>
            <a:ext cx="1417320" cy="1307592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64040" y="2057400"/>
            <a:ext cx="20116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778A"/>
                </a:solidFill>
                <a:latin typeface="Aptos"/>
              </a:rPr>
              <a:t>Teaching boundary: demonstrate the role of centralized visibility, not a universal product configuration.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1E4021-E418-86D0-D730-1B0F760641D4}"/>
              </a:ext>
            </a:extLst>
          </p:cNvPr>
          <p:cNvSpPr txBox="1"/>
          <p:nvPr/>
        </p:nvSpPr>
        <p:spPr>
          <a:xfrm>
            <a:off x="108155" y="5349240"/>
            <a:ext cx="1197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Solarwinds</a:t>
            </a:r>
            <a:r>
              <a:rPr lang="en-US" dirty="0"/>
              <a:t> Lab Simulator: </a:t>
            </a:r>
            <a:r>
              <a:rPr lang="en-US" dirty="0">
                <a:hlinkClick r:id="rId2"/>
              </a:rPr>
              <a:t>https://tinyurl.com/2xvphxhn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Nagios — Monitoring &amp; Alerting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Use Nagios conceptually as a monitoring and alerting engine for configured infrastructure/services.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35524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508760"/>
          </a:xfrm>
          <a:prstGeom prst="rect">
            <a:avLst/>
          </a:prstGeom>
          <a:solidFill>
            <a:srgbClr val="3874B0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498805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32C36"/>
                </a:solidFill>
                <a:latin typeface="Aptos"/>
              </a:rPr>
              <a:t>Configured checks determine the health/state being monitored.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828800"/>
            <a:ext cx="5335524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828800"/>
            <a:ext cx="64008" cy="1508760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2804" y="199339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States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2804" y="2359152"/>
            <a:ext cx="498805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OK • WARNING • CRITICAL • UNKNOWN provide operational signal.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5335524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64008" cy="1508760"/>
          </a:xfrm>
          <a:prstGeom prst="rect">
            <a:avLst/>
          </a:prstGeom>
          <a:solidFill>
            <a:srgbClr val="6C5896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73075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096511"/>
            <a:ext cx="498805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Rules can route events to operators/escalation paths.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566160"/>
            <a:ext cx="5335524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31636" y="3566160"/>
            <a:ext cx="64008" cy="1508760"/>
          </a:xfrm>
          <a:prstGeom prst="rect">
            <a:avLst/>
          </a:prstGeom>
          <a:solidFill>
            <a:srgbClr val="CD8437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2804" y="373075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804" y="4096511"/>
            <a:ext cx="498805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Check status, timestamp, object and notification history support triage.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OEM vs Central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These roles complement each other; one does not automatically replace the other.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83080"/>
          <a:ext cx="107442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OEM tool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Central platform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Deep product 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Depends on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Cross-vendor view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Limited to vendor/platform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Native configuration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Usually indirect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Event correlation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Platform-specific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Often broader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Capacity trend across estate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Common use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Best use in training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Know the array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Know the estate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Alerts — From Threshold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A good alert is actionable, contextual and traceable.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150876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2441448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78A"/>
                </a:solidFill>
                <a:latin typeface="Aptos"/>
              </a:rPr>
              <a:t>Metric/event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2697480"/>
            <a:ext cx="41148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14600" y="2331720"/>
            <a:ext cx="150876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87752" y="2441448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20040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78A"/>
                </a:solidFill>
                <a:latin typeface="Aptos"/>
              </a:rPr>
              <a:t>Threshold / condition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697480"/>
            <a:ext cx="41148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34840" y="2331720"/>
            <a:ext cx="150876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07992" y="2441448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20040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78A"/>
                </a:solidFill>
                <a:latin typeface="Aptos"/>
              </a:rPr>
              <a:t>Operator is notified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0" y="2697480"/>
            <a:ext cx="41148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55080" y="2331720"/>
            <a:ext cx="150876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2441448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Triage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20040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78A"/>
                </a:solidFill>
                <a:latin typeface="Aptos"/>
              </a:rPr>
              <a:t>Scope +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63840" y="2697480"/>
            <a:ext cx="41148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75320" y="2331720"/>
            <a:ext cx="150876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48472" y="2441448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20040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78A"/>
                </a:solidFill>
                <a:latin typeface="Aptos"/>
              </a:rPr>
              <a:t>Correct / escalate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84080" y="2697480"/>
            <a:ext cx="41148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195560" y="2331720"/>
            <a:ext cx="150876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68712" y="2441448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320040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78A"/>
                </a:solidFill>
                <a:latin typeface="Aptos"/>
              </a:rPr>
              <a:t>Confirm 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43484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162D48"/>
                </a:solidFill>
                <a:latin typeface="Aptos"/>
              </a:rPr>
              <a:t>Avoid “alert storms”: group related signals and identify the primary symptom before changing configuration.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SNMP — Operational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Monitoring/management information exchange between monitored devices and monitoring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1874519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258568"/>
            <a:ext cx="172821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62D48"/>
                </a:solidFill>
                <a:latin typeface="Aptos"/>
              </a:rPr>
              <a:t>Storage device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148840"/>
            <a:ext cx="1874519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30752" y="2258568"/>
            <a:ext cx="172821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62D48"/>
                </a:solidFill>
                <a:latin typeface="Aptos"/>
              </a:rPr>
              <a:t>SNMP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148840"/>
            <a:ext cx="210312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6832" y="2258568"/>
            <a:ext cx="19568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62D48"/>
                </a:solidFill>
                <a:latin typeface="Aptos"/>
              </a:rPr>
              <a:t>Monitoring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2148840"/>
            <a:ext cx="155448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20072" y="2258568"/>
            <a:ext cx="140817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62D48"/>
                </a:solidFill>
                <a:latin typeface="Aptos"/>
              </a:rPr>
              <a:t>Operator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06040" y="2560320"/>
            <a:ext cx="105156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32120" y="2560320"/>
            <a:ext cx="105156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86800" y="2560320"/>
            <a:ext cx="96012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5840" y="3977639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C36"/>
                </a:solidFill>
                <a:latin typeface="Aptos"/>
              </a:rPr>
              <a:t>Examples of information: health, counters, capacity, interfaces, traps/notifications — subject to device and integration support.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Syslog — Event &amp; Log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Syslog is event/log oriented; it complements metric-oriented telemetry.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214884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2212848"/>
            <a:ext cx="200253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Array / switch / host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2103120"/>
            <a:ext cx="214884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67912" y="2212848"/>
            <a:ext cx="200253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Syslog collector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103120"/>
            <a:ext cx="214884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14032" y="2212848"/>
            <a:ext cx="200253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SIEM / central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2103120"/>
            <a:ext cx="150876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85832" y="2212848"/>
            <a:ext cx="136245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Investigation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2542032"/>
            <a:ext cx="105156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43600" y="2542032"/>
            <a:ext cx="109728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89720" y="2542032"/>
            <a:ext cx="82296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0" y="3977639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C36"/>
                </a:solidFill>
                <a:latin typeface="Aptos"/>
              </a:rPr>
              <a:t>Log evidence can include timestamps, source, event type, outcome and affected object — depending on source configuration.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SNMP vs Syslog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107899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SNMP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Syslog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Primary orientation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Monitoring / management information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Events /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Typical question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What is the state/value?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What happened?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Common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Counters, status, telemetry,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Event message, timestamp, source, severity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Operational use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Health / performance / capacity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Event investigation / audit trail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Security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Choose secure configuration supported by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Protect transport/storage and control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Telemetry Pattern: Polling + 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Actual behavior depends on the device, monitoring product and configuration.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210312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304288"/>
            <a:ext cx="195681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62D48"/>
                </a:solidFill>
                <a:latin typeface="Aptos"/>
              </a:rPr>
              <a:t>Monitoring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194560"/>
            <a:ext cx="210312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2304288"/>
            <a:ext cx="195681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62D48"/>
                </a:solidFill>
                <a:latin typeface="Aptos"/>
              </a:rPr>
              <a:t>Storage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2194560"/>
            <a:ext cx="201168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68512" y="2304288"/>
            <a:ext cx="18653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62D48"/>
                </a:solidFill>
                <a:latin typeface="Aptos"/>
              </a:rPr>
              <a:t>Event / trap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34640" y="2487168"/>
            <a:ext cx="18288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46120" y="214884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2778A"/>
                </a:solidFill>
                <a:latin typeface="Aptos"/>
              </a:rPr>
              <a:t>poll / request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66560" y="2697480"/>
            <a:ext cx="18288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78040" y="288036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2778A"/>
                </a:solidFill>
                <a:latin typeface="Aptos"/>
              </a:rPr>
              <a:t>notification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160520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62D48"/>
                </a:solidFill>
                <a:latin typeface="Aptos"/>
              </a:rPr>
              <a:t>Lab prompt: Which evidence would you trust first for a “pool almost full” alarm — a dashboard value, event log, or both?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Alert Triage — Evidence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Reuse the troubleshooting discipline from Days 5–7.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778A"/>
                </a:solidFill>
                <a:latin typeface="Aptos"/>
              </a:rPr>
              <a:t>RPS | ICICI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50876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B5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2258568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62D48"/>
                </a:solidFill>
                <a:latin typeface="Aptos"/>
              </a:rPr>
              <a:t>SYMPTOM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99232"/>
            <a:ext cx="15087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78A"/>
                </a:solidFill>
                <a:latin typeface="Aptos"/>
              </a:rPr>
              <a:t>What changed?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1448" y="2148840"/>
            <a:ext cx="150876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2258568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62D48"/>
                </a:solidFill>
                <a:latin typeface="Aptos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2999232"/>
            <a:ext cx="15087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78A"/>
                </a:solidFill>
                <a:latin typeface="Aptos"/>
              </a:rPr>
              <a:t>One object or broad estate?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2148840"/>
            <a:ext cx="150876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53128" y="2258568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62D48"/>
                </a:solidFill>
                <a:latin typeface="Apto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999232"/>
            <a:ext cx="15087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78A"/>
                </a:solidFill>
                <a:latin typeface="Aptos"/>
              </a:rPr>
              <a:t>Metrics + logs + topology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2148840"/>
            <a:ext cx="150876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91656" y="2258568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62D48"/>
                </a:solidFill>
                <a:latin typeface="Aptos"/>
              </a:rPr>
              <a:t>HYPOTHESIS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999232"/>
            <a:ext cx="15087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78A"/>
                </a:solidFill>
                <a:latin typeface="Aptos"/>
              </a:rPr>
              <a:t>Most likely cause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7032" y="2148840"/>
            <a:ext cx="150876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0184" y="2258568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62D48"/>
                </a:solidFill>
                <a:latin typeface="Aptos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999232"/>
            <a:ext cx="15087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78A"/>
                </a:solidFill>
                <a:latin typeface="Aptos"/>
              </a:rPr>
              <a:t>Least-risk corrective step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2148840"/>
            <a:ext cx="150876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378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68712" y="2258568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62D48"/>
                </a:solidFill>
                <a:latin typeface="Aptos"/>
              </a:rP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999232"/>
            <a:ext cx="15087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78A"/>
                </a:solidFill>
                <a:latin typeface="Aptos"/>
              </a:rPr>
              <a:t>Did the symptom clear?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4348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62D48"/>
                </a:solidFill>
                <a:latin typeface="Aptos"/>
              </a:rPr>
              <a:t>Rule: capture evidence before changing configuration.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Capacity Planning — Think in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Do not wait for theoretical exhaustion; plan using headroom, growth and lead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18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5212080"/>
            <a:ext cx="6675120" cy="0"/>
          </a:xfrm>
          <a:prstGeom prst="line">
            <a:avLst/>
          </a:prstGeom>
          <a:ln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14400" y="1828800"/>
            <a:ext cx="0" cy="3383280"/>
          </a:xfrm>
          <a:prstGeom prst="line">
            <a:avLst/>
          </a:prstGeom>
          <a:ln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05840" y="4480560"/>
            <a:ext cx="1005840" cy="320040"/>
          </a:xfrm>
          <a:prstGeom prst="line">
            <a:avLst/>
          </a:prstGeom>
          <a:ln w="31750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011680" y="4069080"/>
            <a:ext cx="1005840" cy="411480"/>
          </a:xfrm>
          <a:prstGeom prst="line">
            <a:avLst/>
          </a:prstGeom>
          <a:ln w="31750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017520" y="3703320"/>
            <a:ext cx="1005840" cy="365760"/>
          </a:xfrm>
          <a:prstGeom prst="line">
            <a:avLst/>
          </a:prstGeom>
          <a:ln w="31750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023360" y="3246120"/>
            <a:ext cx="1005840" cy="457200"/>
          </a:xfrm>
          <a:prstGeom prst="line">
            <a:avLst/>
          </a:prstGeom>
          <a:ln w="31750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029200" y="2880360"/>
            <a:ext cx="1005840" cy="365760"/>
          </a:xfrm>
          <a:prstGeom prst="line">
            <a:avLst/>
          </a:prstGeom>
          <a:ln w="31750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35040" y="2423160"/>
            <a:ext cx="1005840" cy="457200"/>
          </a:xfrm>
          <a:prstGeom prst="line">
            <a:avLst/>
          </a:prstGeom>
          <a:ln w="31750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955279" y="2148840"/>
            <a:ext cx="33832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C36"/>
                </a:solidFill>
                <a:latin typeface="Aptos"/>
              </a:rPr>
              <a:t>Forecast using current free capacity + growth rate + operating threshold + procurement lead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749039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D48"/>
                </a:solidFill>
                <a:latin typeface="Aptos"/>
              </a:rPr>
              <a:t>Capacity planning 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0690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C36"/>
                </a:solidFill>
                <a:latin typeface="Aptos"/>
              </a:defRPr>
            </a:pPr>
            <a:r>
              <a:t>• Usable capacity</a:t>
            </a:r>
          </a:p>
          <a:p>
            <a:pPr>
              <a:spcAft>
                <a:spcPts val="700"/>
              </a:spcAft>
              <a:defRPr sz="1100">
                <a:solidFill>
                  <a:srgbClr val="232C36"/>
                </a:solidFill>
                <a:latin typeface="Aptos"/>
              </a:defRPr>
            </a:pPr>
            <a:r>
              <a:t>• Free capacity</a:t>
            </a:r>
          </a:p>
          <a:p>
            <a:pPr>
              <a:spcAft>
                <a:spcPts val="700"/>
              </a:spcAft>
              <a:defRPr sz="1100">
                <a:solidFill>
                  <a:srgbClr val="232C36"/>
                </a:solidFill>
                <a:latin typeface="Aptos"/>
              </a:defRPr>
            </a:pPr>
            <a:r>
              <a:t>• Monthly growth</a:t>
            </a:r>
          </a:p>
          <a:p>
            <a:pPr>
              <a:spcAft>
                <a:spcPts val="700"/>
              </a:spcAft>
              <a:defRPr sz="1100">
                <a:solidFill>
                  <a:srgbClr val="232C36"/>
                </a:solidFill>
                <a:latin typeface="Aptos"/>
              </a:defRPr>
            </a:pPr>
            <a:r>
              <a:t>• Operational threshold</a:t>
            </a:r>
          </a:p>
          <a:p>
            <a:pPr>
              <a:spcAft>
                <a:spcPts val="700"/>
              </a:spcAft>
              <a:defRPr sz="1100">
                <a:solidFill>
                  <a:srgbClr val="232C36"/>
                </a:solidFill>
                <a:latin typeface="Aptos"/>
              </a:defRPr>
            </a:pPr>
            <a:r>
              <a:t>• Forecast date</a:t>
            </a:r>
          </a:p>
          <a:p>
            <a:pPr>
              <a:spcAft>
                <a:spcPts val="700"/>
              </a:spcAft>
              <a:defRPr sz="1100">
                <a:solidFill>
                  <a:srgbClr val="232C36"/>
                </a:solidFill>
                <a:latin typeface="Aptos"/>
              </a:defRPr>
            </a:pPr>
            <a:r>
              <a:t>• Lead 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Capacity Forecasting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Use a simple model before discussing procurement.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778A"/>
                </a:solidFill>
                <a:latin typeface="Aptos"/>
              </a:rPr>
              <a:t>RPS | ICICI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828800"/>
          <a:ext cx="4754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Usable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100 TB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Current free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22 TB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Average monthly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3 TB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Operational threshold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15 TB free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Procurement lead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4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92240" y="1828800"/>
            <a:ext cx="3840480" cy="91440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1938528"/>
            <a:ext cx="369417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62D48"/>
                </a:solidFill>
                <a:latin typeface="Aptos"/>
              </a:rPr>
              <a:t>When does the threshold get crossed?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063240"/>
            <a:ext cx="37490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62D48"/>
                </a:solidFill>
                <a:latin typeface="Aptos"/>
              </a:rPr>
              <a:t>22 TB free − 3 TB/month = 15 TB after ~2.3 months.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069080"/>
            <a:ext cx="37490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C36"/>
                </a:solidFill>
                <a:latin typeface="Aptos"/>
              </a:rPr>
              <a:t>Planning action: start before the threshold is reached so procurement, change windows and migration work have time to complete.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DCIM — Data Center Infrastructure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DCIM adds physical/environmental context to IT monitoring.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33172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1" y="1938528"/>
            <a:ext cx="2185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IT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803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C36"/>
                </a:solidFill>
                <a:latin typeface="Aptos"/>
              </a:rPr>
              <a:t>Servers • storage •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33172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02152" y="1938528"/>
            <a:ext cx="2185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Facility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7" y="28803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C36"/>
                </a:solidFill>
                <a:latin typeface="Aptos"/>
              </a:rPr>
              <a:t>Power • cooling • space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33172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2" y="1938528"/>
            <a:ext cx="2185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Connectivity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7" y="28803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C36"/>
                </a:solidFill>
                <a:latin typeface="Aptos"/>
              </a:rPr>
              <a:t>Racks • cabling • locations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1828800"/>
            <a:ext cx="233172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79991" y="1938528"/>
            <a:ext cx="2185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28803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C36"/>
                </a:solidFill>
                <a:latin typeface="Aptos"/>
              </a:rPr>
              <a:t>Assets • dependencies • capacity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71800" y="2240280"/>
            <a:ext cx="4572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60720" y="2240280"/>
            <a:ext cx="4572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49640" y="2240280"/>
            <a:ext cx="4572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1560" y="41605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2D48"/>
                </a:solidFill>
                <a:latin typeface="Aptos"/>
              </a:rPr>
              <a:t>Example: a storage alert may be technically healthy while the rack has a power/cooling constraint. DCIM helps connect the physical context.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Multi-Vendor Monitoring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Bring OEM telemetry and centralized visibility into one operating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64592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1" y="1938528"/>
            <a:ext cx="14996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Dell EMC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63240"/>
            <a:ext cx="164592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1" y="3172968"/>
            <a:ext cx="14996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NetApp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828800"/>
            <a:ext cx="164592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62072" y="1938528"/>
            <a:ext cx="14996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HPE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3063240"/>
            <a:ext cx="164592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62072" y="3172968"/>
            <a:ext cx="14996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IBM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2377440"/>
            <a:ext cx="2148840" cy="91440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9512" y="2487168"/>
            <a:ext cx="200253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62D48"/>
                </a:solidFill>
                <a:latin typeface="Aptos"/>
              </a:rPr>
              <a:t>Central Monitoring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783080"/>
            <a:ext cx="219456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85632" y="1892807"/>
            <a:ext cx="2048255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SIEM / Log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880360"/>
            <a:ext cx="219456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85632" y="2990088"/>
            <a:ext cx="2048255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Capacity / Reporting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977639"/>
            <a:ext cx="219456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378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85632" y="4087368"/>
            <a:ext cx="2048255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Operations / ITSM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86000" y="2194560"/>
            <a:ext cx="2880360" cy="64008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286000" y="2834640"/>
            <a:ext cx="2880360" cy="59436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34840" y="2240280"/>
            <a:ext cx="731520" cy="59436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434840" y="2834640"/>
            <a:ext cx="731520" cy="64008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315200" y="2176272"/>
            <a:ext cx="1097280" cy="658368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15200" y="2834640"/>
            <a:ext cx="1097280" cy="438912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15200" y="2834640"/>
            <a:ext cx="1097280" cy="1536192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D48"/>
          </a:solidFill>
          <a:ln>
            <a:solidFill>
              <a:srgbClr val="16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Session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7DDEE"/>
                </a:solidFill>
                <a:latin typeface="Aptos"/>
              </a:rPr>
              <a:t>Storage Security &amp;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971800"/>
            <a:ext cx="960120" cy="6400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Security Goals: Confidentiality • Integrity •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Monitoring tells you what happened; controls determine what is permitted and protected.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2423160" cy="91440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2029968"/>
            <a:ext cx="227685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CONFIDENTIALITY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63240"/>
            <a:ext cx="2331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C36"/>
                </a:solidFill>
                <a:latin typeface="Aptos"/>
              </a:rPr>
              <a:t>Only authorized identities access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920240"/>
            <a:ext cx="2423160" cy="91440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02152" y="2029968"/>
            <a:ext cx="227685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63240"/>
            <a:ext cx="2331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C36"/>
                </a:solidFill>
                <a:latin typeface="Aptos"/>
              </a:rPr>
              <a:t>Data and configuration remain trustworthy.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920240"/>
            <a:ext cx="2423160" cy="91440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029968"/>
            <a:ext cx="227685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AVAILABILITY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63240"/>
            <a:ext cx="2331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C36"/>
                </a:solidFill>
                <a:latin typeface="Aptos"/>
              </a:rPr>
              <a:t>Authorized users can access services when needed.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1920240"/>
            <a:ext cx="2423160" cy="91440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62872" y="2029968"/>
            <a:ext cx="227685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ACCOUNTABILITY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063240"/>
            <a:ext cx="2331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C36"/>
                </a:solidFill>
                <a:latin typeface="Aptos"/>
              </a:rPr>
              <a:t>Actions can be traced to identities and evidence.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Authentication, Authorization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Do not collapse identity proof, permission and evidence into one concept.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778A"/>
                </a:solidFill>
                <a:latin typeface="Aptos"/>
              </a:rPr>
              <a:t>RPS | ICICI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274320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121408"/>
            <a:ext cx="259689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D48"/>
                </a:solidFill>
                <a:latin typeface="Aptos"/>
              </a:rPr>
              <a:t>Authentication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011680"/>
            <a:ext cx="274320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2121408"/>
            <a:ext cx="259689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D48"/>
                </a:solidFill>
                <a:latin typeface="Aptos"/>
              </a:rPr>
              <a:t>Authorization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2011680"/>
            <a:ext cx="228600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68512" y="2121408"/>
            <a:ext cx="213969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D48"/>
                </a:solidFill>
                <a:latin typeface="Aptos"/>
              </a:rPr>
              <a:t>Audit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6160" y="2423160"/>
            <a:ext cx="11430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52360" y="2423160"/>
            <a:ext cx="11430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1560" y="3246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2778A"/>
                </a:solidFill>
                <a:latin typeface="Aptos"/>
              </a:rPr>
              <a:t>WHO are you?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2461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2778A"/>
                </a:solidFill>
                <a:latin typeface="Aptos"/>
              </a:rPr>
              <a:t>WHAT can you do?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2778A"/>
                </a:solidFill>
                <a:latin typeface="Aptos"/>
              </a:rPr>
              <a:t>WHAT happened?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RBAC — Role-Based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Assign permissions through job roles and keep privileges aligned to responsibility.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06324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938528"/>
            <a:ext cx="291693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Monitoring Operator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C36"/>
                </a:solidFill>
                <a:latin typeface="Aptos"/>
              </a:rPr>
              <a:t>View dashboards, acknowledge/triage alerts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06324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938528"/>
            <a:ext cx="291693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Storage Operator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718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C36"/>
                </a:solidFill>
                <a:latin typeface="Aptos"/>
              </a:rPr>
              <a:t>Perform approved operational 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06324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938528"/>
            <a:ext cx="291693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Storage Administrator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9718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C36"/>
                </a:solidFill>
                <a:latin typeface="Aptos"/>
              </a:rPr>
              <a:t>Configuration and privileged administration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10195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62D48"/>
                </a:solidFill>
                <a:latin typeface="Aptos"/>
              </a:rPr>
              <a:t>Least privilege = grant the minimum capability required for the job, review it, and remove it when no longer required.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RBAC Lab — Review Three Accounts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Decide what each account should be able to do, then identify one permission to remove.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8288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Account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Example capabilities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Excess permission?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Monitoring Operator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View health, capacity,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Delete storage object?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Storage Operator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Operations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Provision approved objects, run checks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Change global security policy?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Storage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Administration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Manage configuration and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" y="544068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2778A"/>
                </a:solidFill>
                <a:latin typeface="Aptos"/>
              </a:rPr>
              <a:t>Evidence: role mapping • approval • permission review • access review timestamp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ACLs — Resource-Level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ACLs control access to a particular resource, often through users/groups and allow/deny rules.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196596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212848"/>
            <a:ext cx="181965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User / 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103120"/>
            <a:ext cx="196596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30752" y="2212848"/>
            <a:ext cx="181965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ACL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103120"/>
            <a:ext cx="196596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1112" y="2212848"/>
            <a:ext cx="181965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File / Share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2103120"/>
            <a:ext cx="196596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45752" y="2212848"/>
            <a:ext cx="181965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Access decision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2514600"/>
            <a:ext cx="9144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23560" y="2514600"/>
            <a:ext cx="9144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03920" y="2514600"/>
            <a:ext cx="86868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5840" y="4069080"/>
            <a:ext cx="10149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C36"/>
                </a:solidFill>
                <a:latin typeface="Aptos"/>
              </a:rPr>
              <a:t>Example: Group “Storage-Ops” may modify a shared folder; another group may have read-only access. Exact semantics depend on platform/protocol.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RBAC vs ACL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78992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RBAC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ACL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Administrative/job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Specific resource/object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Question answered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What can this role do?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Who can access this resource?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Common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Management plane permissions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Files, shares, directories, resources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Design principle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Least privilege by responsibility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Least privilege by resource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Role assignment +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Resource permission listing +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5532120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They can coexist. RBAC does not replace resource-level permissions.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Encryption at 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Protect stored data when media, snapshots, backups or storage objects are not actively traversing the network.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778A"/>
                </a:solidFill>
                <a:latin typeface="Aptos"/>
              </a:rPr>
              <a:t>RPS | ICICI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201168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212848"/>
            <a:ext cx="186537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Application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103120"/>
            <a:ext cx="201168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76472" y="2212848"/>
            <a:ext cx="186537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Storage encryption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103120"/>
            <a:ext cx="201168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48272" y="2212848"/>
            <a:ext cx="186537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Encrypted media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2103120"/>
            <a:ext cx="182880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20072" y="2212848"/>
            <a:ext cx="168249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Key management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2514600"/>
            <a:ext cx="96012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15000" y="2514600"/>
            <a:ext cx="96012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86800" y="2514600"/>
            <a:ext cx="96012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51560" y="4069080"/>
            <a:ext cx="9966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C36"/>
                </a:solidFill>
                <a:latin typeface="Aptos"/>
              </a:rPr>
              <a:t>Training focus: verify what is encrypted, where keys live, who can manage keys, and what evidence demonstrates the control.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Encryption in Transit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Protect data while moving between clients, hosts, management systems, storage systems and supporting 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82880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1" y="2304288"/>
            <a:ext cx="168249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Client / host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2194560"/>
            <a:ext cx="182880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67912" y="2304288"/>
            <a:ext cx="168249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Secure channel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194560"/>
            <a:ext cx="182880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22592" y="2304288"/>
            <a:ext cx="168249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Storage /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2194560"/>
            <a:ext cx="164592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02952" y="2304288"/>
            <a:ext cx="149961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Logs / evidence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2606040"/>
            <a:ext cx="132588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23560" y="2606040"/>
            <a:ext cx="132588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2606040"/>
            <a:ext cx="105156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0120" y="406908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C36"/>
                </a:solidFill>
                <a:latin typeface="Aptos"/>
              </a:rPr>
              <a:t>Examples may include TLS/HTTPS, IPsec or protocol-specific secure mechanisms; exact choices depend on environment and product support.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Encryption at Rest vs In Transit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10835637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At Rest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 Transit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What is protected?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Stored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Data moving across a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Typical locations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Media, disks, storage objects, backups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Client-host, host-storage, management paths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Primary concern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Loss/theft of stored media or data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Interception or tampering during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Key evidence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Encryption state + key-management evidence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Protocol/security configuration + connection evidence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Compliance — Requirement → Control →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Compliance is a management and assurance discipline, not a checkbox on a storage appliance.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210312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167128"/>
            <a:ext cx="19568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62D48"/>
                </a:solidFill>
                <a:latin typeface="Aptos"/>
              </a:rPr>
              <a:t>Requirement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057400"/>
            <a:ext cx="210312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30752" y="2167128"/>
            <a:ext cx="19568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62D48"/>
                </a:solidFill>
                <a:latin typeface="Aptos"/>
              </a:rPr>
              <a:t>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057400"/>
            <a:ext cx="210312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2167128"/>
            <a:ext cx="19568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62D48"/>
                </a:solidFill>
                <a:latin typeface="Aptos"/>
              </a:rPr>
              <a:t>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057400"/>
            <a:ext cx="201168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00032" y="2167128"/>
            <a:ext cx="186537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62D48"/>
                </a:solidFill>
                <a:latin typeface="Aptos"/>
              </a:rPr>
              <a:t>Review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2468880"/>
            <a:ext cx="73152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2468880"/>
            <a:ext cx="73152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95360" y="2468880"/>
            <a:ext cx="73152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5840" y="4114800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Example: privileged access requirement → RBAC + MFA + approval process → role assignment + review record + logs → audit.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RBI — Storage-Relevant Security Themes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Use this as a training map, not as legal advice or a substitute for the applicable RBI circulars and the bank’s control framework.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35524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554480"/>
          </a:xfrm>
          <a:prstGeom prst="rect">
            <a:avLst/>
          </a:prstGeom>
          <a:solidFill>
            <a:srgbClr val="3874B0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Monitoring &amp; logging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4988052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RBI material emphasizes audit logs, systematic analysis and forensic usefulness.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828800"/>
            <a:ext cx="5335524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828800"/>
            <a:ext cx="64008" cy="1554480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2804" y="199339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Data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2804" y="2359152"/>
            <a:ext cx="4988052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Controls should protect sensitive information in storage, processing and transmission.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5335524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611880"/>
            <a:ext cx="64008" cy="1554480"/>
          </a:xfrm>
          <a:prstGeom prst="rect">
            <a:avLst/>
          </a:prstGeom>
          <a:solidFill>
            <a:srgbClr val="6C5896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77647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Security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142232"/>
            <a:ext cx="4988052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Layered security, surveillance and risk-based controls are recurring themes.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611880"/>
            <a:ext cx="5335524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31636" y="3611880"/>
            <a:ext cx="64008" cy="1554480"/>
          </a:xfrm>
          <a:prstGeom prst="rect">
            <a:avLst/>
          </a:prstGeom>
          <a:solidFill>
            <a:srgbClr val="CD8437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2804" y="377647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804" y="4142232"/>
            <a:ext cx="4988052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Policies, logs, testing and documented procedures support oversight and assurance.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23560"/>
            <a:ext cx="10378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2778A"/>
                </a:solidFill>
                <a:latin typeface="Aptos"/>
              </a:rPr>
              <a:t>RBI sources should be checked against the exact banking entity, service and currently applicable circulars.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ISO/IEC 27001:2022 — ISMS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ISO/IEC 27001 specifies requirements for an information security management system and a risk-management approach.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600200"/>
          </a:xfrm>
          <a:prstGeom prst="rect">
            <a:avLst/>
          </a:prstGeom>
          <a:solidFill>
            <a:srgbClr val="3874B0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Policies, responsibilities, risk treatment and continual improvement.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8288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828800"/>
            <a:ext cx="64008" cy="1600200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2804" y="199339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People + process +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2804" y="23591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Security is broader than a single tool or appliance.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64008" cy="1600200"/>
          </a:xfrm>
          <a:prstGeom prst="rect">
            <a:avLst/>
          </a:prstGeom>
          <a:solidFill>
            <a:srgbClr val="6C5896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822191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1879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Confidentiality, integrity and availability are core security outcomes.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6576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31636" y="3657600"/>
            <a:ext cx="64008" cy="1600200"/>
          </a:xfrm>
          <a:prstGeom prst="rect">
            <a:avLst/>
          </a:prstGeom>
          <a:solidFill>
            <a:srgbClr val="CD8437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2804" y="3822191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804" y="41879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Controls need implementation, operation and assurance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78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2778A"/>
                </a:solidFill>
                <a:latin typeface="Aptos"/>
              </a:rPr>
              <a:t>ISO/IEC 27001:2022 is the current standard listed by ISO; this deck does not reproduce the standard.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PCI-DSS — Payment Data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PCI DSS is particularly relevant when storage systems support environments in scope for payment-card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600200"/>
          </a:xfrm>
          <a:prstGeom prst="rect">
            <a:avLst/>
          </a:prstGeom>
          <a:solidFill>
            <a:srgbClr val="3874B0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Access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Restrict and authenticate access to system components and cardholder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8288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828800"/>
            <a:ext cx="64008" cy="1600200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2804" y="199339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Logging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2804" y="23591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Track and monitor access and administrative activity.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64008" cy="1600200"/>
          </a:xfrm>
          <a:prstGeom prst="rect">
            <a:avLst/>
          </a:prstGeom>
          <a:solidFill>
            <a:srgbClr val="6C5896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822191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1879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Use appropriate safeguards for stored/transmitted sensitive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6576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31636" y="3657600"/>
            <a:ext cx="64008" cy="1600200"/>
          </a:xfrm>
          <a:prstGeom prst="rect">
            <a:avLst/>
          </a:prstGeom>
          <a:solidFill>
            <a:srgbClr val="CD8437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2804" y="3822191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804" y="41879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Configuration, logs, reviews and testing support assessment.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78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2778A"/>
                </a:solidFill>
                <a:latin typeface="Aptos"/>
              </a:rPr>
              <a:t>PCI Security Standards Council currently lists PCI DSS v4.0.1 in its document library.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GDPR — Security of Processing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Where personal data is processed, storage controls contribute to a broader risk-based security posture.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600200"/>
          </a:xfrm>
          <a:prstGeom prst="rect">
            <a:avLst/>
          </a:prstGeom>
          <a:solidFill>
            <a:srgbClr val="3874B0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Risk-based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Measures should be appropriate to the risk and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8288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828800"/>
            <a:ext cx="64008" cy="1600200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2804" y="199339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Encryption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2804" y="23591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Article 32 explicitly includes encryption/pseudonymisation as appropriate measures.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64008" cy="1600200"/>
          </a:xfrm>
          <a:prstGeom prst="rect">
            <a:avLst/>
          </a:prstGeom>
          <a:solidFill>
            <a:srgbClr val="6C5896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822191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Resilience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1879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Consider confidentiality, integrity, availability and resilience.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6576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31636" y="3657600"/>
            <a:ext cx="64008" cy="1600200"/>
          </a:xfrm>
          <a:prstGeom prst="rect">
            <a:avLst/>
          </a:prstGeom>
          <a:solidFill>
            <a:srgbClr val="CD8437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2804" y="3822191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Recovery +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804" y="41879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Ability to restore access and regularly test effectiveness are part of the security lens.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78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2778A"/>
                </a:solidFill>
                <a:latin typeface="Aptos"/>
              </a:rPr>
              <a:t>This is a storage-operations teaching summary, not a legal interpretation of GDPR applicability.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Compliance Control Mapping — Practical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37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Control area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RBI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ISO/IEC 27001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PCI-DSS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GDPR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Identity /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rPr dirty="0"/>
                        <a:t>Logging / monitoring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Explicitly important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Encryption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Explicitly identified as appropriate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Backup / recovery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 to resilience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 to availability/restoration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Asset / configuration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Relevant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rPr dirty="0"/>
                        <a:t>Relevant where risk applies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08076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78A"/>
                </a:solidFill>
                <a:latin typeface="Aptos"/>
              </a:rPr>
              <a:t>“Relevant” means the control area can contribute to the framework; exact applicability depends on scope and the organization’s obligations.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Audit Evidence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Good evidence lets an auditor or incident responder reconstruct who did what, when, to which resource, and with what outcome.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141732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350008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240280"/>
            <a:ext cx="141732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33472" y="2350008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240280"/>
            <a:ext cx="141732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2350008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Timestamp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240280"/>
            <a:ext cx="141732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350008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Resource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240280"/>
            <a:ext cx="141732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2350008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Outcome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2240280"/>
            <a:ext cx="1417320" cy="73152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31552" y="2350008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Review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03120" y="2606040"/>
            <a:ext cx="4572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977639" y="2606040"/>
            <a:ext cx="457201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52159" y="2606040"/>
            <a:ext cx="4572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26679" y="2606040"/>
            <a:ext cx="4572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2606040"/>
            <a:ext cx="45720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41605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2D48"/>
                </a:solidFill>
                <a:latin typeface="Aptos"/>
              </a:rPr>
              <a:t>Example evidence: account/role assignment • configuration change • audit log • ticket/approval • alert • post-change validation.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Hands-On Lab 1 — Monitoring Alert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Scenario: storage latency alert appears at 14:05.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39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737360"/>
          <a:ext cx="1024128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1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 action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1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Confirm affected array / workload / time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1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Review native OEM telemetry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1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Correlate central alert + Syslog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1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Check host, network/fabric, controller and capacity signals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1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State hypothesis before taking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Record corrective action and validation evidence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2D48"/>
                </a:solidFill>
                <a:latin typeface="Aptos"/>
              </a:rPr>
              <a:t>Deliverable: symptom → evidence → hypothesis → action → validation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Hands-On Lab 2 — RBAC / Security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Review three hypothetical accounts and identify the minimum required access.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1672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325880"/>
          </a:xfrm>
          <a:prstGeom prst="rect">
            <a:avLst/>
          </a:prstGeom>
          <a:solidFill>
            <a:srgbClr val="3874B0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312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Monitoring 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312420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View dashboards, alerts and capacity. Remove destructive administration.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7784" y="1828800"/>
            <a:ext cx="3471672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67784" y="1828800"/>
            <a:ext cx="64008" cy="1325880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8951" y="1993392"/>
            <a:ext cx="312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Storage Operator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1" y="2359152"/>
            <a:ext cx="312420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Provision approved objects and perform operational checks. Remove security-policy 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7" y="1828800"/>
            <a:ext cx="3471672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5487" y="1828800"/>
            <a:ext cx="64008" cy="1325880"/>
          </a:xfrm>
          <a:prstGeom prst="rect">
            <a:avLst/>
          </a:prstGeom>
          <a:solidFill>
            <a:srgbClr val="6C5896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6655" y="1993392"/>
            <a:ext cx="312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Storage Administrator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6655" y="2359152"/>
            <a:ext cx="312420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Manage configuration and privileged functions. Review use and approvals.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378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C36"/>
                </a:solidFill>
                <a:latin typeface="Aptos"/>
              </a:rPr>
              <a:t>Record: role • permissions • one removed permission • ACL use case • encryption verification point • audit evidence.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Hands-On Lab 3 — Capacity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Use a storage pool trend to decide when an action should begin.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778A"/>
                </a:solidFill>
                <a:latin typeface="Aptos"/>
              </a:rPr>
              <a:t>RPS | ICICI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82880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121408"/>
            <a:ext cx="168249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Current 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011680"/>
            <a:ext cx="182880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36392" y="2121408"/>
            <a:ext cx="168249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Growth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011680"/>
            <a:ext cx="182880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68112" y="2121408"/>
            <a:ext cx="168249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Threshold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011680"/>
            <a:ext cx="182880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99831" y="2121408"/>
            <a:ext cx="168249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Lead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011680"/>
            <a:ext cx="137160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378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31552" y="2121408"/>
            <a:ext cx="122529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Plan date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60320" y="2404872"/>
            <a:ext cx="50292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92040" y="2404872"/>
            <a:ext cx="50292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23760" y="2404872"/>
            <a:ext cx="502919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2404872"/>
            <a:ext cx="50292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43000" y="4069080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62D48"/>
                </a:solidFill>
                <a:latin typeface="Aptos"/>
              </a:rPr>
              <a:t>Student task: calculate the threshold-crossing date, then back-plan procurement / migration / change activities.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Scenario — Alert Storm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Fifteen alerts arrive in three minutes. Which one is the primary signal?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82880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B5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1" y="2167128"/>
            <a:ext cx="168249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Port 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057400"/>
            <a:ext cx="182880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53512" y="2167128"/>
            <a:ext cx="168249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Latency high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057400"/>
            <a:ext cx="182880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2167128"/>
            <a:ext cx="168249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Pool pressure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057400"/>
            <a:ext cx="182880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34072" y="2167128"/>
            <a:ext cx="168249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Path degraded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057400"/>
            <a:ext cx="182880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74352" y="2167128"/>
            <a:ext cx="168249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Replication 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378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C36"/>
                </a:solidFill>
                <a:latin typeface="Aptos"/>
              </a:rPr>
              <a:t>Exercise: correlate by timestamp, object and dependency. Decide which alert is primary and which are consequences.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983480"/>
            <a:ext cx="274320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16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82312" y="5093208"/>
            <a:ext cx="259689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62D48"/>
                </a:solidFill>
                <a:latin typeface="Aptos"/>
              </a:rPr>
              <a:t>Primary signal?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Team Exercise — Monitoring &amp; Security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Design a model for a multi-vendor storage estate. Presentation target: 7 minutes.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508248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64008" cy="1325880"/>
          </a:xfrm>
          <a:prstGeom prst="rect">
            <a:avLst/>
          </a:prstGeom>
          <a:solidFill>
            <a:srgbClr val="3874B0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4767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13432"/>
            <a:ext cx="31607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OEM + central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9496" y="1783080"/>
            <a:ext cx="3508248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9496" y="1783080"/>
            <a:ext cx="64008" cy="1325880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0664" y="194767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0664" y="2313432"/>
            <a:ext cx="31607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SNMP + Syslog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1" y="1783080"/>
            <a:ext cx="3508248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58911" y="1783080"/>
            <a:ext cx="64008" cy="1325880"/>
          </a:xfrm>
          <a:prstGeom prst="rect">
            <a:avLst/>
          </a:prstGeom>
          <a:solidFill>
            <a:srgbClr val="6C5896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0080" y="194767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0080" y="2313432"/>
            <a:ext cx="31607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RBAC + ACL + encryption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37560"/>
            <a:ext cx="3508248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337560"/>
            <a:ext cx="64008" cy="1325880"/>
          </a:xfrm>
          <a:prstGeom prst="rect">
            <a:avLst/>
          </a:prstGeom>
          <a:solidFill>
            <a:srgbClr val="CD8437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5021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Capacity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3867911"/>
            <a:ext cx="31607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Trend + threshold + forecast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9496" y="3337560"/>
            <a:ext cx="3508248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9496" y="3337560"/>
            <a:ext cx="64008" cy="1325880"/>
          </a:xfrm>
          <a:prstGeom prst="rect">
            <a:avLst/>
          </a:prstGeom>
          <a:solidFill>
            <a:srgbClr val="378960"/>
          </a:solidFill>
          <a:ln>
            <a:solidFill>
              <a:srgbClr val="378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50664" y="35021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DCIM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0664" y="3867911"/>
            <a:ext cx="31607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Physical/context visibility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8911" y="3337560"/>
            <a:ext cx="3508248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58911" y="3337560"/>
            <a:ext cx="64008" cy="1325880"/>
          </a:xfrm>
          <a:prstGeom prst="rect">
            <a:avLst/>
          </a:prstGeom>
          <a:solidFill>
            <a:srgbClr val="B55252"/>
          </a:solidFill>
          <a:ln>
            <a:solidFill>
              <a:srgbClr val="B5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60080" y="35021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0080" y="3867911"/>
            <a:ext cx="31607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RBI + ISO + PCI-DSS + GDPR themes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69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2778A"/>
                </a:solidFill>
                <a:latin typeface="Aptos"/>
              </a:rPr>
              <a:t>Rubric: monitoring 4 • alerting 3 • RBAC/ACL 3 • encryption 3 • capacity/DCIM 2 • compliance 3 • evidence 2 = 20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Reference Architecture — Production Storage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One operating model across vendor arrays and enterprise controls.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2148840" cy="91440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2075688"/>
            <a:ext cx="200253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Dell / NetApp / HPE / IBM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965960"/>
            <a:ext cx="1600200" cy="91440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10712" y="2075688"/>
            <a:ext cx="145389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OEM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965960"/>
            <a:ext cx="1783080" cy="91440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59552" y="2075688"/>
            <a:ext cx="163677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Central Monitoring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65960"/>
            <a:ext cx="1645920" cy="91440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2075688"/>
            <a:ext cx="149961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D48"/>
                </a:solidFill>
                <a:latin typeface="Aptos"/>
              </a:rPr>
              <a:t>SIEM / ITSM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1965960"/>
            <a:ext cx="1234440" cy="914400"/>
          </a:xfrm>
          <a:prstGeom prst="roundRect">
            <a:avLst/>
          </a:prstGeom>
          <a:solidFill>
            <a:srgbClr val="E8F2FA"/>
          </a:solidFill>
          <a:ln>
            <a:solidFill>
              <a:srgbClr val="16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51592" y="2075688"/>
            <a:ext cx="108813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62D48"/>
                </a:solidFill>
                <a:latin typeface="Aptos"/>
              </a:rPr>
              <a:t>Governance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2423160"/>
            <a:ext cx="59436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937760" y="2423160"/>
            <a:ext cx="54864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69480" y="2423160"/>
            <a:ext cx="86868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84080" y="2423160"/>
            <a:ext cx="59436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926080" y="3749039"/>
            <a:ext cx="164592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99232" y="3858768"/>
            <a:ext cx="149961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RBAC / ACL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0" y="3749039"/>
            <a:ext cx="164592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30952" y="3858768"/>
            <a:ext cx="149961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Encryption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3749039"/>
            <a:ext cx="164592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62672" y="3858768"/>
            <a:ext cx="149961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Capacity / DCIM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3749039"/>
            <a:ext cx="164592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94392" y="3858768"/>
            <a:ext cx="149961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Audit 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49039" y="2880360"/>
            <a:ext cx="0" cy="868679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80760" y="2880360"/>
            <a:ext cx="0" cy="868679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12480" y="2880360"/>
            <a:ext cx="0" cy="868679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744200" y="2880360"/>
            <a:ext cx="0" cy="868679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71600" y="5166360"/>
            <a:ext cx="9418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62D48"/>
                </a:solidFill>
                <a:latin typeface="Aptos"/>
              </a:rPr>
              <a:t>Operating loop: detect → protect → control → evidence → review → improve.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Storage Monitoring &amp; Security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4008" cy="1371600"/>
          </a:xfrm>
          <a:prstGeom prst="rect">
            <a:avLst/>
          </a:prstGeom>
          <a:solidFill>
            <a:srgbClr val="3874B0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019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67712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Health • performance • capacity • availability •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9496" y="173736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9496" y="1737360"/>
            <a:ext cx="64008" cy="1371600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9019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Alerting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0664" y="2267712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Actionable thresholds • triage • correlation • escalation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8911" y="173736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58911" y="1737360"/>
            <a:ext cx="64008" cy="1371600"/>
          </a:xfrm>
          <a:prstGeom prst="rect">
            <a:avLst/>
          </a:prstGeom>
          <a:solidFill>
            <a:srgbClr val="CD8437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0080" y="19019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0080" y="2267712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Growth • threshold • forecast • lead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3756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337560"/>
            <a:ext cx="64008" cy="1371600"/>
          </a:xfrm>
          <a:prstGeom prst="rect">
            <a:avLst/>
          </a:prstGeom>
          <a:solidFill>
            <a:srgbClr val="6C5896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5021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Authentication • RBAC • ACL • periodic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9496" y="333756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9496" y="3337560"/>
            <a:ext cx="64008" cy="1371600"/>
          </a:xfrm>
          <a:prstGeom prst="rect">
            <a:avLst/>
          </a:prstGeom>
          <a:solidFill>
            <a:srgbClr val="378960"/>
          </a:solidFill>
          <a:ln>
            <a:solidFill>
              <a:srgbClr val="378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50664" y="35021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Encryption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0664" y="3867911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At rest • in transit • keys •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1" y="333756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58911" y="3337560"/>
            <a:ext cx="64008" cy="1371600"/>
          </a:xfrm>
          <a:prstGeom prst="rect">
            <a:avLst/>
          </a:prstGeom>
          <a:solidFill>
            <a:srgbClr val="B55252"/>
          </a:solidFill>
          <a:ln>
            <a:solidFill>
              <a:srgbClr val="B5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60080" y="35021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0080" y="3867911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Requirement • control • evidence • review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Common Operational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Use these as “what not to do” examples.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Treat every alert as equally important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Wait until capacity is exhausted before planning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Grant administrator rights for convenience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Assume RBAC and ACLs are interchangeable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Enable encryption without understanding key ownership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Collect logs but never review or protect them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Claim compliance because a single tool has a feature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Change configuration before capturing evidence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Compliance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Know what this training can and cannot establish.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600200"/>
          </a:xfrm>
          <a:prstGeom prst="rect">
            <a:avLst/>
          </a:prstGeom>
          <a:solidFill>
            <a:srgbClr val="3874B0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Training can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Explain control concepts and map storage operations to compliance themes.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8288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828800"/>
            <a:ext cx="64008" cy="1600200"/>
          </a:xfrm>
          <a:prstGeom prst="rect">
            <a:avLst/>
          </a:prstGeom>
          <a:solidFill>
            <a:srgbClr val="B55252"/>
          </a:solidFill>
          <a:ln>
            <a:solidFill>
              <a:srgbClr val="B5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2804" y="1993392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Training cannot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2804" y="23591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Determine legal applicability or certify an organization as compliant.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64008" cy="1600200"/>
          </a:xfrm>
          <a:prstGeom prst="rect">
            <a:avLst/>
          </a:prstGeom>
          <a:solidFill>
            <a:srgbClr val="CD8437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822191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Always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1879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Current RBI directions/circulars, contractual scope, PCI DSS scope and privacy obligations.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657600"/>
            <a:ext cx="5335524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31636" y="3657600"/>
            <a:ext cx="64008" cy="1600200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2804" y="3822191"/>
            <a:ext cx="4988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Evidence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804" y="4187952"/>
            <a:ext cx="4988052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A control is meaningful when it is designed, implemented, operated and evidenced.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Knowledge Check —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Answer before moving to the security answers.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1. What are the four basic monitoring questions?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2. What is the role of an OEM monitoring tool?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3. What is SolarWinds used for conceptually?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4. What is Nagios used for conceptually?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5. How do SNMP and Syslog differ?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6. What should capacity planning track?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7. What is DCIM?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Knowledge Check — Security &amp;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C36"/>
                </a:solidFill>
                <a:latin typeface="Aptos"/>
              </a:defRPr>
            </a:pPr>
            <a:r>
              <a:t>• 8. What is the difference between RBAC and ACLs?</a:t>
            </a:r>
          </a:p>
          <a:p>
            <a:pPr>
              <a:spcAft>
                <a:spcPts val="700"/>
              </a:spcAft>
              <a:defRPr sz="1400">
                <a:solidFill>
                  <a:srgbClr val="232C36"/>
                </a:solidFill>
                <a:latin typeface="Aptos"/>
              </a:defRPr>
            </a:pPr>
            <a:r>
              <a:t>• 9. What is encryption at rest vs in transit?</a:t>
            </a:r>
          </a:p>
          <a:p>
            <a:pPr>
              <a:spcAft>
                <a:spcPts val="700"/>
              </a:spcAft>
              <a:defRPr sz="1400">
                <a:solidFill>
                  <a:srgbClr val="232C36"/>
                </a:solidFill>
                <a:latin typeface="Aptos"/>
              </a:defRPr>
            </a:pPr>
            <a:r>
              <a:t>• 10. Why does compliance require more than one storage control?</a:t>
            </a:r>
          </a:p>
          <a:p>
            <a:pPr>
              <a:spcAft>
                <a:spcPts val="700"/>
              </a:spcAft>
              <a:defRPr sz="1400">
                <a:solidFill>
                  <a:srgbClr val="232C36"/>
                </a:solidFill>
                <a:latin typeface="Aptos"/>
              </a:defRPr>
            </a:pPr>
            <a:r>
              <a:t>• 11. Give one useful audit-evidence example.</a:t>
            </a:r>
          </a:p>
          <a:p>
            <a:pPr>
              <a:spcAft>
                <a:spcPts val="700"/>
              </a:spcAft>
              <a:defRPr sz="1400">
                <a:solidFill>
                  <a:srgbClr val="232C36"/>
                </a:solidFill>
                <a:latin typeface="Aptos"/>
              </a:defRPr>
            </a:pPr>
            <a:r>
              <a:t>• 12. What should you verify before changing a production configuration?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5166360"/>
            <a:ext cx="4572000" cy="82296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67912" y="5276088"/>
            <a:ext cx="442569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D48"/>
                </a:solidFill>
                <a:latin typeface="Aptos"/>
              </a:rPr>
              <a:t>Think: requirement → control → evidence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50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A6236A-B908-D12F-C1C1-33E4EA79C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" y="373626"/>
            <a:ext cx="11784068" cy="627406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51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E88B32-7D03-4D5A-CD19-761D9005C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51" y="564989"/>
            <a:ext cx="11276992" cy="525388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Current Reference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Use official sources for the latest requirements and product/tool behavior.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32C36"/>
                </a:solidFill>
                <a:latin typeface="Aptos"/>
              </a:defRPr>
            </a:pPr>
            <a:r>
              <a:t>• RBI — Cyber Security Framework in Banks / related cyber and IT supervision materials</a:t>
            </a:r>
          </a:p>
          <a:p>
            <a:pPr>
              <a:spcAft>
                <a:spcPts val="700"/>
              </a:spcAft>
              <a:defRPr sz="1200">
                <a:solidFill>
                  <a:srgbClr val="232C36"/>
                </a:solidFill>
                <a:latin typeface="Aptos"/>
              </a:defRPr>
            </a:pPr>
            <a:r>
              <a:t>• ISO — ISO/IEC 27001:2022 Information Security Management Systems</a:t>
            </a:r>
          </a:p>
          <a:p>
            <a:pPr>
              <a:spcAft>
                <a:spcPts val="700"/>
              </a:spcAft>
              <a:defRPr sz="1200">
                <a:solidFill>
                  <a:srgbClr val="232C36"/>
                </a:solidFill>
                <a:latin typeface="Aptos"/>
              </a:defRPr>
            </a:pPr>
            <a:r>
              <a:t>• PCI Security Standards Council — PCI DSS v4.0.1 and supporting guidance</a:t>
            </a:r>
          </a:p>
          <a:p>
            <a:pPr>
              <a:spcAft>
                <a:spcPts val="700"/>
              </a:spcAft>
              <a:defRPr sz="1200">
                <a:solidFill>
                  <a:srgbClr val="232C36"/>
                </a:solidFill>
                <a:latin typeface="Aptos"/>
              </a:defRPr>
            </a:pPr>
            <a:r>
              <a:t>• EUR-Lex — GDPR Article 32, Security of processing</a:t>
            </a:r>
          </a:p>
          <a:p>
            <a:pPr>
              <a:spcAft>
                <a:spcPts val="700"/>
              </a:spcAft>
              <a:defRPr sz="1200">
                <a:solidFill>
                  <a:srgbClr val="232C36"/>
                </a:solidFill>
                <a:latin typeface="Aptos"/>
              </a:defRPr>
            </a:pPr>
            <a:r>
              <a:t>• SolarWinds — current product/module documentation</a:t>
            </a:r>
          </a:p>
          <a:p>
            <a:pPr>
              <a:spcAft>
                <a:spcPts val="700"/>
              </a:spcAft>
              <a:defRPr sz="1200">
                <a:solidFill>
                  <a:srgbClr val="232C36"/>
                </a:solidFill>
                <a:latin typeface="Aptos"/>
              </a:defRPr>
            </a:pPr>
            <a:r>
              <a:t>• Nagios — current monitoring documentation</a:t>
            </a:r>
          </a:p>
          <a:p>
            <a:pPr>
              <a:spcAft>
                <a:spcPts val="700"/>
              </a:spcAft>
              <a:defRPr sz="1200">
                <a:solidFill>
                  <a:srgbClr val="232C36"/>
                </a:solidFill>
                <a:latin typeface="Aptos"/>
              </a:defRPr>
            </a:pPr>
            <a:r>
              <a:t>• ITIL / enterprise operations practices for incident, change and event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10652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78A"/>
                </a:solidFill>
                <a:latin typeface="Aptos"/>
              </a:rPr>
              <a:t>Regulatory scope and technical implementations change over time; validate against the current applicable source before an audit or production change.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Source Map — How the Day 8 Content Was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53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20139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RPS source basis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External/current verification</a:t>
                      </a:r>
                    </a:p>
                  </a:txBody>
                  <a:tcPr>
                    <a:solidFill>
                      <a:srgbClr val="162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Monitoring / alerts / SNMP / Syslog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Day 8 source deck + instructor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Capacity / DCIM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Day 8 source deck + worksheets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RBAC / ACL / encryption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Day 8 source deck + labs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RBI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Day 8 curriculum theme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RBI cyber-security / audit-log materials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ISO/IEC 27001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Day 8 curriculum theme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ISO official standard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PCI-DSS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Day 8 curriculum theme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PCI SSC v4.0.1 library + logging guidance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GDPR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Day 8 curriculum theme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GDPR Article 32 official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Integrated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Bring monitoring, security, capacity and compliance into the same daily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50876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2395728"/>
            <a:ext cx="136245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DETECT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57400" y="2670048"/>
            <a:ext cx="429768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87168" y="2286000"/>
            <a:ext cx="150876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2395728"/>
            <a:ext cx="136245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TRIAGE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2670048"/>
            <a:ext cx="429768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25696" y="2286000"/>
            <a:ext cx="150876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8" y="2395728"/>
            <a:ext cx="136245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SECURE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34456" y="2670048"/>
            <a:ext cx="429768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64224" y="2286000"/>
            <a:ext cx="150876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7376" y="2395728"/>
            <a:ext cx="136245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72983" y="2670048"/>
            <a:ext cx="429769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02752" y="2286000"/>
            <a:ext cx="150876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378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75904" y="2395728"/>
            <a:ext cx="136245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VALIDATE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11512" y="2670048"/>
            <a:ext cx="429768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241280" y="2286000"/>
            <a:ext cx="1508760" cy="777240"/>
          </a:xfrm>
          <a:prstGeom prst="roundRect">
            <a:avLst/>
          </a:prstGeom>
          <a:solidFill>
            <a:srgbClr val="E8F2FA"/>
          </a:solidFill>
          <a:ln>
            <a:solidFill>
              <a:srgbClr val="B5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14432" y="2395728"/>
            <a:ext cx="136245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251960"/>
            <a:ext cx="9784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62D48"/>
                </a:solidFill>
                <a:latin typeface="Aptos"/>
              </a:rPr>
              <a:t>A mature storage operation is not “many tools”; it is a repeatable control loop with measurable evidence.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Student Cheat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4008" cy="1371600"/>
          </a:xfrm>
          <a:prstGeom prst="rect">
            <a:avLst/>
          </a:prstGeom>
          <a:solidFill>
            <a:srgbClr val="3874B0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019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67712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Health • performance • capacity • availability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9496" y="173736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9496" y="1737360"/>
            <a:ext cx="64008" cy="1371600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9019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0664" y="2267712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SNMP = information • Syslog = events/logs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8911" y="173736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58911" y="1737360"/>
            <a:ext cx="64008" cy="1371600"/>
          </a:xfrm>
          <a:prstGeom prst="rect">
            <a:avLst/>
          </a:prstGeom>
          <a:solidFill>
            <a:srgbClr val="CD8437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0080" y="19019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0080" y="2267712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Current + growth + threshold + lead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3756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337560"/>
            <a:ext cx="64008" cy="1371600"/>
          </a:xfrm>
          <a:prstGeom prst="rect">
            <a:avLst/>
          </a:prstGeom>
          <a:solidFill>
            <a:srgbClr val="6C5896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5021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Authentication → authorization →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9496" y="333756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9496" y="3337560"/>
            <a:ext cx="64008" cy="1371600"/>
          </a:xfrm>
          <a:prstGeom prst="rect">
            <a:avLst/>
          </a:prstGeom>
          <a:solidFill>
            <a:srgbClr val="378960"/>
          </a:solidFill>
          <a:ln>
            <a:solidFill>
              <a:srgbClr val="378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50664" y="35021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0664" y="3867911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RBAC + ACL + encryption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1" y="333756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58911" y="3337560"/>
            <a:ext cx="64008" cy="1371600"/>
          </a:xfrm>
          <a:prstGeom prst="rect">
            <a:avLst/>
          </a:prstGeom>
          <a:solidFill>
            <a:srgbClr val="B55252"/>
          </a:solidFill>
          <a:ln>
            <a:solidFill>
              <a:srgbClr val="B5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60080" y="350215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0080" y="3867911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Requirement → control → evidence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Scenario Bank — Discuss With Your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64008" cy="1371600"/>
          </a:xfrm>
          <a:prstGeom prst="rect">
            <a:avLst/>
          </a:prstGeom>
          <a:solidFill>
            <a:srgbClr val="CD8437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85623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Pool near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21992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What should be monitored? When should procurement start?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9496" y="169164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9496" y="1691640"/>
            <a:ext cx="64008" cy="1371600"/>
          </a:xfrm>
          <a:prstGeom prst="rect">
            <a:avLst/>
          </a:prstGeom>
          <a:solidFill>
            <a:srgbClr val="B55252"/>
          </a:solidFill>
          <a:ln>
            <a:solidFill>
              <a:srgbClr val="B5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85623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Unauthorized admin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0664" y="2221992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What evidence proves who changed what?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8911" y="169164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58911" y="1691640"/>
            <a:ext cx="64008" cy="1371600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0080" y="185623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Storage alert storm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0080" y="2221992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Which signal is primary?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4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291840"/>
            <a:ext cx="64008" cy="1371600"/>
          </a:xfrm>
          <a:prstGeom prst="rect">
            <a:avLst/>
          </a:prstGeom>
          <a:solidFill>
            <a:srgbClr val="6C5896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45643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Lost audit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822191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What security/governance risk appears?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9496" y="329184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9496" y="3291840"/>
            <a:ext cx="64008" cy="1371600"/>
          </a:xfrm>
          <a:prstGeom prst="rect">
            <a:avLst/>
          </a:prstGeom>
          <a:solidFill>
            <a:srgbClr val="3874B0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50664" y="345643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Encrypted data transfer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0664" y="3822191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Where do you verify the secure channel?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1" y="3291840"/>
            <a:ext cx="3508248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58911" y="3291840"/>
            <a:ext cx="64008" cy="1371600"/>
          </a:xfrm>
          <a:prstGeom prst="rect">
            <a:avLst/>
          </a:prstGeom>
          <a:solidFill>
            <a:srgbClr val="378960"/>
          </a:solidFill>
          <a:ln>
            <a:solidFill>
              <a:srgbClr val="378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60080" y="3456432"/>
            <a:ext cx="3160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D48"/>
                </a:solidFill>
                <a:latin typeface="Aptos"/>
              </a:rPr>
              <a:t>PCI-scoped environment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0080" y="3822191"/>
            <a:ext cx="31607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Which logs/access controls need special attention?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Five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502920" cy="50292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847088"/>
            <a:ext cx="3566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00784"/>
            <a:ext cx="9509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D48"/>
                </a:solidFill>
                <a:latin typeface="Aptos"/>
              </a:rPr>
              <a:t>Monitor the service, not just the device.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87168"/>
            <a:ext cx="502920" cy="50292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596896"/>
            <a:ext cx="3566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50592"/>
            <a:ext cx="9509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D48"/>
                </a:solidFill>
                <a:latin typeface="Aptos"/>
              </a:rPr>
              <a:t>Correlate metrics, alerts and logs before acting.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36976"/>
            <a:ext cx="502920" cy="50292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3346704"/>
            <a:ext cx="3566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200400"/>
            <a:ext cx="9509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D48"/>
                </a:solidFill>
                <a:latin typeface="Aptos"/>
              </a:rPr>
              <a:t>Plan capacity using trends and lead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986783"/>
            <a:ext cx="502920" cy="50292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4096511"/>
            <a:ext cx="3566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950208"/>
            <a:ext cx="9509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D48"/>
                </a:solidFill>
                <a:latin typeface="Aptos"/>
              </a:rPr>
              <a:t>Enforce least privilege and protect data in storage and transit.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736592"/>
            <a:ext cx="502920" cy="50292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4846320"/>
            <a:ext cx="3566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62D48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700016"/>
            <a:ext cx="9509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D48"/>
                </a:solidFill>
                <a:latin typeface="Aptos"/>
              </a:rPr>
              <a:t>Treat compliance as requirement → control → evidence.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Bridge to Day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From visibility and control to enterprise operations, automation and optimization.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201168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304288"/>
            <a:ext cx="18653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D48"/>
                </a:solidFill>
                <a:latin typeface="Aptos"/>
              </a:rPr>
              <a:t>Day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94560"/>
            <a:ext cx="201168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38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10712" y="2304288"/>
            <a:ext cx="18653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D48"/>
                </a:solidFill>
                <a:latin typeface="Aptos"/>
              </a:rPr>
              <a:t>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194560"/>
            <a:ext cx="201168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25312" y="2304288"/>
            <a:ext cx="18653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D48"/>
                </a:solidFill>
                <a:latin typeface="Aptos"/>
              </a:rPr>
              <a:t>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194560"/>
            <a:ext cx="201168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2304288"/>
            <a:ext cx="18653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D48"/>
                </a:solidFill>
                <a:latin typeface="Aptos"/>
              </a:rPr>
              <a:t>Governance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34640" y="2633472"/>
            <a:ext cx="50292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49240" y="2633472"/>
            <a:ext cx="50292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63840" y="2633472"/>
            <a:ext cx="502920" cy="0"/>
          </a:xfrm>
          <a:prstGeom prst="line">
            <a:avLst/>
          </a:prstGeom>
          <a:ln w="28575">
            <a:solidFill>
              <a:srgbClr val="299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45920" y="4251960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62D48"/>
                </a:solidFill>
                <a:latin typeface="Aptos"/>
              </a:rPr>
              <a:t>Next: apply these controls across a broader storage operating model.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D48"/>
                </a:solidFill>
                <a:latin typeface="Aptos"/>
              </a:rPr>
              <a:t>Final Review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78A"/>
                </a:solidFill>
                <a:latin typeface="Aptos"/>
              </a:rPr>
              <a:t>Before leaving the session, learners should be able to explain and demonstrate: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99032"/>
            <a:ext cx="914400" cy="54864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41148"/>
          </a:xfrm>
          <a:prstGeom prst="rect">
            <a:avLst/>
          </a:prstGeom>
          <a:solidFill>
            <a:srgbClr val="299194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56832"/>
            <a:ext cx="9875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2778A"/>
                </a:solidFill>
                <a:latin typeface="Aptos"/>
              </a:rPr>
              <a:t>storageprabhu99@gmail.com • Day 8 • Storage Monitoring • Security •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6476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2778A"/>
                </a:solidFill>
                <a:latin typeface="Apto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OEM vs centralized monitoring roles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Alert triage using SNMP and Syslog evidence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Capacity forecast and planning date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DCIM physical/context visibility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RBAC and ACL differences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Encryption at rest vs in transit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RBI / ISO 27001 / PCI-DSS / GDPR storage themes</a:t>
            </a:r>
          </a:p>
          <a:p>
            <a:pPr>
              <a:spcAft>
                <a:spcPts val="700"/>
              </a:spcAft>
              <a:defRPr sz="1300">
                <a:solidFill>
                  <a:srgbClr val="232C36"/>
                </a:solidFill>
                <a:latin typeface="Aptos"/>
              </a:defRPr>
            </a:pPr>
            <a:r>
              <a:t>• Requirement → control → evidence mapping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D48"/>
          </a:solidFill>
          <a:ln>
            <a:solidFill>
              <a:srgbClr val="16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DAY 8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7772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Monitor. Secure. Govern.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260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6DCEC"/>
                </a:solidFill>
                <a:latin typeface="Aptos"/>
              </a:rPr>
              <a:t>RPS Consulting | Storage Key Skill Training | ICICI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572000"/>
            <a:ext cx="2560320" cy="777240"/>
          </a:xfrm>
          <a:prstGeom prst="roundRect">
            <a:avLst/>
          </a:prstGeom>
          <a:solidFill>
            <a:srgbClr val="162D48"/>
          </a:solidFill>
          <a:ln>
            <a:solidFill>
              <a:srgbClr val="299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4681728"/>
            <a:ext cx="2414015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62D48"/>
                </a:solidFill>
                <a:latin typeface="Aptos"/>
              </a:rPr>
              <a:t>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572000"/>
            <a:ext cx="2560320" cy="777240"/>
          </a:xfrm>
          <a:prstGeom prst="roundRect">
            <a:avLst/>
          </a:prstGeom>
          <a:solidFill>
            <a:srgbClr val="162D48"/>
          </a:solidFill>
          <a:ln>
            <a:solidFill>
              <a:srgbClr val="6C5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30752" y="4681728"/>
            <a:ext cx="2414015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62D48"/>
                </a:solidFill>
                <a:latin typeface="Aptos"/>
              </a:rPr>
              <a:t>SECURE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4572000"/>
            <a:ext cx="2560320" cy="777240"/>
          </a:xfrm>
          <a:prstGeom prst="roundRect">
            <a:avLst/>
          </a:prstGeom>
          <a:solidFill>
            <a:srgbClr val="162D48"/>
          </a:solidFill>
          <a:ln>
            <a:solidFill>
              <a:srgbClr val="CD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1112" y="4681728"/>
            <a:ext cx="2414015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62D48"/>
                </a:solidFill>
                <a:latin typeface="Aptos"/>
              </a:rPr>
              <a:t>GOVERN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ED7E8"/>
                </a:solidFill>
                <a:latin typeface="Aptos"/>
              </a:rPr>
              <a:t>Build controls that are visible, reviewable and recoverable.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4598</Words>
  <Application>Microsoft Office PowerPoint</Application>
  <PresentationFormat>Widescreen</PresentationFormat>
  <Paragraphs>801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Prabhugaonkar</cp:lastModifiedBy>
  <cp:revision>46</cp:revision>
  <dcterms:created xsi:type="dcterms:W3CDTF">2013-01-27T09:14:16Z</dcterms:created>
  <dcterms:modified xsi:type="dcterms:W3CDTF">2026-10-03T07:07:32Z</dcterms:modified>
  <cp:category/>
</cp:coreProperties>
</file>