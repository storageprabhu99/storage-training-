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8288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AAD2E2"/>
                </a:solidFill>
                <a:latin typeface="Aptos"/>
              </a:rPr>
              <a:t>StoragePrabhu99|</a:t>
            </a:r>
            <a:r>
              <a:rPr sz="1600" b="1" dirty="0">
                <a:solidFill>
                  <a:srgbClr val="AAD2E2"/>
                </a:solidFill>
                <a:latin typeface="Aptos"/>
              </a:rPr>
              <a:t>DAY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8503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Troubleshooting &amp;
Real-World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99232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EE1EF"/>
                </a:solidFill>
                <a:latin typeface="Aptos"/>
              </a:rPr>
              <a:t>Disk failures • Controller errors • Logs • Alerts • SNMP traps • Multipath • RCA • Banking case studies • Scenario drill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617720"/>
            <a:ext cx="5257800" cy="914400"/>
          </a:xfrm>
          <a:prstGeom prst="roundRect">
            <a:avLst/>
          </a:prstGeom>
          <a:solidFill>
            <a:srgbClr val="1F3E66"/>
          </a:solidFill>
          <a:ln w="12700">
            <a:solidFill>
              <a:srgbClr val="48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32688" y="4828032"/>
            <a:ext cx="4663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Aptos"/>
              </a:rPr>
              <a:t>StoragPrabh99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| Storage </a:t>
            </a:r>
            <a:r>
              <a:rPr sz="1400" b="1" dirty="0" err="1">
                <a:solidFill>
                  <a:srgbClr val="FFFFFF"/>
                </a:solidFill>
                <a:latin typeface="Aptos"/>
              </a:rPr>
              <a:t>Keyskill</a:t>
            </a:r>
            <a:r>
              <a:rPr sz="1400" b="1" dirty="0">
                <a:solidFill>
                  <a:srgbClr val="FFFFFF"/>
                </a:solidFill>
                <a:latin typeface="Aptos"/>
              </a:rPr>
              <a:t>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1996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DC6D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Turn storage knowledge into evidence-based operational judgment.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7830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755648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Disk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58568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Investigate affected drive, enclosure, redundancy and rebuild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7830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Controller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58568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Correlate controller state, failover, path and workload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1600200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75904" y="17830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755648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Logs &amp;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2258568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Build timelines and distinguish signals from root cause.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685031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2959" y="3867911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38587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♻️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3840479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Multipath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343399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Separate host, fabric, path and storage failure domains.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685031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99431" y="3867911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38587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40479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343399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Write symptom, impact, cause, correction and prevention.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11312" y="3685031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75904" y="3867911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75904" y="38587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3840479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Banking scenarios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343399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Apply the method to business-critical training cases.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848DF2-DCC8-B375-5738-78050DDFC7AD}"/>
              </a:ext>
            </a:extLst>
          </p:cNvPr>
          <p:cNvSpPr txBox="1"/>
          <p:nvPr/>
        </p:nvSpPr>
        <p:spPr>
          <a:xfrm>
            <a:off x="3048000" y="3316042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</a:t>
            </a:r>
            <a:r>
              <a:rPr lang="en-US" sz="900" b="0" dirty="0">
                <a:solidFill>
                  <a:srgbClr val="5D7085"/>
                </a:solidFill>
                <a:latin typeface="Aptos"/>
              </a:rPr>
              <a:t> • Day 9 • Troubleshooting &amp; Real-World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Day 9 in the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Use Days 1–8 knowledge as evidence, not isolated theory.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7784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Storage basics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81912" y="2880360"/>
            <a:ext cx="173736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64792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9656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SAN / provisioning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43784" y="2880360"/>
            <a:ext cx="173736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26663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81527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Performance / virtualization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05655" y="2880360"/>
            <a:ext cx="173737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88536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399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Backup / 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67527" y="2880360"/>
            <a:ext cx="173737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50407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5271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Dell EMC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29399" y="2880360"/>
            <a:ext cx="173737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79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67143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NetApp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91271" y="2880360"/>
            <a:ext cx="173737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74152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29016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HPE / IBM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53144" y="2880360"/>
            <a:ext cx="173736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36024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90888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273442"/>
                </a:solidFill>
                <a:latin typeface="Aptos"/>
              </a:rPr>
              <a:t>Monitoring / security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415016" y="2880360"/>
            <a:ext cx="173736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597896" y="2423160"/>
            <a:ext cx="107899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52760" y="2587752"/>
            <a:ext cx="96926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DAY 9: Integrate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1605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The objective is not to know every error code. It is to reduce the fault domain with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8-Hour Delivery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36192"/>
            <a:ext cx="1958644" cy="37719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591056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7012" y="1536192"/>
            <a:ext cx="3699662" cy="37719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62732" y="1591056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Topic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6675" y="1536192"/>
            <a:ext cx="5223052" cy="37719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2395" y="1591056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Primary learning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13381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1959101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09:30–10:00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7012" y="1913381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62732" y="1959101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Recap + troubleshooting 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6675" y="1913381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2395" y="1959101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Framework + discussion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290572"/>
            <a:ext cx="1958644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336291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10:00–11:15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7012" y="2290572"/>
            <a:ext cx="369966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62732" y="2336291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Disk failures + controller errors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16675" y="2290572"/>
            <a:ext cx="522305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2395" y="2336291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Case walkthrough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667762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271348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11:15–11:30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7012" y="2667762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62732" y="271348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Break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16675" y="2667762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62395" y="271348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044952"/>
            <a:ext cx="1958644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309067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11:30–12:45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7012" y="3044952"/>
            <a:ext cx="369966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62732" y="309067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Logs + alerts + SNMP traps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6675" y="3044952"/>
            <a:ext cx="522305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62395" y="309067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Timeline 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422141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3467861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12:45–13:30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17012" y="3422141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62732" y="3467861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Multipath failover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6675" y="3422141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62395" y="3467861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Path isolation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799332"/>
            <a:ext cx="1958644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04088" y="384505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13:30–14:30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17012" y="3799332"/>
            <a:ext cx="369966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62732" y="384505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Lunch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16675" y="3799332"/>
            <a:ext cx="522305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62395" y="384505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176522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4088" y="422224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14:30–15:30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17012" y="4176522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62732" y="422224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RCA writing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16675" y="4176522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62395" y="422224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Template + example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553712"/>
            <a:ext cx="1958644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088" y="459943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15:30–15:45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17012" y="4553712"/>
            <a:ext cx="369966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662732" y="459943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Break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16675" y="4553712"/>
            <a:ext cx="522305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62395" y="459943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4930902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" y="497662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15:45–16:45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17012" y="4930902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62732" y="497662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Banking case studies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16675" y="4930902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62395" y="497662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Team analysis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5308092"/>
            <a:ext cx="1958644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04088" y="535381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16:45–17:45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17012" y="5308092"/>
            <a:ext cx="369966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62732" y="535381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Team scenario drill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16675" y="5308092"/>
            <a:ext cx="522305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362395" y="535381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Time-boxed incident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" y="5685282"/>
            <a:ext cx="1958644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4088" y="5731002"/>
            <a:ext cx="1867204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17:45–18:00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17012" y="5685282"/>
            <a:ext cx="369966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662732" y="5731002"/>
            <a:ext cx="360822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Debrief + Day 10 bridge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16675" y="5685282"/>
            <a:ext cx="522305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362395" y="5731002"/>
            <a:ext cx="513161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Reflection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Master Troubleshooting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Never jump from symptom to fix.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03120"/>
            <a:ext cx="658368" cy="658368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Define symptom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88720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38528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2496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Collect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4328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374136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74136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4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Scope fault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59936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809744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9744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Form hypothesis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95544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245352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31152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80960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8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Fix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66760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16568" y="2103120"/>
            <a:ext cx="658368" cy="6583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16568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0536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02368" y="2432304"/>
            <a:ext cx="667512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0552176" y="2103120"/>
            <a:ext cx="658368" cy="658368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52176" y="225856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96144" y="2907792"/>
            <a:ext cx="11704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Goal: reduce the fault domain before taking a corrective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Incident First Look: What Is the Symptom?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2011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783080"/>
            <a:ext cx="347472" cy="347472"/>
          </a:xfrm>
          <a:prstGeom prst="ellipse">
            <a:avLst/>
          </a:prstGeom>
          <a:solidFill>
            <a:srgbClr val="4074B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755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User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31089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73442"/>
                </a:solidFill>
                <a:latin typeface="Aptos"/>
              </a:rPr>
              <a:t>“Application response time increased.”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00200"/>
            <a:ext cx="3474720" cy="2011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17136" y="1783080"/>
            <a:ext cx="347472" cy="347472"/>
          </a:xfrm>
          <a:prstGeom prst="ellipse">
            <a:avLst/>
          </a:prstGeom>
          <a:solidFill>
            <a:srgbClr val="D2932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17136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1755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Monitoring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258568"/>
            <a:ext cx="31089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73442"/>
                </a:solidFill>
                <a:latin typeface="Aptos"/>
              </a:rPr>
              <a:t>“Storage warning generated.”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74720" cy="20116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11312" y="178308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755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Operator temptation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58568"/>
            <a:ext cx="310896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73442"/>
                </a:solidFill>
                <a:latin typeface="Aptos"/>
              </a:rPr>
              <a:t>“Replace a disk now.”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60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69D"/>
                </a:solidFill>
                <a:latin typeface="Aptos"/>
              </a:rPr>
              <a:t>Correct first move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8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2A4A"/>
                </a:solidFill>
                <a:latin typeface="Aptos"/>
              </a:rPr>
              <a:t>Define scope + collect evidence + establish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Evidence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Correlate evidence across layers before deciding the cause.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2084831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810512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8013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83080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86000"/>
            <a:ext cx="17190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drive state • controller state • pool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627632"/>
            <a:ext cx="2084831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08960" y="1810512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18013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7" y="1783080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Fabric /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2286000"/>
            <a:ext cx="17190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link state • errors • path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1627632"/>
            <a:ext cx="2084831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413248" y="1810512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13248" y="18013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3016" y="1783080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1536" y="2286000"/>
            <a:ext cx="17190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MPIO • rescan • OS events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1627632"/>
            <a:ext cx="2084831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17536" y="1810512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17536" y="18013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1783080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Virtualization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3" y="2286000"/>
            <a:ext cx="17190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datastore • VM path • hypervisor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7232" y="1627632"/>
            <a:ext cx="2084831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21824" y="1810512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21824" y="1801368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1592" y="1783080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1" y="2286000"/>
            <a:ext cx="1719072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latency • timeout • service impact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7091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One layer alone rarely proves root cause.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3957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8DEEE"/>
                </a:solidFill>
                <a:latin typeface="Aptos"/>
              </a:rPr>
              <a:t>Disk failures, controller errors, logs, alerts, SNMP traps and multipath.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3154680"/>
            <a:ext cx="201168" cy="2011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24128" y="3255264"/>
            <a:ext cx="2724911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Disk Failure — What to Check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Identify affected disk/drive, enclosure and storage system.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Check whether redundancy is intact and whether rebuild/degraded state is present.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Review correlated alerts/logs for additional failures.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Assess workload impact plus capacity/protection exposure.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Follow the approved replacement/rebuild procedure for the actual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691640"/>
            <a:ext cx="4206240" cy="36118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9385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2A4A"/>
                </a:solidFill>
                <a:latin typeface="Aptos"/>
              </a:rPr>
              <a:t>Drive 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359152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969D"/>
                </a:solidFill>
                <a:latin typeface="Aptos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2672" y="23957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3442"/>
                </a:solidFill>
                <a:latin typeface="Aptos"/>
              </a:rPr>
              <a:t>Degraded protection?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779776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969D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2" y="28163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3442"/>
                </a:solidFill>
                <a:latin typeface="Aptos"/>
              </a:rPr>
              <a:t>Rebuild / fault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0040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969D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3236976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73442"/>
                </a:solidFill>
                <a:latin typeface="Aptos"/>
              </a:rPr>
              <a:t>Workload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621024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969D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365760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Approved recovery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Disk Failure — Evidence Collection Checklist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1572768"/>
            <a:ext cx="1942185" cy="5791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627632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Checkpoint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7129" y="1572768"/>
            <a:ext cx="3452774" cy="5791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82849" y="1627632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9904" y="1572768"/>
            <a:ext cx="5394960" cy="5791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35624" y="1627632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2151888"/>
            <a:ext cx="1942185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2197608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Object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7129" y="2151888"/>
            <a:ext cx="3452774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82849" y="2197608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Drive ID / enclosure /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2151888"/>
            <a:ext cx="53949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35624" y="2197608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Confirms exact component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2731007"/>
            <a:ext cx="1942185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2776727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Protection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37129" y="2731007"/>
            <a:ext cx="3452774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82849" y="2776727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RAID / pool / redundancy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9904" y="2731007"/>
            <a:ext cx="5394960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35624" y="2776727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Shows exposure during rebuild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3310128"/>
            <a:ext cx="1942185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0664" y="3355848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7129" y="3310128"/>
            <a:ext cx="3452774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82849" y="3355848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First disk alert timestamp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9904" y="3310128"/>
            <a:ext cx="53949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35624" y="3355848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Separates cause from consequences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" y="3889247"/>
            <a:ext cx="1942185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0664" y="3934967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Performance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37129" y="3889247"/>
            <a:ext cx="3452774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82849" y="3934967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Latency / IOPS / queueing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9904" y="3889247"/>
            <a:ext cx="5394960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35624" y="3934967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Shows workload 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" y="4468368"/>
            <a:ext cx="1942185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514088"/>
            <a:ext cx="1850745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Recovery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7129" y="4468368"/>
            <a:ext cx="3452774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82849" y="4514088"/>
            <a:ext cx="3361334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Rebuild / replacement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9904" y="4468368"/>
            <a:ext cx="53949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35624" y="4514088"/>
            <a:ext cx="53035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Confirms restored protection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39496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Evidence before 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5330952"/>
            <a:ext cx="4846320" cy="566928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Controller Errors — Start with the Timestamp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29000" cy="19659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7830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75564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1 • Controller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58568"/>
            <a:ext cx="306324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Capture exact time, object and severity.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19659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35424" y="1783080"/>
            <a:ext cx="347472" cy="347472"/>
          </a:xfrm>
          <a:prstGeom prst="ellipse">
            <a:avLst/>
          </a:prstGeom>
          <a:solidFill>
            <a:srgbClr val="4074B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75564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2 • Peer / failover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58568"/>
            <a:ext cx="306324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Check controller health and failover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00200"/>
            <a:ext cx="3429000" cy="196596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47888" y="178308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7888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7656" y="175564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3 • Correlated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258568"/>
            <a:ext cx="306324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Inspect paths, host multipath and application symptoms.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31596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Platform-specific recovery steps come only after the actual environment is identified.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Controller Error — Fault Domain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148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7085"/>
                </a:solidFill>
                <a:latin typeface="Aptos"/>
              </a:rPr>
              <a:t>MPIO / 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743200"/>
            <a:ext cx="59436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965960"/>
            <a:ext cx="2148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2402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Fabric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7004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7085"/>
                </a:solidFill>
                <a:latin typeface="Aptos"/>
              </a:rPr>
              <a:t>links / zoning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743200"/>
            <a:ext cx="59436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79" y="1965960"/>
            <a:ext cx="2148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7004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7085"/>
                </a:solidFill>
                <a:latin typeface="Aptos"/>
              </a:rPr>
              <a:t>controller / cache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19" y="2743200"/>
            <a:ext cx="594361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3999" y="1965960"/>
            <a:ext cx="2148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59" y="2240280"/>
            <a:ext cx="1874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A4A"/>
                </a:solidFill>
                <a:latin typeface="Aptos"/>
              </a:rPr>
              <a:t>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70048"/>
            <a:ext cx="18745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D7085"/>
                </a:solidFill>
                <a:latin typeface="Aptos"/>
              </a:rPr>
              <a:t>latency / timeouts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434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Ask: where did the first verified abnormal state appear?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Logs — Build the Incident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D7085"/>
                </a:solidFill>
                <a:latin typeface="Aptos"/>
              </a:rPr>
              <a:t>RPS | ICICI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9456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10:02:11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" y="274320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Host latency rises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2331720"/>
            <a:ext cx="1828800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17520" y="219456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6642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10:02:18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74320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Storage warning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2331720"/>
            <a:ext cx="1828800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257800" y="219456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16642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10:02:21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Controller event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32120" y="2331720"/>
            <a:ext cx="1828800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498080" y="219456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16642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10:02:23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74320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Path change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0" y="2331720"/>
            <a:ext cx="1828800" cy="0"/>
          </a:xfrm>
          <a:prstGeom prst="line">
            <a:avLst/>
          </a:prstGeom>
          <a:ln w="254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738360" y="219456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0" y="166420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10:03:04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743200"/>
            <a:ext cx="1645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Application 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36592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The first abnormal event is not always the most visible alert.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Alerts — Signal, Not Automatically Root Cause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645920"/>
            <a:ext cx="2611526" cy="6400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700784"/>
            <a:ext cx="252008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Signal 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8182" y="1645920"/>
            <a:ext cx="4134916" cy="6400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3902" y="1700784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What it tells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23099" y="1645920"/>
            <a:ext cx="4134916" cy="6400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68819" y="1700784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What it does not prove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286000"/>
            <a:ext cx="261152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331720"/>
            <a:ext cx="252008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Hardware alert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88182" y="2286000"/>
            <a:ext cx="41349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3902" y="2331720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Object changed 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23099" y="2286000"/>
            <a:ext cx="41349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68819" y="2331720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That object is root cause of service impact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" y="2926080"/>
            <a:ext cx="261152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2971800"/>
            <a:ext cx="252008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Capacity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88182" y="2926080"/>
            <a:ext cx="413491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3902" y="2971800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Threshold was crossed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23099" y="2926080"/>
            <a:ext cx="413491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8819" y="2971800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That capacity caused the incident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3566159"/>
            <a:ext cx="261152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" y="3611879"/>
            <a:ext cx="252008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Path alert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88182" y="3566159"/>
            <a:ext cx="41349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3902" y="3611879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Connectivity changed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23099" y="3566159"/>
            <a:ext cx="413491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8819" y="3611879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That storage is unhealthy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" y="4206240"/>
            <a:ext cx="261152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2376" y="4251959"/>
            <a:ext cx="252008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Performance alert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8182" y="4206240"/>
            <a:ext cx="413491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3902" y="4251959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Metric moved beyond 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23099" y="4206240"/>
            <a:ext cx="413491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68819" y="4251959"/>
            <a:ext cx="40434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Why the metric moved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69D"/>
                </a:solidFill>
                <a:latin typeface="Aptos"/>
              </a:rPr>
              <a:t>Treat alerts as evidence to correlate with state, timeline and impact.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SNMP Traps — Asynchronous Notifications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057400" cy="1417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A4A"/>
                </a:solidFill>
                <a:latin typeface="Aptos"/>
              </a:rPr>
              <a:t>Storage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7085"/>
                </a:solidFill>
                <a:latin typeface="Aptos"/>
              </a:rPr>
              <a:t>SNMP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2679192"/>
            <a:ext cx="155448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80560" y="1965960"/>
            <a:ext cx="2057400" cy="1417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21284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A4A"/>
                </a:solidFill>
                <a:latin typeface="Aptos"/>
              </a:rPr>
              <a:t>Monitoring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7085"/>
                </a:solidFill>
                <a:latin typeface="Aptos"/>
              </a:rPr>
              <a:t>Trap receiver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537960" y="2679192"/>
            <a:ext cx="155448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60" y="1965960"/>
            <a:ext cx="2057400" cy="1417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212848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A4A"/>
                </a:solidFill>
                <a:latin typeface="Aptos"/>
              </a:rPr>
              <a:t>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D7085"/>
                </a:solidFill>
                <a:latin typeface="Aptos"/>
              </a:rPr>
              <a:t>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Trap = notification. The investigation still needs timestamps, affected object, current state and correlated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SNMP Trap Analysis Worksheet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3961180" cy="627017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38420" y="1600200"/>
            <a:ext cx="6462979" cy="627017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4140" y="1655064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Capture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27217"/>
            <a:ext cx="3961180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72937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Source device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8420" y="2227217"/>
            <a:ext cx="6462979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84140" y="2272937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54234"/>
            <a:ext cx="3961180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99954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Trap / event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38420" y="2854234"/>
            <a:ext cx="6462979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84140" y="2899954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81251"/>
            <a:ext cx="3961180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526971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Timestamp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38420" y="3481251"/>
            <a:ext cx="6462979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84140" y="3526971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08268"/>
            <a:ext cx="3961180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153988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Affected object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8420" y="4108268"/>
            <a:ext cx="6462979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84140" y="4153988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735285"/>
            <a:ext cx="3961180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781005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Related storage alert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38420" y="4735285"/>
            <a:ext cx="6462979" cy="627017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84140" y="4781005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362302"/>
            <a:ext cx="3961180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408022"/>
            <a:ext cx="3869740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Host / application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8420" y="5362302"/>
            <a:ext cx="6462979" cy="627017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84140" y="5408022"/>
            <a:ext cx="6371539" cy="5355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________________________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Logs + Alerts + Traps — Correlation 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2900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96112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4708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0008"/>
            <a:ext cx="3063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Detailed chronology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691640"/>
            <a:ext cx="342900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645151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1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4708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50008"/>
            <a:ext cx="3063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Action-oriented signal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691640"/>
            <a:ext cx="342900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94192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84708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SNMP traps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350008"/>
            <a:ext cx="306324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Asynchronous 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1480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969D"/>
                </a:solidFill>
                <a:latin typeface="Aptos"/>
              </a:rPr>
              <a:t>Join on common keys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96512"/>
            <a:ext cx="7772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A4A"/>
                </a:solidFill>
                <a:latin typeface="Aptos"/>
              </a:rPr>
              <a:t>timestamp • device • object • severity • impact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Multipath — Intended Redundant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18288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011680"/>
            <a:ext cx="18288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0" y="2450592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STORAGE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2331720"/>
            <a:ext cx="6583680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4920" y="20116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D7085"/>
                </a:solidFill>
                <a:latin typeface="Aptos"/>
              </a:rPr>
              <a:t>Path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3474720"/>
            <a:ext cx="6583680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74920" y="31546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D7085"/>
                </a:solidFill>
                <a:latin typeface="Aptos"/>
              </a:rPr>
              <a:t>Path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14600" y="4617720"/>
            <a:ext cx="6583680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74920" y="42976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5D7085"/>
                </a:solidFill>
                <a:latin typeface="Aptos"/>
              </a:rPr>
              <a:t>Path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663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Redundancy should survive a single path failure without losing the LUN.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Multipath Failover — What to Verify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5806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Did the alternate path remain healthy?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Did the host multipath stack transition as expected?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Was redundancy reduced but service preserved?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Where did the failed path break: host, fabric/network or storage?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After repair, is the intended path count and health restored?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828800"/>
            <a:ext cx="4343400" cy="32918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21214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Path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578608"/>
            <a:ext cx="1558137" cy="37719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2633472"/>
            <a:ext cx="146669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73337" y="2578608"/>
            <a:ext cx="1687982" cy="37719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9057" y="2633472"/>
            <a:ext cx="159654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955798"/>
            <a:ext cx="1558137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3001518"/>
            <a:ext cx="146669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73337" y="2955798"/>
            <a:ext cx="168798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9057" y="3001518"/>
            <a:ext cx="159654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332987"/>
            <a:ext cx="1558137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3378707"/>
            <a:ext cx="146669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73337" y="3332987"/>
            <a:ext cx="1687982" cy="37719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19057" y="3378707"/>
            <a:ext cx="159654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FAILED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3710177"/>
            <a:ext cx="1558137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3755897"/>
            <a:ext cx="1466697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73337" y="3710177"/>
            <a:ext cx="1687982" cy="37719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19057" y="3755897"/>
            <a:ext cx="1596542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Multipath Failure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A single path fails; the application remains online.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45920"/>
            <a:ext cx="3429000" cy="19202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828800"/>
            <a:ext cx="347472" cy="347472"/>
          </a:xfrm>
          <a:prstGeom prst="ellipse">
            <a:avLst/>
          </a:prstGeom>
          <a:solidFill>
            <a:srgbClr val="307E57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80136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Observed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04288"/>
            <a:ext cx="306324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Application continues. One path shows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645920"/>
            <a:ext cx="3429000" cy="19202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5424" y="18288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80136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Evidence to 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304288"/>
            <a:ext cx="306324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Host MPIO + switch port + storage target 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645920"/>
            <a:ext cx="3429000" cy="19202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47888" y="182880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1801368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304288"/>
            <a:ext cx="306324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Repair failed path; preserve redundancy.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Do not declare “fixed” until path redundancy is restored and validated.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Multipath Scenario — Isolate the Fault Domain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1645920"/>
            <a:ext cx="3401568" cy="21488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536" y="18288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18013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04288"/>
            <a:ext cx="30358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MPIO state • HBA/NIC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1645920"/>
            <a:ext cx="3401568" cy="21488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62855" y="18288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62855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18013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Fabric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304288"/>
            <a:ext cx="30358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link • errors • zoning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45920"/>
            <a:ext cx="3401568" cy="21488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66175" y="182880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18013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2304288"/>
            <a:ext cx="3035808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target port • controller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Evidence-supported statement: “Failure is isolated to ______ because ______.”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Session 1 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3957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8DEEE"/>
                </a:solidFill>
                <a:latin typeface="Aptos"/>
              </a:rPr>
              <a:t>Pause and answer before moving to RCA.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3154680"/>
            <a:ext cx="201168" cy="2011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24128" y="3255264"/>
            <a:ext cx="2724911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Quick Check — Disk + Controller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00200"/>
            <a:ext cx="5767120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55064"/>
            <a:ext cx="5675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25488" y="1600200"/>
            <a:ext cx="5114239" cy="713232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1208" y="1655064"/>
            <a:ext cx="50227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Key idea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13432"/>
            <a:ext cx="576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359152"/>
            <a:ext cx="5675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do you inspect first after a disk alert?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5488" y="2313432"/>
            <a:ext cx="51142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1208" y="2359152"/>
            <a:ext cx="50227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Object identity, redundancy/protection state and timeline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026664"/>
            <a:ext cx="5767120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3072384"/>
            <a:ext cx="5675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Why inspect controller peer/failover state?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5488" y="3026664"/>
            <a:ext cx="5114239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1208" y="3072384"/>
            <a:ext cx="50227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To understand continuity and correlated path effects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39896"/>
            <a:ext cx="5767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785615"/>
            <a:ext cx="5675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Why not replace hardware immediately?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5488" y="3739896"/>
            <a:ext cx="5114239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1208" y="3785615"/>
            <a:ext cx="50227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The alert may be secondary or unrelated to impact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53128"/>
            <a:ext cx="5767120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4498848"/>
            <a:ext cx="56756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validates recovery?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25488" y="4453128"/>
            <a:ext cx="5114239" cy="713232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1208" y="4498848"/>
            <a:ext cx="502279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Service health + restored redundancy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Quick Check — Multipath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20574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0392" y="17830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55648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97180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What happens when one path fails?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00200"/>
            <a:ext cx="3337560" cy="20574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1783080"/>
            <a:ext cx="347472" cy="347472"/>
          </a:xfrm>
          <a:prstGeom prst="ellipse">
            <a:avLst/>
          </a:prstGeom>
          <a:solidFill>
            <a:srgbClr val="4074B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755648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Answer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58568"/>
            <a:ext cx="297180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Alternate path should carry I/O if design and configuration allow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337560" cy="20574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2752" y="1783080"/>
            <a:ext cx="347472" cy="347472"/>
          </a:xfrm>
          <a:prstGeom prst="ellipse">
            <a:avLst/>
          </a:prstGeom>
          <a:solidFill>
            <a:srgbClr val="307E57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7739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1755648"/>
            <a:ext cx="2606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58568"/>
            <a:ext cx="2971800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Confirm host MPIO state and recovered path health.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Evidence-First Habit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SYMPTOM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007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969D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737360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007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969D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37360"/>
            <a:ext cx="1645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FAULT DOMAIN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7007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969D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7007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969D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737360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70078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969D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737360"/>
            <a:ext cx="1371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7085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Aptos"/>
              </a:rPr>
              <a:t>“I have a warning” is not a root-cause statement.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417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23957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8DEEE"/>
                </a:solidFill>
                <a:latin typeface="Aptos"/>
              </a:rPr>
              <a:t>RCA writing, banking case studies and team-based scenario drill.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3154680"/>
            <a:ext cx="201168" cy="201168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24128" y="3255264"/>
            <a:ext cx="2724911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RCA — What a Good Analysis Separates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755648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728216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Incident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311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happened and when?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99431" y="1755648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28216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311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workload/service was affected?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5727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75904" y="1755648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728216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2311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facts support the finding?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301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3813048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8039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3785615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Root 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2885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condition initiated the incident?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6301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99431" y="3813048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9431" y="38039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85615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Corrective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885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restored service?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2" y="3630168"/>
            <a:ext cx="3493008" cy="17556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375904" y="3813048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75904" y="38039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05672" y="3785615"/>
            <a:ext cx="276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Prevention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288536"/>
            <a:ext cx="3127248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What reduces recurrence?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RCA Structure — From Symptom to Prevention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508760"/>
            <a:ext cx="2937967" cy="565785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563624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96335" y="1508760"/>
            <a:ext cx="7943392" cy="565785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42055" y="1563624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Example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74544"/>
            <a:ext cx="2937967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120264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Symptom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6335" y="2074544"/>
            <a:ext cx="7943392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2055" y="2120264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Application timeouts began at 10:02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40330"/>
            <a:ext cx="2937967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4088" y="2686050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96335" y="2640330"/>
            <a:ext cx="7943392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42055" y="2686050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Database workload lost normal performance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06115"/>
            <a:ext cx="2937967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3251835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6335" y="3206115"/>
            <a:ext cx="7943392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42055" y="3251835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Storage → controller → path events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71900"/>
            <a:ext cx="2937967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3817620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Root cause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6335" y="3771900"/>
            <a:ext cx="7943392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42055" y="3817620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Verified initiating fault based on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337685"/>
            <a:ext cx="2937967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4383405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Correction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96335" y="4337685"/>
            <a:ext cx="7943392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42055" y="4383405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Restored failed component/path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903470"/>
            <a:ext cx="2937967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4949190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96335" y="4903470"/>
            <a:ext cx="7943392" cy="565785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42055" y="4949190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Service recovered + redundancy restored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469254"/>
            <a:ext cx="2937967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" y="5514974"/>
            <a:ext cx="2846527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Prevention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6335" y="5469254"/>
            <a:ext cx="7943392" cy="565785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42055" y="5514974"/>
            <a:ext cx="7851952" cy="4743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Monitoring, design or process improvement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RCA Anti-Patterns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542032" cy="2560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87452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“Disk failed, RCA complete.”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2176272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Too little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691640"/>
            <a:ext cx="2542032" cy="2560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11879" y="187452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“The alert caused the outage.”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0008"/>
            <a:ext cx="2176272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Alert ≠ causation.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691640"/>
            <a:ext cx="2542032" cy="2560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799" y="187452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“We replaced it and it worked.”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50008"/>
            <a:ext cx="2176272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No validation / prevention.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691640"/>
            <a:ext cx="2542032" cy="2560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89719" y="1874520"/>
            <a:ext cx="347472" cy="347472"/>
          </a:xfrm>
          <a:prstGeom prst="ellipse">
            <a:avLst/>
          </a:prstGeom>
          <a:solidFill>
            <a:srgbClr val="D2932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1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“Network issue.”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7" y="2350008"/>
            <a:ext cx="2176272" cy="1755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Fault domain too broad.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Better: state the observed fact, evidence, verified cause, action and validation.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RCA Writing Template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10561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Incident summary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97510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233172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Impact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52374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05840" y="288036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Timeline / evidence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307238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342900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Root cause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97480" y="362102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977639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Corrective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416966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452628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Validation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97480" y="471830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5074920"/>
            <a:ext cx="1600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Prevention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97480" y="5266944"/>
            <a:ext cx="8229600" cy="0"/>
          </a:xfrm>
          <a:prstGeom prst="line">
            <a:avLst/>
          </a:prstGeom>
          <a:ln w="12700">
            <a:solidFill>
              <a:srgbClr val="CEDC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Banking Case Studies — Important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These are simulated training scenarios, not claims about actual bank incidents.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🏦 Banking operations amplify the need for evidence-first storage troubleshooting because payment, ATM, core-banking and online services can be tightly coupled to infrastructure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03320"/>
            <a:ext cx="3401568" cy="1417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0392" y="3886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3877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858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Case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61688"/>
            <a:ext cx="30358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Payment database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703320"/>
            <a:ext cx="3401568" cy="1417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53712" y="3886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3877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858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Case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61688"/>
            <a:ext cx="30358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ATM storage path degradation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703320"/>
            <a:ext cx="3401568" cy="14173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57031" y="3886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1" y="3877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58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Case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361688"/>
            <a:ext cx="3035808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Online banking DR storage event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A — Payment Database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Training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01568" cy="1645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59" y="1755648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1728216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Symptom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31136"/>
            <a:ext cx="303580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Payment transactions slow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572768"/>
            <a:ext cx="3401568" cy="1645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35424" y="1755648"/>
            <a:ext cx="347472" cy="347472"/>
          </a:xfrm>
          <a:prstGeom prst="ellipse">
            <a:avLst/>
          </a:prstGeom>
          <a:solidFill>
            <a:srgbClr val="D2932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728216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Known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231136"/>
            <a:ext cx="303580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Storage latency warning at same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572768"/>
            <a:ext cx="3401568" cy="1645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47888" y="1755648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746504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77656" y="1728216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5" y="2231136"/>
            <a:ext cx="3035808" cy="841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Is storage the cause, consequence or coincident signal?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794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969D"/>
                </a:solidFill>
                <a:latin typeface="Aptos"/>
              </a:rPr>
              <a:t>Student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33087"/>
            <a:ext cx="9966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Build a 5-event timeline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Identify missing evidence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State one test before making a change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A — Evidence Pack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4297680" cy="6096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55064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600200"/>
            <a:ext cx="6446520" cy="6096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56632" y="1655064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209800"/>
            <a:ext cx="42976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255519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Host latency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2209800"/>
            <a:ext cx="644652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632" y="2255519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Confirms application-side symptom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2819399"/>
            <a:ext cx="4297680" cy="6096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865119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Array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2819399"/>
            <a:ext cx="6446520" cy="6096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56632" y="2865119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Shows storage-side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429000"/>
            <a:ext cx="42976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474720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Controller event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10912" y="3429000"/>
            <a:ext cx="644652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56632" y="3474720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Tests controller hypothesis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038599"/>
            <a:ext cx="4297680" cy="6096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084319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SAN path events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10912" y="4038599"/>
            <a:ext cx="6446520" cy="6096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56632" y="4084319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Tests path/fabric hypothesis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648200"/>
            <a:ext cx="429768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4693920"/>
            <a:ext cx="420624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Application timestamps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912" y="4648200"/>
            <a:ext cx="644652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56632" y="4693920"/>
            <a:ext cx="6355080" cy="518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Correlates business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800" y="5401548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142A4A"/>
                </a:solidFill>
                <a:latin typeface="Aptos"/>
              </a:rPr>
              <a:t>Expected output: evidence-supported fault domain + next 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B — ATM Storage Path Degradation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Training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ATMs remain online, but one storage path reports repeated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514600"/>
            <a:ext cx="3401568" cy="18288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59" y="26974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6883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67004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172968"/>
            <a:ext cx="3035808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MPIO shows one degraded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514600"/>
            <a:ext cx="3401568" cy="18288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79" y="269748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26883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67004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172968"/>
            <a:ext cx="3035808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One switch-port error counter rises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514600"/>
            <a:ext cx="3401568" cy="18288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0" y="2697480"/>
            <a:ext cx="347472" cy="347472"/>
          </a:xfrm>
          <a:prstGeom prst="ellipse">
            <a:avLst/>
          </a:prstGeom>
          <a:solidFill>
            <a:srgbClr val="307E57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68833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267004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172968"/>
            <a:ext cx="3035808" cy="1024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Target port remains 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Question: where is the fault domain narrowing?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B — Recovery &amp; Validation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2931566" cy="5791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8806" y="1600200"/>
            <a:ext cx="7538313" cy="5791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54526" y="1655064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Expected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79320"/>
            <a:ext cx="2931566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225040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Containment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8806" y="2179320"/>
            <a:ext cx="7538313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4526" y="2225040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Service still online / redundancy reduced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758440"/>
            <a:ext cx="2931566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04160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Repair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8806" y="2758440"/>
            <a:ext cx="7538313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54526" y="2804160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Failed path component restored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337560"/>
            <a:ext cx="2931566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383279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Recovery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8806" y="3337560"/>
            <a:ext cx="7538313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54526" y="3383279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MPIO path returns to healthy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16680"/>
            <a:ext cx="2931566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962399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8806" y="3916680"/>
            <a:ext cx="7538313" cy="5791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54526" y="3962399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Traffic balanced / expected path count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495799"/>
            <a:ext cx="2931566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541519"/>
            <a:ext cx="2840126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Prevention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8806" y="4495799"/>
            <a:ext cx="7538313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54526" y="4541519"/>
            <a:ext cx="7446873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Trend and alert reviewed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C — Online Banking DR Storage Event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Training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338328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828800"/>
            <a:ext cx="347472" cy="347472"/>
          </a:xfrm>
          <a:prstGeom prst="ellipse">
            <a:avLst/>
          </a:prstGeom>
          <a:solidFill>
            <a:srgbClr val="D29325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0136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04288"/>
            <a:ext cx="301752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Replication lag rises during a storage event.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53712" y="182880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80136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Business concern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304288"/>
            <a:ext cx="301752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Recovery point may widen.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383280" cy="1874519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57031" y="18288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1" y="18196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801368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Investigation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304288"/>
            <a:ext cx="3017520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Check storage, link, target and workload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434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Connect Day 4: recovery planning starts with RPO/RTO and must be validated end-to-end.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Case C — Investigation Checklist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Replication state and lag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Source and target health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Connectivity / link health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Recent workload change rate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Snapshot / protection state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Business recovery requirement (RPO/RTO)</a:t>
            </a:r>
          </a:p>
          <a:p>
            <a:pPr>
              <a:spcAft>
                <a:spcPts val="700"/>
              </a:spcAft>
              <a:defRPr sz="1600">
                <a:solidFill>
                  <a:srgbClr val="273442"/>
                </a:solidFill>
                <a:latin typeface="Aptos"/>
              </a:defRPr>
            </a:pPr>
            <a:r>
              <a:t>Validation evidence after stabilization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737360"/>
            <a:ext cx="4389120" cy="3383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20574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42A4A"/>
                </a:solidFill>
                <a:latin typeface="Aptos"/>
              </a:rPr>
              <a:t>RCA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69748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69D"/>
                </a:solidFill>
                <a:latin typeface="Aptos"/>
              </a:rPr>
              <a:t>What changed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31012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4969D"/>
                </a:solidFill>
                <a:latin typeface="Aptos"/>
              </a:rPr>
              <a:t>What proves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93192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4969D"/>
                </a:solidFill>
                <a:latin typeface="Aptos"/>
              </a:rPr>
              <a:t>What prevents recurrence?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Cross-Case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2686050" cy="7315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19072"/>
            <a:ext cx="259461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9282" y="1664208"/>
            <a:ext cx="3223260" cy="7315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45002" y="1719072"/>
            <a:ext cx="31318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Primary 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2542" y="1664208"/>
            <a:ext cx="4834890" cy="73152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8262" y="1719072"/>
            <a:ext cx="474345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Key 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395728"/>
            <a:ext cx="268605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441448"/>
            <a:ext cx="259461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Payment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9282" y="2395728"/>
            <a:ext cx="32232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5002" y="2441448"/>
            <a:ext cx="31318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Performance / availability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2542" y="2395728"/>
            <a:ext cx="483489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8262" y="2441448"/>
            <a:ext cx="474345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Host + array + timeline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3127248"/>
            <a:ext cx="2686050" cy="7315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3172968"/>
            <a:ext cx="259461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ATM path degradation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9282" y="3127248"/>
            <a:ext cx="3223260" cy="7315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45002" y="3172968"/>
            <a:ext cx="31318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Redundancy consumption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2542" y="3127248"/>
            <a:ext cx="4834890" cy="73152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8262" y="3172968"/>
            <a:ext cx="474345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MPIO + fabric + target 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3858768"/>
            <a:ext cx="268605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904488"/>
            <a:ext cx="259461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Online banking DR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9282" y="3858768"/>
            <a:ext cx="32232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45002" y="3904488"/>
            <a:ext cx="31318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Recovery point exposure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2542" y="3858768"/>
            <a:ext cx="483489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8262" y="3904488"/>
            <a:ext cx="474345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Replication + link + RPO/RTO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46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2A4A"/>
                </a:solidFill>
                <a:latin typeface="Aptos"/>
              </a:rPr>
              <a:t>Same method, different business context.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Team-Based Scenario Drill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25 min investigation + 7 min presentation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084831" cy="21031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7512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470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Incident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0008"/>
            <a:ext cx="171907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Owns timeline +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691640"/>
            <a:ext cx="2084831" cy="21031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99232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99" y="18470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Storage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50008"/>
            <a:ext cx="171907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Array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691640"/>
            <a:ext cx="2084831" cy="21031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30951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30951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8470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Network /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350008"/>
            <a:ext cx="171907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Path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91640"/>
            <a:ext cx="2084831" cy="21031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62671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62671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8470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Host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59" y="2350008"/>
            <a:ext cx="171907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MPIO / OS 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691640"/>
            <a:ext cx="2084831" cy="21031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94392" y="187452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94392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18470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RCA Recorder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350008"/>
            <a:ext cx="1719072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Documents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Use only evidence in the scenario. State assumptions explicitly.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Scenario Drill — Student Output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Symptom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916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916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20574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Fault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Root-cause hypothesis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5204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Corrective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59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3520440"/>
            <a:ext cx="2468880" cy="11430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38862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A4A"/>
                </a:solidFill>
                <a:latin typeface="Aptos"/>
              </a:rPr>
              <a:t>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48640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969D"/>
                </a:solidFill>
                <a:latin typeface="Aptos"/>
              </a:rPr>
              <a:t>7-minute team presentation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Scenario Drill — Evidence Pack Example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00200"/>
            <a:ext cx="2556662" cy="55626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55064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6470" y="1600200"/>
            <a:ext cx="2982772" cy="55626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2190" y="1655064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9243" y="1600200"/>
            <a:ext cx="5113324" cy="55626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4963" y="1655064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156460"/>
            <a:ext cx="255666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202180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09:41:02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6470" y="2156460"/>
            <a:ext cx="298277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2190" y="2202180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Host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9243" y="2156460"/>
            <a:ext cx="5113324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4963" y="2202180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Latency 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712720"/>
            <a:ext cx="2556662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2758440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09:41:05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6470" y="2712720"/>
            <a:ext cx="2982772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52190" y="2758440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SNMP trap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89243" y="2712720"/>
            <a:ext cx="5113324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4963" y="2758440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Target path warning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" y="3268979"/>
            <a:ext cx="255666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314699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09:41:06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06470" y="3268979"/>
            <a:ext cx="298277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2190" y="3314699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Switch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9243" y="3268979"/>
            <a:ext cx="5113324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4963" y="3314699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CRC error counter rises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3825240"/>
            <a:ext cx="2556662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3870960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09:41:08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06470" y="3825240"/>
            <a:ext cx="2982772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52190" y="3870960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Storage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9243" y="3825240"/>
            <a:ext cx="5113324" cy="55626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4963" y="3870960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Controller health normal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" y="4381499"/>
            <a:ext cx="255666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8" y="4427219"/>
            <a:ext cx="246522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09:41:12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06470" y="4381499"/>
            <a:ext cx="2982772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52190" y="4427219"/>
            <a:ext cx="2891332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App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89243" y="4381499"/>
            <a:ext cx="5113324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34963" y="4427219"/>
            <a:ext cx="5021884" cy="4648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Transaction timeouts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Question: which signal is earliest, and which one is merely most visible?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Scenario Drill — Decision Discipline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542032" cy="2377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874520"/>
            <a:ext cx="347472" cy="347472"/>
          </a:xfrm>
          <a:prstGeom prst="ellipse">
            <a:avLst/>
          </a:prstGeom>
          <a:solidFill>
            <a:srgbClr val="307E57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2176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Preserve service and collect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691640"/>
            <a:ext cx="2542032" cy="2377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611879" y="1874520"/>
            <a:ext cx="347472" cy="347472"/>
          </a:xfrm>
          <a:prstGeom prst="ellipse">
            <a:avLst/>
          </a:prstGeom>
          <a:solidFill>
            <a:srgbClr val="307E57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50008"/>
            <a:ext cx="2176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Use reversible tests where possible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691640"/>
            <a:ext cx="2542032" cy="2377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799" y="187452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79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Avoid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350008"/>
            <a:ext cx="2176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Changing multiple layers at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691640"/>
            <a:ext cx="2542032" cy="2377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89719" y="1874520"/>
            <a:ext cx="347472" cy="347472"/>
          </a:xfrm>
          <a:prstGeom prst="ellipse">
            <a:avLst/>
          </a:prstGeom>
          <a:solidFill>
            <a:srgbClr val="C04343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1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1847088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7" y="2350008"/>
            <a:ext cx="2176272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Declaring RCA from a single alert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Team Debrief — What Would You Change?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After the incident is closed, 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23160"/>
            <a:ext cx="9509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Was the first alert the root cause?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What evidence was missing?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Which control detected the issue fastest?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Could the topology have reduced the impact?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What monitoring / runbook / training change should follow?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Troubleshooting Across Vendors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The platform changes; the reasoning model stays consistent.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D7085"/>
                </a:solidFill>
                <a:latin typeface="Aptos"/>
              </a:rPr>
              <a:t>RPS | ICICI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44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627632"/>
            <a:ext cx="2708910" cy="6858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" y="1682496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5565" y="1627632"/>
            <a:ext cx="2708910" cy="6858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31285" y="1682496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Dell EMC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4475" y="1627632"/>
            <a:ext cx="2708910" cy="6858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40195" y="1682496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NetApp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3386" y="1627632"/>
            <a:ext cx="2708910" cy="68580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49106" y="1682496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HPE / IBM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23134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23591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Storage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5565" y="23134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31285" y="23591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LUN / pool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4475" y="23134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40195" y="23591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Volume / LUN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03386" y="23134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49106" y="23591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Volume / pool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29992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30449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5565" y="29992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31285" y="30449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Mapping / masking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5" y="29992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0195" y="30449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SVM / LUN /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3386" y="29992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49106" y="30449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Host / volume mapping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36850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37307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Protection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5565" y="36850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31285" y="37307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Snapshot / replication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4475" y="36850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0195" y="37307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Snapshot / SnapMirror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03386" y="3685032"/>
            <a:ext cx="270891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49106" y="37307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Snapshots / replication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" y="43708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" y="44165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Evidence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85565" y="43708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31285" y="44165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GUI / logs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4475" y="43708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40195" y="44165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System Manager / CLI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03386" y="4370832"/>
            <a:ext cx="2708910" cy="68580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49106" y="4416552"/>
            <a:ext cx="261747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442"/>
                </a:solidFill>
                <a:latin typeface="Aptos"/>
              </a:rPr>
              <a:t>GUI / 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5230368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69D"/>
                </a:solidFill>
                <a:latin typeface="Aptos"/>
              </a:rPr>
              <a:t>Troubleshooting checkpoints remain: object → access → path → host → workload.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Operational Runbook — Incident Start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2867558" cy="496388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46504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Minute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81958" y="1691640"/>
            <a:ext cx="7373721" cy="496388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7678" y="1746504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188028"/>
            <a:ext cx="2867558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233748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0–2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1958" y="2188028"/>
            <a:ext cx="7373721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7678" y="2233748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State impact + affected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84417"/>
            <a:ext cx="2867558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30137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2–5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1958" y="2684417"/>
            <a:ext cx="7373721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27678" y="2730137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Freeze assumptions; collect primary alerts/logs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80805"/>
            <a:ext cx="2867558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26525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5–10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1958" y="3180805"/>
            <a:ext cx="7373721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27678" y="3226525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Normalize time + identify first abnormal 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77194"/>
            <a:ext cx="2867558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722914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10–15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81958" y="3677194"/>
            <a:ext cx="7373721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27678" y="3722914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Scope fault domain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173582"/>
            <a:ext cx="2867558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4219302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15–20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81958" y="4173582"/>
            <a:ext cx="7373721" cy="4963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7678" y="4219302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Test hypothesis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4669971"/>
            <a:ext cx="2867558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715691"/>
            <a:ext cx="2776118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20+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81958" y="4669971"/>
            <a:ext cx="7373721" cy="496388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27678" y="4715691"/>
            <a:ext cx="7282281" cy="4049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Correct, validate, document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Operational Runbook — Safe Change Principles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Preserve evidence before altering configuration.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Prefer the smallest reversible action that tests the hypothesis.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Avoid simultaneous changes across storage, fabric and host.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Confirm business impact before disruptive recovery actions.</a:t>
            </a:r>
          </a:p>
          <a:p>
            <a:pPr>
              <a:spcAft>
                <a:spcPts val="700"/>
              </a:spcAft>
              <a:defRPr sz="1700">
                <a:solidFill>
                  <a:srgbClr val="273442"/>
                </a:solidFill>
                <a:latin typeface="Aptos"/>
              </a:defRPr>
            </a:pPr>
            <a:r>
              <a:t>After action: validate service + redundancy + monitoring state.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Troubleshooting — LUN Not Visible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D7085"/>
                </a:solidFill>
                <a:latin typeface="Aptos"/>
              </a:rPr>
              <a:t>RPS | ICICI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Object exists / healthy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21992" y="2907792"/>
            <a:ext cx="228599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68879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Host access / mapping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1" y="2907792"/>
            <a:ext cx="228601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Fabric / network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71032" y="2907792"/>
            <a:ext cx="228599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0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Host discovery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45552" y="2907792"/>
            <a:ext cx="2286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6559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Multipath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20072" y="2907792"/>
            <a:ext cx="2286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66960" y="2286000"/>
            <a:ext cx="1627632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40112" y="2615184"/>
            <a:ext cx="14813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42A4A"/>
                </a:solidFill>
                <a:latin typeface="Aptos"/>
              </a:rPr>
              <a:t>OS /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A4A"/>
                </a:solidFill>
                <a:latin typeface="Aptos"/>
              </a:rPr>
              <a:t>Same evidence-first sequence used in Days 5–8.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Troubleshooting — High Latency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074920" cy="1600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59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847088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50008"/>
            <a:ext cx="470915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latency /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691640"/>
            <a:ext cx="5074920" cy="1600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309359" y="187452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8653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1847088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Fabric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350008"/>
            <a:ext cx="470915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errors / drops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11880"/>
            <a:ext cx="5074920" cy="1600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379476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7856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767328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270248"/>
            <a:ext cx="470915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front-end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611880"/>
            <a:ext cx="5074920" cy="160020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9359" y="379476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37856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3767328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Pool / 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270248"/>
            <a:ext cx="4709159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capacity / contention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8640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04343"/>
                </a:solidFill>
                <a:latin typeface="Aptos"/>
              </a:rPr>
              <a:t>Do not jump directly to RAID changes. Establish evidence and scope first.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Troubleshooting — Alert Storm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Aptos"/>
              </a:rPr>
              <a:t>20 alerts arrive within 60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69748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Alert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42316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2" y="269748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Alert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02352" y="269748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Alert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42316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9752" y="269748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Alert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42316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2697480"/>
            <a:ext cx="15910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73442"/>
                </a:solidFill>
                <a:latin typeface="Aptos"/>
              </a:rPr>
              <a:t>Alert 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3794760"/>
            <a:ext cx="8503920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88720" y="416052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969D"/>
                </a:solidFill>
                <a:latin typeface="Aptos"/>
              </a:rPr>
              <a:t>Collapse duplicates → identify earliest event → correlate → prioritize action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Troubleshooting — Snapshot / Replication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50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3792474" cy="6400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00784"/>
            <a:ext cx="37010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Problem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78274" y="1645920"/>
            <a:ext cx="7043166" cy="640080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3994" y="1700784"/>
            <a:ext cx="695172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Evidence to inspect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86000"/>
            <a:ext cx="379247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37010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Snapshot unavailable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8274" y="2286000"/>
            <a:ext cx="704316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3994" y="2331720"/>
            <a:ext cx="695172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snapshot state • capacity • retention • recovery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26080"/>
            <a:ext cx="3792474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37010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Replication lag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8274" y="2926080"/>
            <a:ext cx="704316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3994" y="2971800"/>
            <a:ext cx="695172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source • target • link • lag trend • change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566159"/>
            <a:ext cx="379247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11879"/>
            <a:ext cx="37010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Target unavailable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8274" y="3566159"/>
            <a:ext cx="704316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3994" y="3611879"/>
            <a:ext cx="695172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target health • network • relationship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3792474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251959"/>
            <a:ext cx="370103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Unexpected failover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8274" y="4206240"/>
            <a:ext cx="7043166" cy="640080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23994" y="4251959"/>
            <a:ext cx="695172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timeline • path state • recovery procedure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RCA Example — Concise, Evidence-Supported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452628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288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At 10:02, payment workload latency increased and timeouts followed.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5146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Service degradation for the affected workload.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2004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State only after evidence verifies the initiating 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Correction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8862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Action taken to restore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5720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Service normal + redundancy restored + alerts cleared.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257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2A4A"/>
                </a:solidFill>
                <a:latin typeface="Aptos"/>
              </a:rPr>
              <a:t>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5257800"/>
            <a:ext cx="8869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73442"/>
                </a:solidFill>
                <a:latin typeface="Aptos"/>
              </a:rPr>
              <a:t>Monitoring / design / runbook improvement.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Knowledge Check — 10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1. What is the first action after a storage alert?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5087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2. How do you find the first abnormal event?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3. Why correlate logs, alerts and SNMP traps?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4231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4. What does multipath protect against?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5. What must be validated after path repair?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3375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6. What belongs in an RCA?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7. Why are banking cases labelled training scenarios?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2519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8. What evidence isolates fabric vs storage fault?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9. Why avoid multiple simultaneous changes?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5166360"/>
            <a:ext cx="4983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73442"/>
                </a:solidFill>
                <a:latin typeface="Aptos"/>
              </a:rPr>
              <a:t>10. What does good recovery validation prove?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Knowledge Check — Answer Key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1. Define scope + collect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17320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640" y="1572768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2. Normalize timestamps; identify first abnormal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59152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3. To correlate signals and avoid single-source conclusions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59152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514600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4. Continued access when redundant path remains healthy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00984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5. Healthy intended path count / MPIO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00984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56432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2A4A"/>
                </a:solidFill>
                <a:latin typeface="Aptos"/>
              </a:rPr>
              <a:t>6. Summary, impact, evidence, cause, correction, validation, prevention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42816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98264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7. They are simulated training 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42816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398264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8. Cross-layer evidence + device/object 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4648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340096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9. To avoid obscuring the real cause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184648"/>
            <a:ext cx="5074920" cy="71323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5340096"/>
            <a:ext cx="48920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42A4A"/>
                </a:solidFill>
                <a:latin typeface="Aptos"/>
              </a:rPr>
              <a:t>10. Service health + restored redundancy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Student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Keep this beside you during incident drills.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41732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0664" y="1600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591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72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7568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Impact + scope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07992" y="1600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591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572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7568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Logs + alerts + traps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8" y="141732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75320" y="160020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59105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157276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Correlate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07568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Time + object +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" y="292608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40664" y="310896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0664" y="30998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08152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Isolate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8444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Host / fabric / storage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92608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07992" y="310896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07992" y="30998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08152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Hypothesize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58444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Evidence-supported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0728" y="292608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275320" y="3108960"/>
            <a:ext cx="347472" cy="347472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75320" y="309981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308152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3584448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Small + reversible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" y="443484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0664" y="461772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46085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459028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Recover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093207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Approved 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443484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507992" y="461772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07992" y="46085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459028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Validate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5093207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Service + redundancy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10728" y="4434840"/>
            <a:ext cx="34015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275320" y="4617720"/>
            <a:ext cx="347472" cy="347472"/>
          </a:xfrm>
          <a:prstGeom prst="ellipse">
            <a:avLst/>
          </a:prstGeom>
          <a:solidFill>
            <a:srgbClr val="142A4A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20" y="4608576"/>
            <a:ext cx="3474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05088" y="4590288"/>
            <a:ext cx="2670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A4A"/>
                </a:solidFill>
                <a:latin typeface="Aptos"/>
              </a:rPr>
              <a:t>RCA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5093207"/>
            <a:ext cx="3035808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Cause + prevention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Day 9 Takeaways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969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Evidence beats assumption.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969D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42032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The earliest abnormal event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0984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969D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Multipath changes the fault domain, not the troubleshooting discipline.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59936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969D"/>
                </a:solidFill>
                <a:latin typeface="Apto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59936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RCA must connect evidence → cause → prevention.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1888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4969D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18888"/>
            <a:ext cx="9144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A4A"/>
                </a:solidFill>
                <a:latin typeface="Aptos"/>
              </a:rPr>
              <a:t>Recovery is incomplete until service and redundancy are validated.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Reference Map — Source Alignment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3900830" cy="676656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55064"/>
            <a:ext cx="380939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Source 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86630" y="1600200"/>
            <a:ext cx="6934809" cy="676656"/>
          </a:xfrm>
          <a:prstGeom prst="rect">
            <a:avLst/>
          </a:prstGeom>
          <a:solidFill>
            <a:srgbClr val="142A4A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2350" y="1655064"/>
            <a:ext cx="684336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Used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276856"/>
            <a:ext cx="390083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380939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RPS Day 9 source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6630" y="2276856"/>
            <a:ext cx="6934809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2350" y="2322576"/>
            <a:ext cx="684336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TOC, troubleshooting flow, cases, drill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953512"/>
            <a:ext cx="3900830" cy="676656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99232"/>
            <a:ext cx="380939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RPS Day 9 instructor 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86630" y="2953512"/>
            <a:ext cx="6934809" cy="676656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32350" y="2999232"/>
            <a:ext cx="684336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Talk track, evidence method, RCA and drill timing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30168"/>
            <a:ext cx="390083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675887"/>
            <a:ext cx="380939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Days 1–8 RPS decks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86630" y="3630168"/>
            <a:ext cx="6934809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32350" y="3675887"/>
            <a:ext cx="684336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SAN/MPIO, performance, DR, vendor platforms,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306824"/>
            <a:ext cx="3900830" cy="676656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352544"/>
            <a:ext cx="380939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Storage-Module1 / ITC material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6630" y="4306824"/>
            <a:ext cx="6934809" cy="676656"/>
          </a:xfrm>
          <a:prstGeom prst="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2350" y="4352544"/>
            <a:ext cx="6843369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442"/>
                </a:solidFill>
                <a:latin typeface="Aptos"/>
              </a:rPr>
              <a:t>SAN, host paths, controllers, LUN and multipath concepts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04343"/>
                </a:solidFill>
                <a:latin typeface="Aptos"/>
              </a:rPr>
              <a:t>Case-study note: banking incidents in this deck are intentionally simulated training scenarios.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Reference — Core Source Statements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142A4A"/>
                </a:solidFill>
                <a:latin typeface="Aptos"/>
              </a:rPr>
              <a:t>“Never jump from symptom to fix. The objective is to reduce the fault domain with evidence.”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4969D"/>
                </a:solidFill>
                <a:latin typeface="Aptos"/>
              </a:rPr>
              <a:t>“Treat logs, alerts and SNMP traps as evidence; none is automatically the root cause.”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“After recovery, validate both service health and restored redundancy.”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Day 10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From troubleshooting events to operational monitoring and continuous improvement.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D7085"/>
                </a:solidFill>
                <a:latin typeface="Aptos"/>
              </a:rPr>
              <a:t>RPS | ICICI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Incident evidence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31136" y="3035808"/>
            <a:ext cx="256032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14600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7752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Trend / monitoring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87368" y="3035808"/>
            <a:ext cx="256032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70831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3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Capacity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599" y="3035808"/>
            <a:ext cx="256032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27064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0216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Security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99831" y="3035808"/>
            <a:ext cx="256032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83296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CE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273442"/>
                </a:solidFill>
                <a:latin typeface="Aptos"/>
              </a:rPr>
              <a:t>Governance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56064" y="3035808"/>
            <a:ext cx="256032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939528" y="2423160"/>
            <a:ext cx="1572768" cy="12344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274320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42A4A"/>
                </a:solidFill>
                <a:latin typeface="Aptos"/>
              </a:rPr>
              <a:t>Operational maturity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42A4A"/>
                </a:solidFill>
                <a:latin typeface="Aptos"/>
              </a:rPr>
              <a:t>Day 9 closes with incident reasoning. Day 10 turns that evidence into proactive operations.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A4A"/>
                </a:solidFill>
                <a:latin typeface="Aptos"/>
              </a:rPr>
              <a:t>Final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50976"/>
            <a:ext cx="105156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7085"/>
                </a:solidFill>
                <a:latin typeface="Aptos"/>
              </a:rPr>
              <a:t>One sentence from every learner: “My first action during a storage incident is…”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298448"/>
            <a:ext cx="10972800" cy="0"/>
          </a:xfrm>
          <a:prstGeom prst="line">
            <a:avLst/>
          </a:prstGeom>
          <a:ln w="254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6926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9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47395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D7085"/>
                </a:solidFill>
                <a:latin typeface="Aptos"/>
              </a:rPr>
              <a:t>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02412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969D"/>
                </a:solidFill>
                <a:latin typeface="Aptos"/>
              </a:rPr>
              <a:t>____________________________________________________________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969D"/>
                </a:solidFill>
                <a:latin typeface="Aptos"/>
              </a:rPr>
              <a:t>____________________________________________________________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4892040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42A4A"/>
                </a:solidFill>
                <a:latin typeface="Aptos"/>
              </a:rPr>
              <a:t>Use the method, not the guess.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60020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AFD2E2"/>
                </a:solidFill>
                <a:latin typeface="Aptos"/>
              </a:rPr>
              <a:t>DAY 9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31720"/>
            <a:ext cx="9509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Troubleshoot with evidence.
Recover with discipline.
Prove the fix.</a:t>
            </a:r>
          </a:p>
        </p:txBody>
      </p:sp>
      <p:sp>
        <p:nvSpPr>
          <p:cNvPr id="4" name="Oval 3"/>
          <p:cNvSpPr/>
          <p:nvPr/>
        </p:nvSpPr>
        <p:spPr>
          <a:xfrm>
            <a:off x="713232" y="5074920"/>
            <a:ext cx="274320" cy="274320"/>
          </a:xfrm>
          <a:prstGeom prst="ellipse">
            <a:avLst/>
          </a:prstGeom>
          <a:solidFill>
            <a:srgbClr val="14969D"/>
          </a:solidFill>
          <a:ln>
            <a:solidFill>
              <a:srgbClr val="149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143000" y="5212080"/>
            <a:ext cx="3429000" cy="0"/>
          </a:xfrm>
          <a:prstGeom prst="line">
            <a:avLst/>
          </a:prstGeom>
          <a:ln w="38100">
            <a:solidFill>
              <a:srgbClr val="1496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5669280"/>
            <a:ext cx="68580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D7085"/>
                </a:solidFill>
                <a:latin typeface="Aptos"/>
              </a:rPr>
              <a:t>storageprabhu99@gmail.com • Day 9 • Troubleshooting &amp; Real-World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19963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DC6D7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3753</Words>
  <Application>Microsoft Office PowerPoint</Application>
  <PresentationFormat>Widescreen</PresentationFormat>
  <Paragraphs>869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Prabhugaonkar</cp:lastModifiedBy>
  <cp:revision>46</cp:revision>
  <dcterms:created xsi:type="dcterms:W3CDTF">2013-01-27T09:14:16Z</dcterms:created>
  <dcterms:modified xsi:type="dcterms:W3CDTF">2026-10-03T07:14:46Z</dcterms:modified>
  <cp:category/>
</cp:coreProperties>
</file>